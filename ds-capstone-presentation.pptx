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20104100" cy="11309350"/>
  <p:notesSz cx="20104100" cy="113093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90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FA7F3-EAC2-4162-B06A-6FEBB68BA84F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151BF-E16A-41CE-A201-867EA9F54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2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D151BF-E16A-41CE-A201-867EA9F544E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636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7346" y="1005277"/>
            <a:ext cx="14306729" cy="5277697"/>
          </a:xfrm>
        </p:spPr>
        <p:txBody>
          <a:bodyPr anchor="b">
            <a:normAutofit/>
          </a:bodyPr>
          <a:lstStyle>
            <a:lvl1pPr algn="ctr">
              <a:defRPr sz="7915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87346" y="6408632"/>
            <a:ext cx="14306729" cy="3141486"/>
          </a:xfrm>
        </p:spPr>
        <p:txBody>
          <a:bodyPr anchor="t">
            <a:normAutofit/>
          </a:bodyPr>
          <a:lstStyle>
            <a:lvl1pPr marL="0" indent="0" algn="ctr">
              <a:buNone/>
              <a:defRPr sz="3463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753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078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61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0156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769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5235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277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031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226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164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348" y="5456095"/>
            <a:ext cx="14324171" cy="2422160"/>
          </a:xfrm>
        </p:spPr>
        <p:txBody>
          <a:bodyPr anchor="b"/>
          <a:lstStyle>
            <a:lvl1pPr algn="r">
              <a:defRPr sz="6596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87345" y="7878255"/>
            <a:ext cx="14324173" cy="1418863"/>
          </a:xfrm>
        </p:spPr>
        <p:txBody>
          <a:bodyPr anchor="t">
            <a:normAutofit/>
          </a:bodyPr>
          <a:lstStyle>
            <a:lvl1pPr marL="0" indent="0" algn="r">
              <a:buNone/>
              <a:defRPr sz="3298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806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2141" y="4398080"/>
            <a:ext cx="8041640" cy="5152039"/>
          </a:xfrm>
        </p:spPr>
        <p:txBody>
          <a:bodyPr>
            <a:normAutofit/>
          </a:bodyPr>
          <a:lstStyle>
            <a:lvl1pPr>
              <a:defRPr sz="2968"/>
            </a:lvl1pPr>
            <a:lvl2pPr>
              <a:defRPr sz="2638"/>
            </a:lvl2pPr>
            <a:lvl3pPr>
              <a:defRPr sz="2309"/>
            </a:lvl3pPr>
            <a:lvl4pPr>
              <a:defRPr sz="1979"/>
            </a:lvl4pPr>
            <a:lvl5pPr>
              <a:defRPr sz="1979"/>
            </a:lvl5pPr>
            <a:lvl6pPr>
              <a:defRPr sz="1979"/>
            </a:lvl6pPr>
            <a:lvl7pPr>
              <a:defRPr sz="1979"/>
            </a:lvl7pPr>
            <a:lvl8pPr>
              <a:defRPr sz="1979"/>
            </a:lvl8pPr>
            <a:lvl9pPr>
              <a:defRPr sz="1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75082" y="4398081"/>
            <a:ext cx="8041640" cy="5152037"/>
          </a:xfrm>
        </p:spPr>
        <p:txBody>
          <a:bodyPr>
            <a:normAutofit/>
          </a:bodyPr>
          <a:lstStyle>
            <a:lvl1pPr>
              <a:defRPr sz="2968"/>
            </a:lvl1pPr>
            <a:lvl2pPr>
              <a:defRPr sz="2638"/>
            </a:lvl2pPr>
            <a:lvl3pPr>
              <a:defRPr sz="2309"/>
            </a:lvl3pPr>
            <a:lvl4pPr>
              <a:defRPr sz="1979"/>
            </a:lvl4pPr>
            <a:lvl5pPr>
              <a:defRPr sz="1979"/>
            </a:lvl5pPr>
            <a:lvl6pPr>
              <a:defRPr sz="1979"/>
            </a:lvl6pPr>
            <a:lvl7pPr>
              <a:defRPr sz="1979"/>
            </a:lvl7pPr>
            <a:lvl8pPr>
              <a:defRPr sz="1979"/>
            </a:lvl8pPr>
            <a:lvl9pPr>
              <a:defRPr sz="1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488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56824" y="4384118"/>
            <a:ext cx="7566956" cy="950299"/>
          </a:xfrm>
        </p:spPr>
        <p:txBody>
          <a:bodyPr anchor="b">
            <a:noAutofit/>
          </a:bodyPr>
          <a:lstStyle>
            <a:lvl1pPr marL="0" indent="0">
              <a:buNone/>
              <a:defRPr sz="4617" b="0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2141" y="5348380"/>
            <a:ext cx="8041640" cy="4201737"/>
          </a:xfrm>
        </p:spPr>
        <p:txBody>
          <a:bodyPr anchor="t">
            <a:normAutofit/>
          </a:bodyPr>
          <a:lstStyle>
            <a:lvl1pPr>
              <a:defRPr sz="2968"/>
            </a:lvl1pPr>
            <a:lvl2pPr>
              <a:defRPr sz="2638"/>
            </a:lvl2pPr>
            <a:lvl3pPr>
              <a:defRPr sz="2309"/>
            </a:lvl3pPr>
            <a:lvl4pPr>
              <a:defRPr sz="1979"/>
            </a:lvl4pPr>
            <a:lvl5pPr>
              <a:defRPr sz="1979"/>
            </a:lvl5pPr>
            <a:lvl6pPr>
              <a:defRPr sz="1979"/>
            </a:lvl6pPr>
            <a:lvl7pPr>
              <a:defRPr sz="1979"/>
            </a:lvl7pPr>
            <a:lvl8pPr>
              <a:defRPr sz="1979"/>
            </a:lvl8pPr>
            <a:lvl9pPr>
              <a:defRPr sz="1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624458" y="4398080"/>
            <a:ext cx="7592266" cy="950299"/>
          </a:xfrm>
        </p:spPr>
        <p:txBody>
          <a:bodyPr anchor="b">
            <a:noAutofit/>
          </a:bodyPr>
          <a:lstStyle>
            <a:lvl1pPr marL="0" indent="0">
              <a:buNone/>
              <a:defRPr sz="4617" b="0"/>
            </a:lvl1pPr>
            <a:lvl2pPr marL="753923" indent="0">
              <a:buNone/>
              <a:defRPr sz="3298" b="1"/>
            </a:lvl2pPr>
            <a:lvl3pPr marL="1507846" indent="0">
              <a:buNone/>
              <a:defRPr sz="2968" b="1"/>
            </a:lvl3pPr>
            <a:lvl4pPr marL="2261768" indent="0">
              <a:buNone/>
              <a:defRPr sz="2638" b="1"/>
            </a:lvl4pPr>
            <a:lvl5pPr marL="3015691" indent="0">
              <a:buNone/>
              <a:defRPr sz="2638" b="1"/>
            </a:lvl5pPr>
            <a:lvl6pPr marL="3769614" indent="0">
              <a:buNone/>
              <a:defRPr sz="2638" b="1"/>
            </a:lvl6pPr>
            <a:lvl7pPr marL="4523537" indent="0">
              <a:buNone/>
              <a:defRPr sz="2638" b="1"/>
            </a:lvl7pPr>
            <a:lvl8pPr marL="5277460" indent="0">
              <a:buNone/>
              <a:defRPr sz="2638" b="1"/>
            </a:lvl8pPr>
            <a:lvl9pPr marL="6031382" indent="0">
              <a:buNone/>
              <a:defRPr sz="263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75083" y="5348380"/>
            <a:ext cx="8041642" cy="4201737"/>
          </a:xfrm>
        </p:spPr>
        <p:txBody>
          <a:bodyPr anchor="t">
            <a:normAutofit/>
          </a:bodyPr>
          <a:lstStyle>
            <a:lvl1pPr>
              <a:defRPr sz="2968"/>
            </a:lvl1pPr>
            <a:lvl2pPr>
              <a:defRPr sz="2638"/>
            </a:lvl2pPr>
            <a:lvl3pPr>
              <a:defRPr sz="2309"/>
            </a:lvl3pPr>
            <a:lvl4pPr>
              <a:defRPr sz="1979"/>
            </a:lvl4pPr>
            <a:lvl5pPr>
              <a:defRPr sz="1979"/>
            </a:lvl5pPr>
            <a:lvl6pPr>
              <a:defRPr sz="1979"/>
            </a:lvl6pPr>
            <a:lvl7pPr>
              <a:defRPr sz="1979"/>
            </a:lvl7pPr>
            <a:lvl8pPr>
              <a:defRPr sz="1979"/>
            </a:lvl8pPr>
            <a:lvl9pPr>
              <a:defRPr sz="197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69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53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356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140" y="2638848"/>
            <a:ext cx="5852353" cy="2261870"/>
          </a:xfrm>
        </p:spPr>
        <p:txBody>
          <a:bodyPr anchor="b">
            <a:normAutofit/>
          </a:bodyPr>
          <a:lstStyle>
            <a:lvl1pPr algn="l">
              <a:defRPr sz="3958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5974" y="1005277"/>
            <a:ext cx="9800750" cy="8544842"/>
          </a:xfrm>
        </p:spPr>
        <p:txBody>
          <a:bodyPr anchor="ctr">
            <a:normAutofit/>
          </a:bodyPr>
          <a:lstStyle>
            <a:lvl1pPr>
              <a:defRPr sz="3298"/>
            </a:lvl1pPr>
            <a:lvl2pPr>
              <a:defRPr sz="2968"/>
            </a:lvl2pPr>
            <a:lvl3pPr>
              <a:defRPr sz="2638"/>
            </a:lvl3pPr>
            <a:lvl4pPr>
              <a:defRPr sz="2309"/>
            </a:lvl4pPr>
            <a:lvl5pPr>
              <a:defRPr sz="2309"/>
            </a:lvl5pPr>
            <a:lvl6pPr>
              <a:defRPr sz="2309"/>
            </a:lvl6pPr>
            <a:lvl7pPr>
              <a:defRPr sz="2309"/>
            </a:lvl7pPr>
            <a:lvl8pPr>
              <a:defRPr sz="2309"/>
            </a:lvl8pPr>
            <a:lvl9pPr>
              <a:defRPr sz="23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2140" y="4900718"/>
            <a:ext cx="5852353" cy="3015827"/>
          </a:xfrm>
        </p:spPr>
        <p:txBody>
          <a:bodyPr>
            <a:normAutofit/>
          </a:bodyPr>
          <a:lstStyle>
            <a:lvl1pPr marL="0" indent="0">
              <a:buNone/>
              <a:defRPr sz="2638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01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140" y="2638848"/>
            <a:ext cx="8795545" cy="2261870"/>
          </a:xfrm>
        </p:spPr>
        <p:txBody>
          <a:bodyPr anchor="b">
            <a:normAutofit/>
          </a:bodyPr>
          <a:lstStyle>
            <a:lvl1pPr algn="l">
              <a:defRPr sz="461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57917" y="-30158"/>
            <a:ext cx="5402975" cy="11384746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638"/>
            </a:lvl1pPr>
            <a:lvl2pPr marL="753923" indent="0">
              <a:buNone/>
              <a:defRPr sz="2638"/>
            </a:lvl2pPr>
            <a:lvl3pPr marL="1507846" indent="0">
              <a:buNone/>
              <a:defRPr sz="2638"/>
            </a:lvl3pPr>
            <a:lvl4pPr marL="2261768" indent="0">
              <a:buNone/>
              <a:defRPr sz="2638"/>
            </a:lvl4pPr>
            <a:lvl5pPr marL="3015691" indent="0">
              <a:buNone/>
              <a:defRPr sz="2638"/>
            </a:lvl5pPr>
            <a:lvl6pPr marL="3769614" indent="0">
              <a:buNone/>
              <a:defRPr sz="2638"/>
            </a:lvl6pPr>
            <a:lvl7pPr marL="4523537" indent="0">
              <a:buNone/>
              <a:defRPr sz="2638"/>
            </a:lvl7pPr>
            <a:lvl8pPr marL="5277460" indent="0">
              <a:buNone/>
              <a:defRPr sz="2638"/>
            </a:lvl8pPr>
            <a:lvl9pPr marL="6031382" indent="0">
              <a:buNone/>
              <a:defRPr sz="26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2140" y="4900718"/>
            <a:ext cx="8795545" cy="3015827"/>
          </a:xfrm>
        </p:spPr>
        <p:txBody>
          <a:bodyPr>
            <a:normAutofit/>
          </a:bodyPr>
          <a:lstStyle>
            <a:lvl1pPr marL="0" indent="0">
              <a:buNone/>
              <a:defRPr sz="2968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552034" y="9701957"/>
            <a:ext cx="1507808" cy="602118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882141" y="9701957"/>
            <a:ext cx="8418592" cy="602118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714120" y="9701957"/>
            <a:ext cx="531900" cy="602118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739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143" y="7804845"/>
            <a:ext cx="16334581" cy="934593"/>
          </a:xfrm>
        </p:spPr>
        <p:txBody>
          <a:bodyPr anchor="b">
            <a:normAutofit/>
          </a:bodyPr>
          <a:lstStyle>
            <a:lvl1pPr algn="l">
              <a:defRPr sz="3958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64298" y="1537122"/>
            <a:ext cx="13564239" cy="5219280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638"/>
            </a:lvl1pPr>
            <a:lvl2pPr marL="753923" indent="0">
              <a:buNone/>
              <a:defRPr sz="2638"/>
            </a:lvl2pPr>
            <a:lvl3pPr marL="1507846" indent="0">
              <a:buNone/>
              <a:defRPr sz="2638"/>
            </a:lvl3pPr>
            <a:lvl4pPr marL="2261768" indent="0">
              <a:buNone/>
              <a:defRPr sz="2638"/>
            </a:lvl4pPr>
            <a:lvl5pPr marL="3015691" indent="0">
              <a:buNone/>
              <a:defRPr sz="2638"/>
            </a:lvl5pPr>
            <a:lvl6pPr marL="3769614" indent="0">
              <a:buNone/>
              <a:defRPr sz="2638"/>
            </a:lvl6pPr>
            <a:lvl7pPr marL="4523537" indent="0">
              <a:buNone/>
              <a:defRPr sz="2638"/>
            </a:lvl7pPr>
            <a:lvl8pPr marL="5277460" indent="0">
              <a:buNone/>
              <a:defRPr sz="2638"/>
            </a:lvl8pPr>
            <a:lvl9pPr marL="6031382" indent="0">
              <a:buNone/>
              <a:defRPr sz="263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2143" y="8739438"/>
            <a:ext cx="16334581" cy="814168"/>
          </a:xfrm>
        </p:spPr>
        <p:txBody>
          <a:bodyPr>
            <a:normAutofit/>
          </a:bodyPr>
          <a:lstStyle>
            <a:lvl1pPr marL="0" indent="0">
              <a:buNone/>
              <a:defRPr sz="2309"/>
            </a:lvl1pPr>
            <a:lvl2pPr marL="753923" indent="0">
              <a:buNone/>
              <a:defRPr sz="1979"/>
            </a:lvl2pPr>
            <a:lvl3pPr marL="1507846" indent="0">
              <a:buNone/>
              <a:defRPr sz="1649"/>
            </a:lvl3pPr>
            <a:lvl4pPr marL="2261768" indent="0">
              <a:buNone/>
              <a:defRPr sz="1484"/>
            </a:lvl4pPr>
            <a:lvl5pPr marL="3015691" indent="0">
              <a:buNone/>
              <a:defRPr sz="1484"/>
            </a:lvl5pPr>
            <a:lvl6pPr marL="3769614" indent="0">
              <a:buNone/>
              <a:defRPr sz="1484"/>
            </a:lvl6pPr>
            <a:lvl7pPr marL="4523537" indent="0">
              <a:buNone/>
              <a:defRPr sz="1484"/>
            </a:lvl7pPr>
            <a:lvl8pPr marL="5277460" indent="0">
              <a:buNone/>
              <a:defRPr sz="1484"/>
            </a:lvl8pPr>
            <a:lvl9pPr marL="6031382" indent="0">
              <a:buNone/>
              <a:defRPr sz="148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546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141" y="1005278"/>
            <a:ext cx="16334580" cy="5152036"/>
          </a:xfrm>
        </p:spPr>
        <p:txBody>
          <a:bodyPr anchor="ctr">
            <a:normAutofit/>
          </a:bodyPr>
          <a:lstStyle>
            <a:lvl1pPr algn="l">
              <a:defRPr sz="5277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139" y="7162589"/>
            <a:ext cx="16334581" cy="2387529"/>
          </a:xfrm>
        </p:spPr>
        <p:txBody>
          <a:bodyPr anchor="ctr">
            <a:normAutofit/>
          </a:bodyPr>
          <a:lstStyle>
            <a:lvl1pPr marL="0" indent="0" algn="l">
              <a:buNone/>
              <a:defRPr sz="3298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041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379538" y="1297531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3192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11517" y="4523740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3192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4745" y="1005278"/>
            <a:ext cx="15329373" cy="4523738"/>
          </a:xfrm>
        </p:spPr>
        <p:txBody>
          <a:bodyPr anchor="ctr">
            <a:normAutofit/>
          </a:bodyPr>
          <a:lstStyle>
            <a:lvl1pPr algn="l">
              <a:defRPr sz="5277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61695" y="5529016"/>
            <a:ext cx="14575476" cy="628297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753923" indent="0">
              <a:buFontTx/>
              <a:buNone/>
              <a:defRPr/>
            </a:lvl2pPr>
            <a:lvl3pPr marL="1507846" indent="0">
              <a:buFontTx/>
              <a:buNone/>
              <a:defRPr/>
            </a:lvl3pPr>
            <a:lvl4pPr marL="2261768" indent="0">
              <a:buFontTx/>
              <a:buNone/>
              <a:defRPr/>
            </a:lvl4pPr>
            <a:lvl5pPr marL="301569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139" y="7162589"/>
            <a:ext cx="16334581" cy="238752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3298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123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141" y="5456095"/>
            <a:ext cx="16334581" cy="2422160"/>
          </a:xfrm>
        </p:spPr>
        <p:txBody>
          <a:bodyPr anchor="b">
            <a:normAutofit/>
          </a:bodyPr>
          <a:lstStyle>
            <a:lvl1pPr algn="l">
              <a:defRPr sz="5277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138" y="7878255"/>
            <a:ext cx="16334583" cy="141886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98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691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379538" y="1297531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3192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11517" y="4523740"/>
            <a:ext cx="1005205" cy="964339"/>
          </a:xfrm>
          <a:prstGeom prst="rect">
            <a:avLst/>
          </a:prstGeom>
        </p:spPr>
        <p:txBody>
          <a:bodyPr vert="horz" lIns="150781" tIns="75390" rIns="150781" bIns="753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3192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4745" y="1005278"/>
            <a:ext cx="15329373" cy="4523738"/>
          </a:xfrm>
        </p:spPr>
        <p:txBody>
          <a:bodyPr anchor="ctr">
            <a:normAutofit/>
          </a:bodyPr>
          <a:lstStyle>
            <a:lvl1pPr algn="l">
              <a:defRPr sz="5277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82141" y="6408632"/>
            <a:ext cx="16334581" cy="146602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958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139" y="7874659"/>
            <a:ext cx="16334581" cy="1675459"/>
          </a:xfrm>
        </p:spPr>
        <p:txBody>
          <a:bodyPr anchor="t">
            <a:normAutofit/>
          </a:bodyPr>
          <a:lstStyle>
            <a:lvl1pPr marL="0" indent="0" algn="l">
              <a:buNone/>
              <a:defRPr sz="2968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591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2141" y="1005278"/>
            <a:ext cx="16334580" cy="452373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82141" y="5780334"/>
            <a:ext cx="16334581" cy="138225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617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139" y="7162589"/>
            <a:ext cx="16334581" cy="2387529"/>
          </a:xfrm>
        </p:spPr>
        <p:txBody>
          <a:bodyPr anchor="t">
            <a:normAutofit/>
          </a:bodyPr>
          <a:lstStyle>
            <a:lvl1pPr marL="0" indent="0" algn="l">
              <a:buNone/>
              <a:defRPr sz="2968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753923" indent="0">
              <a:buNone/>
              <a:defRPr sz="2968">
                <a:solidFill>
                  <a:schemeClr val="tx1">
                    <a:tint val="75000"/>
                  </a:schemeClr>
                </a:solidFill>
              </a:defRPr>
            </a:lvl2pPr>
            <a:lvl3pPr marL="1507846" indent="0">
              <a:buNone/>
              <a:defRPr sz="2638">
                <a:solidFill>
                  <a:schemeClr val="tx1">
                    <a:tint val="75000"/>
                  </a:schemeClr>
                </a:solidFill>
              </a:defRPr>
            </a:lvl3pPr>
            <a:lvl4pPr marL="2261768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4pPr>
            <a:lvl5pPr marL="3015691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5pPr>
            <a:lvl6pPr marL="3769614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6pPr>
            <a:lvl7pPr marL="4523537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7pPr>
            <a:lvl8pPr marL="5277460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8pPr>
            <a:lvl9pPr marL="6031382" indent="0">
              <a:buNone/>
              <a:defRPr sz="230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170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882142" y="1005276"/>
            <a:ext cx="16334578" cy="31414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455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571677" y="1005275"/>
            <a:ext cx="3645045" cy="8544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2141" y="1005276"/>
            <a:ext cx="12439412" cy="85448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70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2142" y="1005276"/>
            <a:ext cx="16334578" cy="31414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142" y="4398080"/>
            <a:ext cx="16334578" cy="51520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572854" y="9701957"/>
            <a:ext cx="2638663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4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82141" y="9701957"/>
            <a:ext cx="12439412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84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337169" y="9701957"/>
            <a:ext cx="908851" cy="602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84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96333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p:txStyles>
    <p:titleStyle>
      <a:lvl1pPr algn="l" defTabSz="753923" rtl="0" eaLnBrk="1" latinLnBrk="0" hangingPunct="1">
        <a:spcBef>
          <a:spcPct val="0"/>
        </a:spcBef>
        <a:buNone/>
        <a:defRPr sz="5277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71202" indent="-471202" algn="l" defTabSz="753923" rtl="0" eaLnBrk="1" latinLnBrk="0" hangingPunct="1">
        <a:spcBef>
          <a:spcPct val="20000"/>
        </a:spcBef>
        <a:spcAft>
          <a:spcPts val="989"/>
        </a:spcAft>
        <a:buClr>
          <a:schemeClr val="tx1"/>
        </a:buClr>
        <a:buSzPct val="100000"/>
        <a:buFont typeface="Arial"/>
        <a:buChar char="•"/>
        <a:defRPr sz="3298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1225125" indent="-471202" algn="l" defTabSz="753923" rtl="0" eaLnBrk="1" latinLnBrk="0" hangingPunct="1">
        <a:spcBef>
          <a:spcPct val="20000"/>
        </a:spcBef>
        <a:spcAft>
          <a:spcPts val="989"/>
        </a:spcAft>
        <a:buClr>
          <a:schemeClr val="tx1"/>
        </a:buClr>
        <a:buSzPct val="100000"/>
        <a:buFont typeface="Arial"/>
        <a:buChar char="•"/>
        <a:defRPr sz="2968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979047" indent="-471202" algn="l" defTabSz="753923" rtl="0" eaLnBrk="1" latinLnBrk="0" hangingPunct="1">
        <a:spcBef>
          <a:spcPct val="20000"/>
        </a:spcBef>
        <a:spcAft>
          <a:spcPts val="989"/>
        </a:spcAft>
        <a:buClr>
          <a:schemeClr val="tx1"/>
        </a:buClr>
        <a:buSzPct val="100000"/>
        <a:buFont typeface="Arial"/>
        <a:buChar char="•"/>
        <a:defRPr sz="2638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2544489" indent="-282721" algn="l" defTabSz="753923" rtl="0" eaLnBrk="1" latinLnBrk="0" hangingPunct="1">
        <a:spcBef>
          <a:spcPct val="20000"/>
        </a:spcBef>
        <a:spcAft>
          <a:spcPts val="989"/>
        </a:spcAft>
        <a:buClr>
          <a:schemeClr val="tx1"/>
        </a:buClr>
        <a:buSzPct val="100000"/>
        <a:buFont typeface="Arial"/>
        <a:buChar char="•"/>
        <a:defRPr sz="2309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3298412" indent="-282721" algn="l" defTabSz="753923" rtl="0" eaLnBrk="1" latinLnBrk="0" hangingPunct="1">
        <a:spcBef>
          <a:spcPct val="20000"/>
        </a:spcBef>
        <a:spcAft>
          <a:spcPts val="989"/>
        </a:spcAft>
        <a:buClr>
          <a:schemeClr val="tx1"/>
        </a:buClr>
        <a:buSzPct val="100000"/>
        <a:buFont typeface="Arial"/>
        <a:buChar char="•"/>
        <a:defRPr sz="2309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4146575" indent="-376961" algn="l" defTabSz="753923" rtl="0" eaLnBrk="1" latinLnBrk="0" hangingPunct="1">
        <a:spcBef>
          <a:spcPct val="20000"/>
        </a:spcBef>
        <a:spcAft>
          <a:spcPts val="989"/>
        </a:spcAft>
        <a:buClr>
          <a:schemeClr val="tx1"/>
        </a:buClr>
        <a:buSzPct val="100000"/>
        <a:buFont typeface="Arial"/>
        <a:buChar char="•"/>
        <a:defRPr sz="1979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4900498" indent="-376961" algn="l" defTabSz="753923" rtl="0" eaLnBrk="1" latinLnBrk="0" hangingPunct="1">
        <a:spcBef>
          <a:spcPct val="20000"/>
        </a:spcBef>
        <a:spcAft>
          <a:spcPts val="989"/>
        </a:spcAft>
        <a:buClr>
          <a:schemeClr val="tx1"/>
        </a:buClr>
        <a:buSzPct val="100000"/>
        <a:buFont typeface="Arial"/>
        <a:buChar char="•"/>
        <a:defRPr sz="1979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5654421" indent="-376961" algn="l" defTabSz="753923" rtl="0" eaLnBrk="1" latinLnBrk="0" hangingPunct="1">
        <a:spcBef>
          <a:spcPct val="20000"/>
        </a:spcBef>
        <a:spcAft>
          <a:spcPts val="989"/>
        </a:spcAft>
        <a:buClr>
          <a:schemeClr val="tx1"/>
        </a:buClr>
        <a:buSzPct val="100000"/>
        <a:buFont typeface="Arial"/>
        <a:buChar char="•"/>
        <a:defRPr sz="1979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6408344" indent="-376961" algn="l" defTabSz="753923" rtl="0" eaLnBrk="1" latinLnBrk="0" hangingPunct="1">
        <a:spcBef>
          <a:spcPct val="20000"/>
        </a:spcBef>
        <a:spcAft>
          <a:spcPts val="989"/>
        </a:spcAft>
        <a:buClr>
          <a:schemeClr val="tx1"/>
        </a:buClr>
        <a:buSzPct val="100000"/>
        <a:buFont typeface="Arial"/>
        <a:buChar char="•"/>
        <a:defRPr sz="1979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1pPr>
      <a:lvl2pPr marL="753923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2pPr>
      <a:lvl3pPr marL="1507846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3pPr>
      <a:lvl4pPr marL="2261768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4pPr>
      <a:lvl5pPr marL="3015691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5pPr>
      <a:lvl6pPr marL="3769614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6pPr>
      <a:lvl7pPr marL="4523537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7pPr>
      <a:lvl8pPr marL="5277460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8pPr>
      <a:lvl9pPr marL="6031382" algn="l" defTabSz="753923" rtl="0" eaLnBrk="1" latinLnBrk="0" hangingPunct="1">
        <a:defRPr sz="2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5322" y="4681405"/>
            <a:ext cx="16922122" cy="114053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316" y="159978"/>
            <a:ext cx="5223482" cy="26101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21480" y="9928482"/>
            <a:ext cx="6282051" cy="775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7586FB-99ED-10DF-83BF-06A169DE9117}"/>
              </a:ext>
            </a:extLst>
          </p:cNvPr>
          <p:cNvSpPr txBox="1"/>
          <p:nvPr/>
        </p:nvSpPr>
        <p:spPr>
          <a:xfrm>
            <a:off x="6927850" y="6305548"/>
            <a:ext cx="58288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/>
              <a:t>Arpit Singh Sandha</a:t>
            </a:r>
          </a:p>
          <a:p>
            <a:pPr algn="ctr"/>
            <a:r>
              <a:rPr lang="en-IN" sz="4800" b="1" dirty="0"/>
              <a:t>25-04-2026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10460" y="1024471"/>
            <a:ext cx="2917481" cy="6781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157965" y="3089233"/>
            <a:ext cx="243204" cy="69602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spc="-50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4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65"/>
              </a:spcBef>
            </a:pPr>
            <a:r>
              <a:rPr sz="4900" spc="-50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4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65"/>
              </a:spcBef>
            </a:pPr>
            <a:r>
              <a:rPr sz="4900" spc="-50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4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69"/>
              </a:spcBef>
            </a:pPr>
            <a:r>
              <a:rPr sz="4900" spc="-50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4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65"/>
              </a:spcBef>
            </a:pPr>
            <a:r>
              <a:rPr sz="4900" spc="-50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4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865"/>
              </a:spcBef>
            </a:pPr>
            <a:r>
              <a:rPr sz="4900" spc="-50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49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73048" y="3313059"/>
            <a:ext cx="5549841" cy="67650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91429" y="3375939"/>
            <a:ext cx="6824984" cy="64440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35834" y="1031507"/>
            <a:ext cx="7914230" cy="81798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404139" y="2571952"/>
            <a:ext cx="5335905" cy="5073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150" spc="130" dirty="0"/>
              <a:t>Summary</a:t>
            </a:r>
            <a:r>
              <a:rPr sz="3150" spc="-110" dirty="0"/>
              <a:t> </a:t>
            </a:r>
            <a:r>
              <a:rPr sz="3150" spc="220" dirty="0"/>
              <a:t>of</a:t>
            </a:r>
            <a:r>
              <a:rPr sz="3150" spc="-110" dirty="0"/>
              <a:t> </a:t>
            </a:r>
            <a:r>
              <a:rPr sz="3150" spc="145" dirty="0"/>
              <a:t>methodologies</a:t>
            </a:r>
            <a:endParaRPr sz="3150"/>
          </a:p>
        </p:txBody>
      </p:sp>
      <p:sp>
        <p:nvSpPr>
          <p:cNvPr id="4" name="object 4"/>
          <p:cNvSpPr txBox="1"/>
          <p:nvPr/>
        </p:nvSpPr>
        <p:spPr>
          <a:xfrm>
            <a:off x="8404139" y="3055035"/>
            <a:ext cx="9167495" cy="7464425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1073150" indent="-306705">
              <a:lnSpc>
                <a:spcPct val="100000"/>
              </a:lnSpc>
              <a:spcBef>
                <a:spcPts val="1770"/>
              </a:spcBef>
              <a:buChar char="-"/>
              <a:tabLst>
                <a:tab pos="1073150" algn="l"/>
              </a:tabLst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14" dirty="0">
                <a:solidFill>
                  <a:srgbClr val="FFFFFF"/>
                </a:solidFill>
                <a:latin typeface="Arial MT"/>
                <a:cs typeface="Arial MT"/>
              </a:rPr>
              <a:t>collection</a:t>
            </a:r>
            <a:endParaRPr sz="2800">
              <a:latin typeface="Arial MT"/>
              <a:cs typeface="Arial MT"/>
            </a:endParaRPr>
          </a:p>
          <a:p>
            <a:pPr marL="1073150" indent="-306705">
              <a:lnSpc>
                <a:spcPct val="100000"/>
              </a:lnSpc>
              <a:spcBef>
                <a:spcPts val="1670"/>
              </a:spcBef>
              <a:buChar char="-"/>
              <a:tabLst>
                <a:tab pos="1073150" algn="l"/>
              </a:tabLst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00" dirty="0">
                <a:solidFill>
                  <a:srgbClr val="FFFFFF"/>
                </a:solidFill>
                <a:latin typeface="Arial MT"/>
                <a:cs typeface="Arial MT"/>
              </a:rPr>
              <a:t>wrangling</a:t>
            </a:r>
            <a:endParaRPr sz="2800">
              <a:latin typeface="Arial MT"/>
              <a:cs typeface="Arial MT"/>
            </a:endParaRPr>
          </a:p>
          <a:p>
            <a:pPr marL="1073150" indent="-306705">
              <a:lnSpc>
                <a:spcPct val="100000"/>
              </a:lnSpc>
              <a:spcBef>
                <a:spcPts val="1675"/>
              </a:spcBef>
              <a:buChar char="-"/>
              <a:tabLst>
                <a:tab pos="1073150" algn="l"/>
              </a:tabLst>
            </a:pPr>
            <a:r>
              <a:rPr sz="2800" spc="70" dirty="0">
                <a:solidFill>
                  <a:srgbClr val="FFFFFF"/>
                </a:solidFill>
                <a:latin typeface="Arial MT"/>
                <a:cs typeface="Arial MT"/>
              </a:rPr>
              <a:t>Exploratory</a:t>
            </a:r>
            <a:r>
              <a:rPr sz="2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8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2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8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40" dirty="0">
                <a:solidFill>
                  <a:srgbClr val="FFFFFF"/>
                </a:solidFill>
                <a:latin typeface="Arial MT"/>
                <a:cs typeface="Arial MT"/>
              </a:rPr>
              <a:t>Visualization</a:t>
            </a:r>
            <a:endParaRPr sz="2800">
              <a:latin typeface="Arial MT"/>
              <a:cs typeface="Arial MT"/>
            </a:endParaRPr>
          </a:p>
          <a:p>
            <a:pPr marL="1073150" indent="-306705">
              <a:lnSpc>
                <a:spcPct val="100000"/>
              </a:lnSpc>
              <a:spcBef>
                <a:spcPts val="1670"/>
              </a:spcBef>
              <a:buChar char="-"/>
              <a:tabLst>
                <a:tab pos="1073150" algn="l"/>
              </a:tabLst>
            </a:pPr>
            <a:r>
              <a:rPr sz="2800" spc="70" dirty="0">
                <a:solidFill>
                  <a:srgbClr val="FFFFFF"/>
                </a:solidFill>
                <a:latin typeface="Arial MT"/>
                <a:cs typeface="Arial MT"/>
              </a:rPr>
              <a:t>Exploratory</a:t>
            </a:r>
            <a:r>
              <a:rPr sz="28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8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28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8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SQL</a:t>
            </a:r>
            <a:endParaRPr sz="2800">
              <a:latin typeface="Arial MT"/>
              <a:cs typeface="Arial MT"/>
            </a:endParaRPr>
          </a:p>
          <a:p>
            <a:pPr marL="1073150" indent="-306705">
              <a:lnSpc>
                <a:spcPct val="100000"/>
              </a:lnSpc>
              <a:spcBef>
                <a:spcPts val="1675"/>
              </a:spcBef>
              <a:buChar char="-"/>
              <a:tabLst>
                <a:tab pos="1073150" algn="l"/>
              </a:tabLst>
            </a:pPr>
            <a:r>
              <a:rPr sz="2800" spc="85" dirty="0">
                <a:solidFill>
                  <a:srgbClr val="FFFFFF"/>
                </a:solidFill>
                <a:latin typeface="Arial MT"/>
                <a:cs typeface="Arial MT"/>
              </a:rPr>
              <a:t>Building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90" dirty="0">
                <a:solidFill>
                  <a:srgbClr val="FFFFFF"/>
                </a:solidFill>
                <a:latin typeface="Arial MT"/>
                <a:cs typeface="Arial MT"/>
              </a:rPr>
              <a:t>interactive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05" dirty="0">
                <a:solidFill>
                  <a:srgbClr val="FFFFFF"/>
                </a:solidFill>
                <a:latin typeface="Arial MT"/>
                <a:cs typeface="Arial MT"/>
              </a:rPr>
              <a:t>map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8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45" dirty="0">
                <a:solidFill>
                  <a:srgbClr val="FFFFFF"/>
                </a:solidFill>
                <a:latin typeface="Arial MT"/>
                <a:cs typeface="Arial MT"/>
              </a:rPr>
              <a:t>Folium</a:t>
            </a:r>
            <a:endParaRPr sz="2800">
              <a:latin typeface="Arial MT"/>
              <a:cs typeface="Arial MT"/>
            </a:endParaRPr>
          </a:p>
          <a:p>
            <a:pPr marL="1073150" indent="-306705">
              <a:lnSpc>
                <a:spcPct val="100000"/>
              </a:lnSpc>
              <a:spcBef>
                <a:spcPts val="1670"/>
              </a:spcBef>
              <a:buChar char="-"/>
              <a:tabLst>
                <a:tab pos="1073150" algn="l"/>
              </a:tabLst>
            </a:pPr>
            <a:r>
              <a:rPr sz="2800" spc="85" dirty="0">
                <a:solidFill>
                  <a:srgbClr val="FFFFFF"/>
                </a:solidFill>
                <a:latin typeface="Arial MT"/>
                <a:cs typeface="Arial MT"/>
              </a:rPr>
              <a:t>Building</a:t>
            </a:r>
            <a:r>
              <a:rPr sz="28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Dashboard</a:t>
            </a:r>
            <a:r>
              <a:rPr sz="28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800" spc="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55" dirty="0">
                <a:solidFill>
                  <a:srgbClr val="FFFFFF"/>
                </a:solidFill>
                <a:latin typeface="Arial MT"/>
                <a:cs typeface="Arial MT"/>
              </a:rPr>
              <a:t>Plotly</a:t>
            </a:r>
            <a:r>
              <a:rPr sz="28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Dash</a:t>
            </a:r>
            <a:endParaRPr sz="2800">
              <a:latin typeface="Arial MT"/>
              <a:cs typeface="Arial MT"/>
            </a:endParaRPr>
          </a:p>
          <a:p>
            <a:pPr marL="1073150" indent="-306705">
              <a:lnSpc>
                <a:spcPct val="100000"/>
              </a:lnSpc>
              <a:spcBef>
                <a:spcPts val="1675"/>
              </a:spcBef>
              <a:buChar char="-"/>
              <a:tabLst>
                <a:tab pos="1073150" algn="l"/>
              </a:tabLst>
            </a:pPr>
            <a:r>
              <a:rPr sz="2800" spc="70" dirty="0">
                <a:solidFill>
                  <a:srgbClr val="FFFFFF"/>
                </a:solidFill>
                <a:latin typeface="Arial MT"/>
                <a:cs typeface="Arial MT"/>
              </a:rPr>
              <a:t>Predictive</a:t>
            </a:r>
            <a:r>
              <a:rPr sz="2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2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40" dirty="0">
                <a:solidFill>
                  <a:srgbClr val="FFFFFF"/>
                </a:solidFill>
                <a:latin typeface="Arial MT"/>
                <a:cs typeface="Arial MT"/>
              </a:rPr>
              <a:t>(Classification)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35"/>
              </a:spcBef>
              <a:buClr>
                <a:srgbClr val="FFFFFF"/>
              </a:buClr>
              <a:buFont typeface="Arial MT"/>
              <a:buChar char="-"/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150" spc="130" dirty="0">
                <a:solidFill>
                  <a:srgbClr val="D5D5D5"/>
                </a:solidFill>
                <a:latin typeface="Arial MT"/>
                <a:cs typeface="Arial MT"/>
              </a:rPr>
              <a:t>Summary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220" dirty="0">
                <a:solidFill>
                  <a:srgbClr val="D5D5D5"/>
                </a:solidFill>
                <a:latin typeface="Arial MT"/>
                <a:cs typeface="Arial MT"/>
              </a:rPr>
              <a:t>of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05" dirty="0">
                <a:solidFill>
                  <a:srgbClr val="D5D5D5"/>
                </a:solidFill>
                <a:latin typeface="Arial MT"/>
                <a:cs typeface="Arial MT"/>
              </a:rPr>
              <a:t>all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05" dirty="0">
                <a:solidFill>
                  <a:srgbClr val="D5D5D5"/>
                </a:solidFill>
                <a:latin typeface="Arial MT"/>
                <a:cs typeface="Arial MT"/>
              </a:rPr>
              <a:t>results</a:t>
            </a:r>
            <a:endParaRPr sz="3150">
              <a:latin typeface="Arial MT"/>
              <a:cs typeface="Arial MT"/>
            </a:endParaRPr>
          </a:p>
          <a:p>
            <a:pPr marL="1073150" indent="-306705">
              <a:lnSpc>
                <a:spcPct val="100000"/>
              </a:lnSpc>
              <a:spcBef>
                <a:spcPts val="1685"/>
              </a:spcBef>
              <a:buChar char="-"/>
              <a:tabLst>
                <a:tab pos="1073150" algn="l"/>
              </a:tabLst>
            </a:pPr>
            <a:r>
              <a:rPr sz="2800" spc="70" dirty="0">
                <a:solidFill>
                  <a:srgbClr val="FFFFFF"/>
                </a:solidFill>
                <a:latin typeface="Arial MT"/>
                <a:cs typeface="Arial MT"/>
              </a:rPr>
              <a:t>Exploratory</a:t>
            </a:r>
            <a:r>
              <a:rPr sz="28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8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2800" spc="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45" dirty="0">
                <a:solidFill>
                  <a:srgbClr val="FFFFFF"/>
                </a:solidFill>
                <a:latin typeface="Arial MT"/>
                <a:cs typeface="Arial MT"/>
              </a:rPr>
              <a:t>results</a:t>
            </a:r>
            <a:endParaRPr sz="2800">
              <a:latin typeface="Arial MT"/>
              <a:cs typeface="Arial MT"/>
            </a:endParaRPr>
          </a:p>
          <a:p>
            <a:pPr marL="1073150" indent="-306705">
              <a:lnSpc>
                <a:spcPct val="100000"/>
              </a:lnSpc>
              <a:spcBef>
                <a:spcPts val="1670"/>
              </a:spcBef>
              <a:buChar char="-"/>
              <a:tabLst>
                <a:tab pos="1073150" algn="l"/>
              </a:tabLst>
            </a:pPr>
            <a:r>
              <a:rPr sz="2800" spc="85" dirty="0">
                <a:solidFill>
                  <a:srgbClr val="FFFFFF"/>
                </a:solidFill>
                <a:latin typeface="Arial MT"/>
                <a:cs typeface="Arial MT"/>
              </a:rPr>
              <a:t>Interactive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75" dirty="0">
                <a:solidFill>
                  <a:srgbClr val="FFFFFF"/>
                </a:solidFill>
                <a:latin typeface="Arial MT"/>
                <a:cs typeface="Arial MT"/>
              </a:rPr>
              <a:t>analytics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FFFFFF"/>
                </a:solidFill>
                <a:latin typeface="Arial MT"/>
                <a:cs typeface="Arial MT"/>
              </a:rPr>
              <a:t>demo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9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FFFFFF"/>
                </a:solidFill>
                <a:latin typeface="Arial MT"/>
                <a:cs typeface="Arial MT"/>
              </a:rPr>
              <a:t>screenshots</a:t>
            </a:r>
            <a:endParaRPr sz="2800">
              <a:latin typeface="Arial MT"/>
              <a:cs typeface="Arial MT"/>
            </a:endParaRPr>
          </a:p>
          <a:p>
            <a:pPr marL="1073150" indent="-306705">
              <a:lnSpc>
                <a:spcPct val="100000"/>
              </a:lnSpc>
              <a:spcBef>
                <a:spcPts val="1675"/>
              </a:spcBef>
              <a:buChar char="-"/>
              <a:tabLst>
                <a:tab pos="1073150" algn="l"/>
              </a:tabLst>
            </a:pPr>
            <a:r>
              <a:rPr sz="2800" spc="70" dirty="0">
                <a:solidFill>
                  <a:srgbClr val="FFFFFF"/>
                </a:solidFill>
                <a:latin typeface="Arial MT"/>
                <a:cs typeface="Arial MT"/>
              </a:rPr>
              <a:t>Predictive</a:t>
            </a:r>
            <a:r>
              <a:rPr sz="28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28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45" dirty="0">
                <a:solidFill>
                  <a:srgbClr val="FFFFFF"/>
                </a:solidFill>
                <a:latin typeface="Arial MT"/>
                <a:cs typeface="Arial MT"/>
              </a:rPr>
              <a:t>results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3326785"/>
            <a:ext cx="6057544" cy="60575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1400" y="1055884"/>
            <a:ext cx="4906154" cy="6781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722" y="3771319"/>
            <a:ext cx="5371564" cy="5361093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170484" y="2504308"/>
            <a:ext cx="6005830" cy="4940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125" dirty="0"/>
              <a:t>Project</a:t>
            </a:r>
            <a:r>
              <a:rPr sz="3050" spc="-100" dirty="0"/>
              <a:t> </a:t>
            </a:r>
            <a:r>
              <a:rPr sz="3050" spc="160" dirty="0"/>
              <a:t>background</a:t>
            </a:r>
            <a:r>
              <a:rPr sz="3050" spc="-100" dirty="0"/>
              <a:t> </a:t>
            </a:r>
            <a:r>
              <a:rPr sz="3050" spc="135" dirty="0"/>
              <a:t>and</a:t>
            </a:r>
            <a:r>
              <a:rPr sz="3050" spc="-100" dirty="0"/>
              <a:t> </a:t>
            </a:r>
            <a:r>
              <a:rPr sz="3050" spc="170" dirty="0"/>
              <a:t>context</a:t>
            </a:r>
            <a:endParaRPr sz="3050"/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6445" marR="40005">
              <a:lnSpc>
                <a:spcPct val="109400"/>
              </a:lnSpc>
              <a:spcBef>
                <a:spcPts val="95"/>
              </a:spcBef>
            </a:pPr>
            <a:r>
              <a:rPr dirty="0"/>
              <a:t>SpaceX</a:t>
            </a:r>
            <a:r>
              <a:rPr spc="15" dirty="0"/>
              <a:t> </a:t>
            </a:r>
            <a:r>
              <a:rPr dirty="0"/>
              <a:t>is</a:t>
            </a:r>
            <a:r>
              <a:rPr spc="15" dirty="0"/>
              <a:t> </a:t>
            </a:r>
            <a:r>
              <a:rPr spc="125" dirty="0"/>
              <a:t>the</a:t>
            </a:r>
            <a:r>
              <a:rPr spc="20" dirty="0"/>
              <a:t> </a:t>
            </a:r>
            <a:r>
              <a:rPr spc="130" dirty="0"/>
              <a:t>most</a:t>
            </a:r>
            <a:r>
              <a:rPr spc="15" dirty="0"/>
              <a:t> </a:t>
            </a:r>
            <a:r>
              <a:rPr spc="80" dirty="0"/>
              <a:t>successful</a:t>
            </a:r>
            <a:r>
              <a:rPr spc="15" dirty="0"/>
              <a:t> </a:t>
            </a:r>
            <a:r>
              <a:rPr spc="130" dirty="0"/>
              <a:t>company</a:t>
            </a:r>
            <a:r>
              <a:rPr spc="20" dirty="0"/>
              <a:t> </a:t>
            </a:r>
            <a:r>
              <a:rPr spc="165" dirty="0"/>
              <a:t>of</a:t>
            </a:r>
            <a:r>
              <a:rPr spc="15" dirty="0"/>
              <a:t> </a:t>
            </a:r>
            <a:r>
              <a:rPr spc="125" dirty="0"/>
              <a:t>the</a:t>
            </a:r>
            <a:r>
              <a:rPr spc="15" dirty="0"/>
              <a:t> </a:t>
            </a:r>
            <a:r>
              <a:rPr spc="125" dirty="0"/>
              <a:t>commercial</a:t>
            </a:r>
            <a:r>
              <a:rPr spc="20" dirty="0"/>
              <a:t> </a:t>
            </a:r>
            <a:r>
              <a:rPr spc="60" dirty="0"/>
              <a:t>space </a:t>
            </a:r>
            <a:r>
              <a:rPr spc="55" dirty="0"/>
              <a:t>age,</a:t>
            </a:r>
            <a:r>
              <a:rPr spc="-15" dirty="0"/>
              <a:t> </a:t>
            </a:r>
            <a:r>
              <a:rPr spc="114" dirty="0"/>
              <a:t>making</a:t>
            </a:r>
            <a:r>
              <a:rPr spc="-15" dirty="0"/>
              <a:t> </a:t>
            </a:r>
            <a:r>
              <a:rPr spc="70" dirty="0"/>
              <a:t>space</a:t>
            </a:r>
            <a:r>
              <a:rPr spc="-15" dirty="0"/>
              <a:t> </a:t>
            </a:r>
            <a:r>
              <a:rPr spc="75" dirty="0"/>
              <a:t>travel</a:t>
            </a:r>
            <a:r>
              <a:rPr spc="-15" dirty="0"/>
              <a:t> </a:t>
            </a:r>
            <a:r>
              <a:rPr spc="90" dirty="0"/>
              <a:t>affordable.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130" dirty="0"/>
              <a:t>company</a:t>
            </a:r>
            <a:r>
              <a:rPr spc="-15" dirty="0"/>
              <a:t> </a:t>
            </a:r>
            <a:r>
              <a:rPr spc="65" dirty="0"/>
              <a:t>advertises</a:t>
            </a:r>
            <a:r>
              <a:rPr spc="-10" dirty="0"/>
              <a:t> Falcon </a:t>
            </a:r>
            <a:r>
              <a:rPr spc="180" dirty="0"/>
              <a:t>9</a:t>
            </a:r>
            <a:r>
              <a:rPr spc="-30" dirty="0"/>
              <a:t> </a:t>
            </a:r>
            <a:r>
              <a:rPr spc="110" dirty="0"/>
              <a:t>rocket</a:t>
            </a:r>
            <a:r>
              <a:rPr spc="-25" dirty="0"/>
              <a:t> </a:t>
            </a:r>
            <a:r>
              <a:rPr spc="75" dirty="0"/>
              <a:t>launches</a:t>
            </a:r>
            <a:r>
              <a:rPr spc="-25" dirty="0"/>
              <a:t> </a:t>
            </a:r>
            <a:r>
              <a:rPr spc="135" dirty="0"/>
              <a:t>on</a:t>
            </a:r>
            <a:r>
              <a:rPr spc="-30" dirty="0"/>
              <a:t> </a:t>
            </a:r>
            <a:r>
              <a:rPr spc="90" dirty="0"/>
              <a:t>its</a:t>
            </a:r>
            <a:r>
              <a:rPr spc="-25" dirty="0"/>
              <a:t> </a:t>
            </a:r>
            <a:r>
              <a:rPr spc="95" dirty="0"/>
              <a:t>website,</a:t>
            </a:r>
            <a:r>
              <a:rPr spc="-25" dirty="0"/>
              <a:t> </a:t>
            </a:r>
            <a:r>
              <a:rPr spc="155" dirty="0"/>
              <a:t>with</a:t>
            </a:r>
            <a:r>
              <a:rPr spc="-2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120" dirty="0"/>
              <a:t>cost</a:t>
            </a:r>
            <a:r>
              <a:rPr spc="-25" dirty="0"/>
              <a:t> </a:t>
            </a:r>
            <a:r>
              <a:rPr spc="165" dirty="0"/>
              <a:t>of</a:t>
            </a:r>
            <a:r>
              <a:rPr spc="-25" dirty="0"/>
              <a:t> </a:t>
            </a:r>
            <a:r>
              <a:rPr spc="90" dirty="0"/>
              <a:t>62</a:t>
            </a:r>
            <a:r>
              <a:rPr spc="-30" dirty="0"/>
              <a:t> </a:t>
            </a:r>
            <a:r>
              <a:rPr spc="120" dirty="0"/>
              <a:t>million</a:t>
            </a:r>
            <a:r>
              <a:rPr spc="-25" dirty="0"/>
              <a:t> </a:t>
            </a:r>
            <a:r>
              <a:rPr spc="70" dirty="0"/>
              <a:t>dollars; </a:t>
            </a:r>
            <a:r>
              <a:rPr spc="135" dirty="0"/>
              <a:t>other</a:t>
            </a:r>
            <a:r>
              <a:rPr spc="-35" dirty="0"/>
              <a:t> </a:t>
            </a:r>
            <a:r>
              <a:rPr spc="100" dirty="0"/>
              <a:t>providers</a:t>
            </a:r>
            <a:r>
              <a:rPr spc="-35" dirty="0"/>
              <a:t> </a:t>
            </a:r>
            <a:r>
              <a:rPr spc="120" dirty="0"/>
              <a:t>cost</a:t>
            </a:r>
            <a:r>
              <a:rPr spc="-35" dirty="0"/>
              <a:t> </a:t>
            </a:r>
            <a:r>
              <a:rPr spc="120" dirty="0"/>
              <a:t>upward</a:t>
            </a:r>
            <a:r>
              <a:rPr spc="-35" dirty="0"/>
              <a:t> </a:t>
            </a:r>
            <a:r>
              <a:rPr spc="165" dirty="0"/>
              <a:t>of</a:t>
            </a:r>
            <a:r>
              <a:rPr spc="-35" dirty="0"/>
              <a:t> </a:t>
            </a:r>
            <a:r>
              <a:rPr dirty="0"/>
              <a:t>165</a:t>
            </a:r>
            <a:r>
              <a:rPr spc="-30" dirty="0"/>
              <a:t> </a:t>
            </a:r>
            <a:r>
              <a:rPr spc="120" dirty="0"/>
              <a:t>million</a:t>
            </a:r>
            <a:r>
              <a:rPr spc="-35" dirty="0"/>
              <a:t> </a:t>
            </a:r>
            <a:r>
              <a:rPr spc="85" dirty="0"/>
              <a:t>dollars</a:t>
            </a:r>
            <a:r>
              <a:rPr spc="-35" dirty="0"/>
              <a:t> </a:t>
            </a:r>
            <a:r>
              <a:rPr spc="70" dirty="0"/>
              <a:t>each,</a:t>
            </a:r>
            <a:r>
              <a:rPr spc="-35" dirty="0"/>
              <a:t> </a:t>
            </a:r>
            <a:r>
              <a:rPr spc="165" dirty="0"/>
              <a:t>much</a:t>
            </a:r>
            <a:r>
              <a:rPr spc="-35" dirty="0"/>
              <a:t> </a:t>
            </a:r>
            <a:r>
              <a:rPr spc="165" dirty="0"/>
              <a:t>of</a:t>
            </a:r>
            <a:r>
              <a:rPr spc="-35" dirty="0"/>
              <a:t> </a:t>
            </a:r>
            <a:r>
              <a:rPr spc="100" dirty="0"/>
              <a:t>the </a:t>
            </a:r>
            <a:r>
              <a:rPr spc="50" dirty="0"/>
              <a:t>savings</a:t>
            </a:r>
            <a:r>
              <a:rPr spc="10" dirty="0"/>
              <a:t> </a:t>
            </a:r>
            <a:r>
              <a:rPr dirty="0"/>
              <a:t>is</a:t>
            </a:r>
            <a:r>
              <a:rPr spc="10" dirty="0"/>
              <a:t> </a:t>
            </a:r>
            <a:r>
              <a:rPr spc="70" dirty="0"/>
              <a:t>because</a:t>
            </a:r>
            <a:r>
              <a:rPr spc="10" dirty="0"/>
              <a:t> </a:t>
            </a:r>
            <a:r>
              <a:rPr dirty="0"/>
              <a:t>SpaceX</a:t>
            </a:r>
            <a:r>
              <a:rPr spc="10" dirty="0"/>
              <a:t> </a:t>
            </a:r>
            <a:r>
              <a:rPr spc="100" dirty="0"/>
              <a:t>can</a:t>
            </a:r>
            <a:r>
              <a:rPr spc="10" dirty="0"/>
              <a:t> </a:t>
            </a:r>
            <a:r>
              <a:rPr spc="50" dirty="0"/>
              <a:t>reuse</a:t>
            </a:r>
            <a:r>
              <a:rPr spc="10" dirty="0"/>
              <a:t> </a:t>
            </a:r>
            <a:r>
              <a:rPr spc="125" dirty="0"/>
              <a:t>the</a:t>
            </a:r>
            <a:r>
              <a:rPr spc="10" dirty="0"/>
              <a:t> </a:t>
            </a:r>
            <a:r>
              <a:rPr spc="100" dirty="0"/>
              <a:t>first</a:t>
            </a:r>
            <a:r>
              <a:rPr spc="15" dirty="0"/>
              <a:t> </a:t>
            </a:r>
            <a:r>
              <a:rPr spc="65" dirty="0"/>
              <a:t>stage.</a:t>
            </a:r>
            <a:r>
              <a:rPr spc="10" dirty="0"/>
              <a:t> </a:t>
            </a:r>
            <a:r>
              <a:rPr spc="50" dirty="0"/>
              <a:t>Therefore,</a:t>
            </a:r>
            <a:r>
              <a:rPr spc="10" dirty="0"/>
              <a:t> </a:t>
            </a:r>
            <a:r>
              <a:rPr spc="140" dirty="0"/>
              <a:t>if</a:t>
            </a:r>
            <a:r>
              <a:rPr spc="10" dirty="0"/>
              <a:t> </a:t>
            </a:r>
            <a:r>
              <a:rPr spc="85" dirty="0"/>
              <a:t>we </a:t>
            </a:r>
            <a:r>
              <a:rPr spc="100" dirty="0"/>
              <a:t>can</a:t>
            </a:r>
            <a:r>
              <a:rPr spc="-30" dirty="0"/>
              <a:t> </a:t>
            </a:r>
            <a:r>
              <a:rPr spc="120" dirty="0"/>
              <a:t>determine</a:t>
            </a:r>
            <a:r>
              <a:rPr spc="-25" dirty="0"/>
              <a:t> </a:t>
            </a:r>
            <a:r>
              <a:rPr spc="140" dirty="0"/>
              <a:t>if</a:t>
            </a:r>
            <a:r>
              <a:rPr spc="-25" dirty="0"/>
              <a:t> </a:t>
            </a:r>
            <a:r>
              <a:rPr spc="125" dirty="0"/>
              <a:t>the</a:t>
            </a:r>
            <a:r>
              <a:rPr spc="-25" dirty="0"/>
              <a:t> </a:t>
            </a:r>
            <a:r>
              <a:rPr spc="100" dirty="0"/>
              <a:t>first</a:t>
            </a:r>
            <a:r>
              <a:rPr spc="-25" dirty="0"/>
              <a:t> </a:t>
            </a:r>
            <a:r>
              <a:rPr spc="80" dirty="0"/>
              <a:t>stage</a:t>
            </a:r>
            <a:r>
              <a:rPr spc="-25" dirty="0"/>
              <a:t> </a:t>
            </a:r>
            <a:r>
              <a:rPr spc="120" dirty="0"/>
              <a:t>will</a:t>
            </a:r>
            <a:r>
              <a:rPr spc="-25" dirty="0"/>
              <a:t> </a:t>
            </a:r>
            <a:r>
              <a:rPr spc="80" dirty="0"/>
              <a:t>land,</a:t>
            </a:r>
            <a:r>
              <a:rPr spc="-25" dirty="0"/>
              <a:t> </a:t>
            </a:r>
            <a:r>
              <a:rPr spc="110" dirty="0"/>
              <a:t>we</a:t>
            </a:r>
            <a:r>
              <a:rPr spc="-25" dirty="0"/>
              <a:t> </a:t>
            </a:r>
            <a:r>
              <a:rPr spc="100" dirty="0"/>
              <a:t>can</a:t>
            </a:r>
            <a:r>
              <a:rPr spc="-25" dirty="0"/>
              <a:t> </a:t>
            </a:r>
            <a:r>
              <a:rPr spc="120" dirty="0"/>
              <a:t>determine</a:t>
            </a:r>
            <a:r>
              <a:rPr spc="-25" dirty="0"/>
              <a:t> </a:t>
            </a:r>
            <a:r>
              <a:rPr spc="125" dirty="0"/>
              <a:t>the</a:t>
            </a:r>
            <a:r>
              <a:rPr spc="-25" dirty="0"/>
              <a:t> </a:t>
            </a:r>
            <a:r>
              <a:rPr spc="100" dirty="0"/>
              <a:t>cost </a:t>
            </a:r>
            <a:r>
              <a:rPr spc="165" dirty="0"/>
              <a:t>of</a:t>
            </a:r>
            <a:r>
              <a:rPr spc="-2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spc="85" dirty="0"/>
              <a:t>launch.</a:t>
            </a:r>
            <a:r>
              <a:rPr spc="-20" dirty="0"/>
              <a:t> </a:t>
            </a:r>
            <a:r>
              <a:rPr dirty="0"/>
              <a:t>Based</a:t>
            </a:r>
            <a:r>
              <a:rPr spc="-20" dirty="0"/>
              <a:t> </a:t>
            </a:r>
            <a:r>
              <a:rPr spc="135" dirty="0"/>
              <a:t>on</a:t>
            </a:r>
            <a:r>
              <a:rPr spc="-15" dirty="0"/>
              <a:t> </a:t>
            </a:r>
            <a:r>
              <a:rPr spc="150" dirty="0"/>
              <a:t>public</a:t>
            </a:r>
            <a:r>
              <a:rPr spc="-20" dirty="0"/>
              <a:t> </a:t>
            </a:r>
            <a:r>
              <a:rPr spc="125" dirty="0"/>
              <a:t>information</a:t>
            </a:r>
            <a:r>
              <a:rPr spc="-20" dirty="0"/>
              <a:t> </a:t>
            </a:r>
            <a:r>
              <a:rPr spc="105" dirty="0"/>
              <a:t>and</a:t>
            </a:r>
            <a:r>
              <a:rPr spc="-20" dirty="0"/>
              <a:t> </a:t>
            </a:r>
            <a:r>
              <a:rPr spc="114" dirty="0"/>
              <a:t>machine</a:t>
            </a:r>
            <a:r>
              <a:rPr spc="-20" dirty="0"/>
              <a:t> </a:t>
            </a:r>
            <a:r>
              <a:rPr spc="90" dirty="0"/>
              <a:t>learning models,</a:t>
            </a:r>
            <a:r>
              <a:rPr dirty="0"/>
              <a:t> </a:t>
            </a:r>
            <a:r>
              <a:rPr spc="110" dirty="0"/>
              <a:t>we</a:t>
            </a:r>
            <a:r>
              <a:rPr spc="10" dirty="0"/>
              <a:t> </a:t>
            </a:r>
            <a:r>
              <a:rPr dirty="0"/>
              <a:t>are</a:t>
            </a:r>
            <a:r>
              <a:rPr spc="10" dirty="0"/>
              <a:t> </a:t>
            </a:r>
            <a:r>
              <a:rPr spc="155" dirty="0"/>
              <a:t>going</a:t>
            </a:r>
            <a:r>
              <a:rPr spc="10" dirty="0"/>
              <a:t> </a:t>
            </a:r>
            <a:r>
              <a:rPr spc="180" dirty="0"/>
              <a:t>to</a:t>
            </a:r>
            <a:r>
              <a:rPr spc="10" dirty="0"/>
              <a:t> </a:t>
            </a:r>
            <a:r>
              <a:rPr spc="145" dirty="0"/>
              <a:t>predict</a:t>
            </a:r>
            <a:r>
              <a:rPr spc="10" dirty="0"/>
              <a:t> </a:t>
            </a:r>
            <a:r>
              <a:rPr spc="140" dirty="0"/>
              <a:t>if</a:t>
            </a:r>
            <a:r>
              <a:rPr spc="10" dirty="0"/>
              <a:t> </a:t>
            </a:r>
            <a:r>
              <a:rPr dirty="0"/>
              <a:t>SpaceX</a:t>
            </a:r>
            <a:r>
              <a:rPr spc="10" dirty="0"/>
              <a:t> </a:t>
            </a:r>
            <a:r>
              <a:rPr spc="120" dirty="0"/>
              <a:t>will</a:t>
            </a:r>
            <a:r>
              <a:rPr spc="10" dirty="0"/>
              <a:t> </a:t>
            </a:r>
            <a:r>
              <a:rPr spc="50" dirty="0"/>
              <a:t>reuse</a:t>
            </a:r>
            <a:r>
              <a:rPr spc="10" dirty="0"/>
              <a:t> </a:t>
            </a:r>
            <a:r>
              <a:rPr spc="125" dirty="0"/>
              <a:t>the</a:t>
            </a:r>
            <a:r>
              <a:rPr spc="10" dirty="0"/>
              <a:t> </a:t>
            </a:r>
            <a:r>
              <a:rPr spc="100" dirty="0"/>
              <a:t>first</a:t>
            </a:r>
            <a:r>
              <a:rPr spc="15" dirty="0"/>
              <a:t> </a:t>
            </a:r>
            <a:r>
              <a:rPr spc="55" dirty="0"/>
              <a:t>stage.</a:t>
            </a: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pc="55" dirty="0"/>
          </a:p>
          <a:p>
            <a:pPr marL="12700">
              <a:lnSpc>
                <a:spcPct val="100000"/>
              </a:lnSpc>
            </a:pPr>
            <a:r>
              <a:rPr sz="3050" spc="114" dirty="0">
                <a:solidFill>
                  <a:srgbClr val="D5D5D5"/>
                </a:solidFill>
              </a:rPr>
              <a:t>Questions</a:t>
            </a:r>
            <a:r>
              <a:rPr sz="3050" spc="-105" dirty="0">
                <a:solidFill>
                  <a:srgbClr val="D5D5D5"/>
                </a:solidFill>
              </a:rPr>
              <a:t> </a:t>
            </a:r>
            <a:r>
              <a:rPr sz="3050" spc="225" dirty="0">
                <a:solidFill>
                  <a:srgbClr val="D5D5D5"/>
                </a:solidFill>
              </a:rPr>
              <a:t>to</a:t>
            </a:r>
            <a:r>
              <a:rPr sz="3050" spc="-100" dirty="0">
                <a:solidFill>
                  <a:srgbClr val="D5D5D5"/>
                </a:solidFill>
              </a:rPr>
              <a:t> </a:t>
            </a:r>
            <a:r>
              <a:rPr sz="3050" spc="150" dirty="0">
                <a:solidFill>
                  <a:srgbClr val="D5D5D5"/>
                </a:solidFill>
              </a:rPr>
              <a:t>be</a:t>
            </a:r>
            <a:r>
              <a:rPr sz="3050" spc="-100" dirty="0">
                <a:solidFill>
                  <a:srgbClr val="D5D5D5"/>
                </a:solidFill>
              </a:rPr>
              <a:t> </a:t>
            </a:r>
            <a:r>
              <a:rPr sz="3050" spc="100" dirty="0">
                <a:solidFill>
                  <a:srgbClr val="D5D5D5"/>
                </a:solidFill>
              </a:rPr>
              <a:t>answered</a:t>
            </a:r>
            <a:endParaRPr sz="3050"/>
          </a:p>
          <a:p>
            <a:pPr marL="766445" marR="676275" indent="207010">
              <a:lnSpc>
                <a:spcPct val="109400"/>
              </a:lnSpc>
              <a:spcBef>
                <a:spcPts val="1375"/>
              </a:spcBef>
              <a:buChar char="-"/>
              <a:tabLst>
                <a:tab pos="973455" algn="l"/>
              </a:tabLst>
            </a:pPr>
            <a:r>
              <a:rPr spc="114" dirty="0"/>
              <a:t>How</a:t>
            </a:r>
            <a:r>
              <a:rPr spc="-15" dirty="0"/>
              <a:t> </a:t>
            </a:r>
            <a:r>
              <a:rPr spc="180" dirty="0"/>
              <a:t>do</a:t>
            </a:r>
            <a:r>
              <a:rPr spc="-15" dirty="0"/>
              <a:t> </a:t>
            </a:r>
            <a:r>
              <a:rPr spc="60" dirty="0"/>
              <a:t>variables</a:t>
            </a:r>
            <a:r>
              <a:rPr spc="-15" dirty="0"/>
              <a:t> </a:t>
            </a:r>
            <a:r>
              <a:rPr spc="95" dirty="0"/>
              <a:t>such</a:t>
            </a:r>
            <a:r>
              <a:rPr spc="-15" dirty="0"/>
              <a:t> </a:t>
            </a:r>
            <a:r>
              <a:rPr dirty="0"/>
              <a:t>as</a:t>
            </a:r>
            <a:r>
              <a:rPr spc="-15" dirty="0"/>
              <a:t> </a:t>
            </a:r>
            <a:r>
              <a:rPr spc="90" dirty="0"/>
              <a:t>payload</a:t>
            </a:r>
            <a:r>
              <a:rPr spc="-15" dirty="0"/>
              <a:t> </a:t>
            </a:r>
            <a:r>
              <a:rPr dirty="0"/>
              <a:t>mass,</a:t>
            </a:r>
            <a:r>
              <a:rPr spc="-10" dirty="0"/>
              <a:t> </a:t>
            </a:r>
            <a:r>
              <a:rPr spc="105" dirty="0"/>
              <a:t>launch</a:t>
            </a:r>
            <a:r>
              <a:rPr spc="-15" dirty="0"/>
              <a:t> </a:t>
            </a:r>
            <a:r>
              <a:rPr spc="55" dirty="0"/>
              <a:t>site,</a:t>
            </a:r>
            <a:r>
              <a:rPr spc="-15" dirty="0"/>
              <a:t> </a:t>
            </a:r>
            <a:r>
              <a:rPr spc="135" dirty="0"/>
              <a:t>number</a:t>
            </a:r>
            <a:r>
              <a:rPr spc="-15" dirty="0"/>
              <a:t> </a:t>
            </a:r>
            <a:r>
              <a:rPr spc="140" dirty="0"/>
              <a:t>of </a:t>
            </a:r>
            <a:r>
              <a:rPr spc="105" dirty="0"/>
              <a:t>flights,</a:t>
            </a:r>
            <a:r>
              <a:rPr spc="-25" dirty="0"/>
              <a:t> </a:t>
            </a:r>
            <a:r>
              <a:rPr spc="105" dirty="0"/>
              <a:t>and</a:t>
            </a:r>
            <a:r>
              <a:rPr spc="-25" dirty="0"/>
              <a:t> </a:t>
            </a:r>
            <a:r>
              <a:rPr spc="120" dirty="0"/>
              <a:t>orbits</a:t>
            </a:r>
            <a:r>
              <a:rPr spc="-25" dirty="0"/>
              <a:t> </a:t>
            </a:r>
            <a:r>
              <a:rPr spc="125" dirty="0"/>
              <a:t>affect</a:t>
            </a:r>
            <a:r>
              <a:rPr spc="-25" dirty="0"/>
              <a:t> </a:t>
            </a:r>
            <a:r>
              <a:rPr spc="125" dirty="0"/>
              <a:t>the</a:t>
            </a:r>
            <a:r>
              <a:rPr spc="-25" dirty="0"/>
              <a:t> </a:t>
            </a:r>
            <a:r>
              <a:rPr spc="60" dirty="0"/>
              <a:t>success</a:t>
            </a:r>
            <a:r>
              <a:rPr spc="-25" dirty="0"/>
              <a:t> </a:t>
            </a:r>
            <a:r>
              <a:rPr spc="165" dirty="0"/>
              <a:t>of</a:t>
            </a:r>
            <a:r>
              <a:rPr spc="-25" dirty="0"/>
              <a:t> </a:t>
            </a:r>
            <a:r>
              <a:rPr spc="125" dirty="0"/>
              <a:t>the</a:t>
            </a:r>
            <a:r>
              <a:rPr spc="-25" dirty="0"/>
              <a:t> </a:t>
            </a:r>
            <a:r>
              <a:rPr spc="100" dirty="0"/>
              <a:t>first</a:t>
            </a:r>
            <a:r>
              <a:rPr spc="-25" dirty="0"/>
              <a:t> </a:t>
            </a:r>
            <a:r>
              <a:rPr spc="80" dirty="0"/>
              <a:t>stage</a:t>
            </a:r>
            <a:r>
              <a:rPr spc="-20" dirty="0"/>
              <a:t> </a:t>
            </a:r>
            <a:r>
              <a:rPr spc="65" dirty="0"/>
              <a:t>landing?</a:t>
            </a:r>
          </a:p>
          <a:p>
            <a:pPr marL="973455" indent="-207010">
              <a:lnSpc>
                <a:spcPct val="100000"/>
              </a:lnSpc>
              <a:spcBef>
                <a:spcPts val="1670"/>
              </a:spcBef>
              <a:buChar char="-"/>
              <a:tabLst>
                <a:tab pos="973455" algn="l"/>
              </a:tabLst>
            </a:pPr>
            <a:r>
              <a:rPr dirty="0"/>
              <a:t>Does</a:t>
            </a:r>
            <a:r>
              <a:rPr spc="-10" dirty="0"/>
              <a:t> </a:t>
            </a:r>
            <a:r>
              <a:rPr spc="125" dirty="0"/>
              <a:t>the</a:t>
            </a:r>
            <a:r>
              <a:rPr spc="-10" dirty="0"/>
              <a:t> </a:t>
            </a:r>
            <a:r>
              <a:rPr spc="80" dirty="0"/>
              <a:t>rate</a:t>
            </a:r>
            <a:r>
              <a:rPr spc="-10" dirty="0"/>
              <a:t> </a:t>
            </a:r>
            <a:r>
              <a:rPr spc="165" dirty="0"/>
              <a:t>of</a:t>
            </a:r>
            <a:r>
              <a:rPr spc="-5" dirty="0"/>
              <a:t> </a:t>
            </a:r>
            <a:r>
              <a:rPr spc="80" dirty="0"/>
              <a:t>successful</a:t>
            </a:r>
            <a:r>
              <a:rPr spc="-10" dirty="0"/>
              <a:t> </a:t>
            </a:r>
            <a:r>
              <a:rPr spc="100" dirty="0"/>
              <a:t>landings</a:t>
            </a:r>
            <a:r>
              <a:rPr spc="-10" dirty="0"/>
              <a:t> </a:t>
            </a:r>
            <a:r>
              <a:rPr spc="60" dirty="0"/>
              <a:t>increase</a:t>
            </a:r>
            <a:r>
              <a:rPr spc="-10" dirty="0"/>
              <a:t> </a:t>
            </a:r>
            <a:r>
              <a:rPr spc="80" dirty="0"/>
              <a:t>over</a:t>
            </a:r>
            <a:r>
              <a:rPr spc="-5" dirty="0"/>
              <a:t> </a:t>
            </a:r>
            <a:r>
              <a:rPr spc="125" dirty="0"/>
              <a:t>the</a:t>
            </a:r>
            <a:r>
              <a:rPr spc="-10" dirty="0"/>
              <a:t> years?</a:t>
            </a:r>
          </a:p>
          <a:p>
            <a:pPr marL="766445" marR="5080" indent="207010">
              <a:lnSpc>
                <a:spcPct val="109400"/>
              </a:lnSpc>
              <a:spcBef>
                <a:spcPts val="1365"/>
              </a:spcBef>
              <a:buChar char="-"/>
              <a:tabLst>
                <a:tab pos="973455" algn="l"/>
              </a:tabLst>
            </a:pPr>
            <a:r>
              <a:rPr spc="60" dirty="0"/>
              <a:t>What</a:t>
            </a:r>
            <a:r>
              <a:rPr spc="-2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spc="125" dirty="0"/>
              <a:t>the</a:t>
            </a:r>
            <a:r>
              <a:rPr spc="-20" dirty="0"/>
              <a:t> </a:t>
            </a:r>
            <a:r>
              <a:rPr spc="100" dirty="0"/>
              <a:t>best</a:t>
            </a:r>
            <a:r>
              <a:rPr spc="-20" dirty="0"/>
              <a:t> </a:t>
            </a:r>
            <a:r>
              <a:rPr spc="135" dirty="0"/>
              <a:t>algorithm</a:t>
            </a:r>
            <a:r>
              <a:rPr spc="-20" dirty="0"/>
              <a:t> </a:t>
            </a:r>
            <a:r>
              <a:rPr spc="135" dirty="0"/>
              <a:t>that</a:t>
            </a:r>
            <a:r>
              <a:rPr spc="-20" dirty="0"/>
              <a:t> </a:t>
            </a:r>
            <a:r>
              <a:rPr spc="100" dirty="0"/>
              <a:t>can</a:t>
            </a:r>
            <a:r>
              <a:rPr spc="-20" dirty="0"/>
              <a:t> </a:t>
            </a:r>
            <a:r>
              <a:rPr spc="120" dirty="0"/>
              <a:t>be</a:t>
            </a:r>
            <a:r>
              <a:rPr spc="-20" dirty="0"/>
              <a:t> </a:t>
            </a:r>
            <a:r>
              <a:rPr spc="70" dirty="0"/>
              <a:t>used</a:t>
            </a:r>
            <a:r>
              <a:rPr spc="-20" dirty="0"/>
              <a:t> </a:t>
            </a:r>
            <a:r>
              <a:rPr spc="125" dirty="0"/>
              <a:t>for</a:t>
            </a:r>
            <a:r>
              <a:rPr spc="-20" dirty="0"/>
              <a:t> </a:t>
            </a:r>
            <a:r>
              <a:rPr spc="105" dirty="0"/>
              <a:t>binary</a:t>
            </a:r>
            <a:r>
              <a:rPr spc="-20" dirty="0"/>
              <a:t> </a:t>
            </a:r>
            <a:r>
              <a:rPr spc="80" dirty="0"/>
              <a:t>classification </a:t>
            </a:r>
            <a:r>
              <a:rPr spc="105" dirty="0"/>
              <a:t>in</a:t>
            </a:r>
            <a:r>
              <a:rPr spc="-25" dirty="0"/>
              <a:t> </a:t>
            </a:r>
            <a:r>
              <a:rPr spc="90" dirty="0"/>
              <a:t>this</a:t>
            </a:r>
            <a:r>
              <a:rPr spc="-20" dirty="0"/>
              <a:t> </a:t>
            </a:r>
            <a:r>
              <a:rPr spc="-10" dirty="0"/>
              <a:t>case?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6579" y="1055884"/>
            <a:ext cx="5332737" cy="8382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303" y="3566163"/>
            <a:ext cx="5088179" cy="530940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10518" y="2164091"/>
            <a:ext cx="11912600" cy="7747634"/>
          </a:xfrm>
          <a:prstGeom prst="rect">
            <a:avLst/>
          </a:prstGeom>
        </p:spPr>
        <p:txBody>
          <a:bodyPr vert="horz" wrap="square" lIns="0" tIns="236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2800" dirty="0">
                <a:solidFill>
                  <a:srgbClr val="D5D5D5"/>
                </a:solidFill>
                <a:latin typeface="Arial MT"/>
                <a:cs typeface="Arial MT"/>
              </a:rPr>
              <a:t>Data</a:t>
            </a:r>
            <a:r>
              <a:rPr sz="2800" spc="-1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50" dirty="0">
                <a:solidFill>
                  <a:srgbClr val="D5D5D5"/>
                </a:solidFill>
                <a:latin typeface="Arial MT"/>
                <a:cs typeface="Arial MT"/>
              </a:rPr>
              <a:t>collection</a:t>
            </a:r>
            <a:r>
              <a:rPr sz="2800" spc="-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35" dirty="0">
                <a:solidFill>
                  <a:srgbClr val="D5D5D5"/>
                </a:solidFill>
                <a:latin typeface="Arial MT"/>
                <a:cs typeface="Arial MT"/>
              </a:rPr>
              <a:t>methodology:</a:t>
            </a:r>
            <a:endParaRPr sz="2800">
              <a:latin typeface="Arial MT"/>
              <a:cs typeface="Arial MT"/>
            </a:endParaRPr>
          </a:p>
          <a:p>
            <a:pPr marL="956310" indent="-189865">
              <a:lnSpc>
                <a:spcPct val="100000"/>
              </a:lnSpc>
              <a:spcBef>
                <a:spcPts val="1555"/>
              </a:spcBef>
              <a:buChar char="-"/>
              <a:tabLst>
                <a:tab pos="956310" algn="l"/>
              </a:tabLst>
            </a:pP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25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SpaceX</a:t>
            </a:r>
            <a:r>
              <a:rPr sz="25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Rest</a:t>
            </a:r>
            <a:r>
              <a:rPr sz="2500" spc="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API</a:t>
            </a:r>
            <a:endParaRPr sz="2500">
              <a:latin typeface="Arial MT"/>
              <a:cs typeface="Arial MT"/>
            </a:endParaRPr>
          </a:p>
          <a:p>
            <a:pPr marL="956310" indent="-189865">
              <a:lnSpc>
                <a:spcPct val="100000"/>
              </a:lnSpc>
              <a:spcBef>
                <a:spcPts val="1545"/>
              </a:spcBef>
              <a:buChar char="-"/>
              <a:tabLst>
                <a:tab pos="956310" algn="l"/>
              </a:tabLst>
            </a:pP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25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Web</a:t>
            </a:r>
            <a:r>
              <a:rPr sz="25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Scrapping</a:t>
            </a:r>
            <a:r>
              <a:rPr sz="25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2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5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45" dirty="0">
                <a:solidFill>
                  <a:srgbClr val="FFFFFF"/>
                </a:solidFill>
                <a:latin typeface="Arial MT"/>
                <a:cs typeface="Arial MT"/>
              </a:rPr>
              <a:t>Wikipedia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FFFF"/>
              </a:buClr>
              <a:buFont typeface="Arial MT"/>
              <a:buChar char="-"/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spc="110" dirty="0">
                <a:solidFill>
                  <a:srgbClr val="D5D5D5"/>
                </a:solidFill>
                <a:latin typeface="Arial MT"/>
                <a:cs typeface="Arial MT"/>
              </a:rPr>
              <a:t>Performed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05" dirty="0">
                <a:solidFill>
                  <a:srgbClr val="D5D5D5"/>
                </a:solidFill>
                <a:latin typeface="Arial MT"/>
                <a:cs typeface="Arial MT"/>
              </a:rPr>
              <a:t>data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30" dirty="0">
                <a:solidFill>
                  <a:srgbClr val="D5D5D5"/>
                </a:solidFill>
                <a:latin typeface="Arial MT"/>
                <a:cs typeface="Arial MT"/>
              </a:rPr>
              <a:t>wrangling</a:t>
            </a:r>
            <a:endParaRPr sz="2800">
              <a:latin typeface="Arial MT"/>
              <a:cs typeface="Arial MT"/>
            </a:endParaRPr>
          </a:p>
          <a:p>
            <a:pPr marL="956310" indent="-189865">
              <a:lnSpc>
                <a:spcPct val="100000"/>
              </a:lnSpc>
              <a:spcBef>
                <a:spcPts val="1555"/>
              </a:spcBef>
              <a:buChar char="-"/>
              <a:tabLst>
                <a:tab pos="956310" algn="l"/>
              </a:tabLst>
            </a:pP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Filtering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2500">
              <a:latin typeface="Arial MT"/>
              <a:cs typeface="Arial MT"/>
            </a:endParaRPr>
          </a:p>
          <a:p>
            <a:pPr marL="956310" indent="-189865">
              <a:lnSpc>
                <a:spcPct val="100000"/>
              </a:lnSpc>
              <a:spcBef>
                <a:spcPts val="1545"/>
              </a:spcBef>
              <a:buChar char="-"/>
              <a:tabLst>
                <a:tab pos="956310" algn="l"/>
              </a:tabLst>
            </a:pP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Dealing</a:t>
            </a:r>
            <a:r>
              <a:rPr sz="25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3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500" spc="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missing</a:t>
            </a:r>
            <a:r>
              <a:rPr sz="2500" spc="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endParaRPr sz="2500">
              <a:latin typeface="Arial MT"/>
              <a:cs typeface="Arial MT"/>
            </a:endParaRPr>
          </a:p>
          <a:p>
            <a:pPr marL="956310" indent="-189865">
              <a:lnSpc>
                <a:spcPct val="100000"/>
              </a:lnSpc>
              <a:spcBef>
                <a:spcPts val="1545"/>
              </a:spcBef>
              <a:buChar char="-"/>
              <a:tabLst>
                <a:tab pos="956310" algn="l"/>
              </a:tabLst>
            </a:pP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Hot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Arial MT"/>
                <a:cs typeface="Arial MT"/>
              </a:rPr>
              <a:t>Encoding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4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prepare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4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Arial MT"/>
                <a:cs typeface="Arial MT"/>
              </a:rPr>
              <a:t>binary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endParaRPr sz="2500">
              <a:latin typeface="Arial MT"/>
              <a:cs typeface="Arial MT"/>
            </a:endParaRPr>
          </a:p>
          <a:p>
            <a:pPr marL="12700" marR="8890">
              <a:lnSpc>
                <a:spcPts val="6280"/>
              </a:lnSpc>
              <a:spcBef>
                <a:spcPts val="680"/>
              </a:spcBef>
            </a:pPr>
            <a:r>
              <a:rPr sz="2800" spc="110" dirty="0">
                <a:solidFill>
                  <a:srgbClr val="D5D5D5"/>
                </a:solidFill>
                <a:latin typeface="Arial MT"/>
                <a:cs typeface="Arial MT"/>
              </a:rPr>
              <a:t>Performed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30" dirty="0">
                <a:solidFill>
                  <a:srgbClr val="D5D5D5"/>
                </a:solidFill>
                <a:latin typeface="Arial MT"/>
                <a:cs typeface="Arial MT"/>
              </a:rPr>
              <a:t>exploratory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05" dirty="0">
                <a:solidFill>
                  <a:srgbClr val="D5D5D5"/>
                </a:solidFill>
                <a:latin typeface="Arial MT"/>
                <a:cs typeface="Arial MT"/>
              </a:rPr>
              <a:t>data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60" dirty="0">
                <a:solidFill>
                  <a:srgbClr val="D5D5D5"/>
                </a:solidFill>
                <a:latin typeface="Arial MT"/>
                <a:cs typeface="Arial MT"/>
              </a:rPr>
              <a:t>analysis</a:t>
            </a:r>
            <a:r>
              <a:rPr sz="2800" spc="-9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-60" dirty="0">
                <a:solidFill>
                  <a:srgbClr val="D5D5D5"/>
                </a:solidFill>
                <a:latin typeface="Arial MT"/>
                <a:cs typeface="Arial MT"/>
              </a:rPr>
              <a:t>(EDA)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D5D5D5"/>
                </a:solidFill>
                <a:latin typeface="Arial MT"/>
                <a:cs typeface="Arial MT"/>
              </a:rPr>
              <a:t>using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00" dirty="0">
                <a:solidFill>
                  <a:srgbClr val="D5D5D5"/>
                </a:solidFill>
                <a:latin typeface="Arial MT"/>
                <a:cs typeface="Arial MT"/>
              </a:rPr>
              <a:t>visualization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05" dirty="0">
                <a:solidFill>
                  <a:srgbClr val="D5D5D5"/>
                </a:solidFill>
                <a:latin typeface="Arial MT"/>
                <a:cs typeface="Arial MT"/>
              </a:rPr>
              <a:t>and</a:t>
            </a:r>
            <a:r>
              <a:rPr sz="2800" spc="-9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D5D5D5"/>
                </a:solidFill>
                <a:latin typeface="Arial MT"/>
                <a:cs typeface="Arial MT"/>
              </a:rPr>
              <a:t>SQL </a:t>
            </a:r>
            <a:r>
              <a:rPr sz="2800" spc="110" dirty="0">
                <a:solidFill>
                  <a:srgbClr val="D5D5D5"/>
                </a:solidFill>
                <a:latin typeface="Arial MT"/>
                <a:cs typeface="Arial MT"/>
              </a:rPr>
              <a:t>Performed</a:t>
            </a:r>
            <a:r>
              <a:rPr sz="28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35" dirty="0">
                <a:solidFill>
                  <a:srgbClr val="D5D5D5"/>
                </a:solidFill>
                <a:latin typeface="Arial MT"/>
                <a:cs typeface="Arial MT"/>
              </a:rPr>
              <a:t>interactive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80" dirty="0">
                <a:solidFill>
                  <a:srgbClr val="D5D5D5"/>
                </a:solidFill>
                <a:latin typeface="Arial MT"/>
                <a:cs typeface="Arial MT"/>
              </a:rPr>
              <a:t>visual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10" dirty="0">
                <a:solidFill>
                  <a:srgbClr val="D5D5D5"/>
                </a:solidFill>
                <a:latin typeface="Arial MT"/>
                <a:cs typeface="Arial MT"/>
              </a:rPr>
              <a:t>analytics</a:t>
            </a:r>
            <a:r>
              <a:rPr sz="28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D5D5D5"/>
                </a:solidFill>
                <a:latin typeface="Arial MT"/>
                <a:cs typeface="Arial MT"/>
              </a:rPr>
              <a:t>using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80" dirty="0">
                <a:solidFill>
                  <a:srgbClr val="D5D5D5"/>
                </a:solidFill>
                <a:latin typeface="Arial MT"/>
                <a:cs typeface="Arial MT"/>
              </a:rPr>
              <a:t>Folium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05" dirty="0">
                <a:solidFill>
                  <a:srgbClr val="D5D5D5"/>
                </a:solidFill>
                <a:latin typeface="Arial MT"/>
                <a:cs typeface="Arial MT"/>
              </a:rPr>
              <a:t>and</a:t>
            </a:r>
            <a:r>
              <a:rPr sz="28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00" dirty="0">
                <a:solidFill>
                  <a:srgbClr val="D5D5D5"/>
                </a:solidFill>
                <a:latin typeface="Arial MT"/>
                <a:cs typeface="Arial MT"/>
              </a:rPr>
              <a:t>Plotly</a:t>
            </a:r>
            <a:r>
              <a:rPr sz="28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D5D5D5"/>
                </a:solidFill>
                <a:latin typeface="Arial MT"/>
                <a:cs typeface="Arial MT"/>
              </a:rPr>
              <a:t>Dash </a:t>
            </a:r>
            <a:r>
              <a:rPr sz="2800" spc="110" dirty="0">
                <a:solidFill>
                  <a:srgbClr val="D5D5D5"/>
                </a:solidFill>
                <a:latin typeface="Arial MT"/>
                <a:cs typeface="Arial MT"/>
              </a:rPr>
              <a:t>Performed</a:t>
            </a:r>
            <a:r>
              <a:rPr sz="2800" spc="-9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45" dirty="0">
                <a:solidFill>
                  <a:srgbClr val="D5D5D5"/>
                </a:solidFill>
                <a:latin typeface="Arial MT"/>
                <a:cs typeface="Arial MT"/>
              </a:rPr>
              <a:t>predictive</a:t>
            </a:r>
            <a:r>
              <a:rPr sz="2800" spc="-9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60" dirty="0">
                <a:solidFill>
                  <a:srgbClr val="D5D5D5"/>
                </a:solidFill>
                <a:latin typeface="Arial MT"/>
                <a:cs typeface="Arial MT"/>
              </a:rPr>
              <a:t>analysis</a:t>
            </a:r>
            <a:r>
              <a:rPr sz="2800" spc="-9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D5D5D5"/>
                </a:solidFill>
                <a:latin typeface="Arial MT"/>
                <a:cs typeface="Arial MT"/>
              </a:rPr>
              <a:t>using</a:t>
            </a:r>
            <a:r>
              <a:rPr sz="2800" spc="-9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10" dirty="0">
                <a:solidFill>
                  <a:srgbClr val="D5D5D5"/>
                </a:solidFill>
                <a:latin typeface="Arial MT"/>
                <a:cs typeface="Arial MT"/>
              </a:rPr>
              <a:t>classification</a:t>
            </a:r>
            <a:r>
              <a:rPr sz="2800" spc="-9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110" dirty="0">
                <a:solidFill>
                  <a:srgbClr val="D5D5D5"/>
                </a:solidFill>
                <a:latin typeface="Arial MT"/>
                <a:cs typeface="Arial MT"/>
              </a:rPr>
              <a:t>models</a:t>
            </a:r>
            <a:endParaRPr sz="2800">
              <a:latin typeface="Arial MT"/>
              <a:cs typeface="Arial MT"/>
            </a:endParaRPr>
          </a:p>
          <a:p>
            <a:pPr marL="766445" marR="5080" indent="189865">
              <a:lnSpc>
                <a:spcPct val="109900"/>
              </a:lnSpc>
              <a:spcBef>
                <a:spcPts val="555"/>
              </a:spcBef>
              <a:buChar char="-"/>
              <a:tabLst>
                <a:tab pos="956310" algn="l"/>
              </a:tabLst>
            </a:pP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Building,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Arial MT"/>
                <a:cs typeface="Arial MT"/>
              </a:rPr>
              <a:t>tuning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Arial MT"/>
                <a:cs typeface="Arial MT"/>
              </a:rPr>
              <a:t>evaluation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classification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Arial MT"/>
                <a:cs typeface="Arial MT"/>
              </a:rPr>
              <a:t>models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4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ensure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Arial MT"/>
                <a:cs typeface="Arial MT"/>
              </a:rPr>
              <a:t>best </a:t>
            </a: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results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6401" y="4671688"/>
            <a:ext cx="7364257" cy="1157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4893" y="1055884"/>
            <a:ext cx="5895653" cy="67813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08125" y="2351577"/>
            <a:ext cx="16843375" cy="1177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500"/>
              </a:lnSpc>
              <a:spcBef>
                <a:spcPts val="100"/>
              </a:spcBef>
            </a:pPr>
            <a:r>
              <a:rPr sz="3450" dirty="0">
                <a:solidFill>
                  <a:srgbClr val="FFFFFF"/>
                </a:solidFill>
              </a:rPr>
              <a:t>Data</a:t>
            </a:r>
            <a:r>
              <a:rPr sz="3450" spc="-30" dirty="0">
                <a:solidFill>
                  <a:srgbClr val="FFFFFF"/>
                </a:solidFill>
              </a:rPr>
              <a:t> </a:t>
            </a:r>
            <a:r>
              <a:rPr sz="3450" spc="155" dirty="0">
                <a:solidFill>
                  <a:srgbClr val="FFFFFF"/>
                </a:solidFill>
              </a:rPr>
              <a:t>collection</a:t>
            </a:r>
            <a:r>
              <a:rPr sz="3450" spc="-25" dirty="0">
                <a:solidFill>
                  <a:srgbClr val="FFFFFF"/>
                </a:solidFill>
              </a:rPr>
              <a:t> </a:t>
            </a:r>
            <a:r>
              <a:rPr sz="3450" spc="85" dirty="0">
                <a:solidFill>
                  <a:srgbClr val="FFFFFF"/>
                </a:solidFill>
              </a:rPr>
              <a:t>process</a:t>
            </a:r>
            <a:r>
              <a:rPr sz="3450" spc="-30" dirty="0">
                <a:solidFill>
                  <a:srgbClr val="FFFFFF"/>
                </a:solidFill>
              </a:rPr>
              <a:t> </a:t>
            </a:r>
            <a:r>
              <a:rPr sz="3450" spc="105" dirty="0">
                <a:solidFill>
                  <a:srgbClr val="FFFFFF"/>
                </a:solidFill>
              </a:rPr>
              <a:t>involved</a:t>
            </a:r>
            <a:r>
              <a:rPr sz="3450" spc="-3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a</a:t>
            </a:r>
            <a:r>
              <a:rPr sz="3450" spc="-25" dirty="0">
                <a:solidFill>
                  <a:srgbClr val="FFFFFF"/>
                </a:solidFill>
              </a:rPr>
              <a:t> </a:t>
            </a:r>
            <a:r>
              <a:rPr sz="3450" spc="150" dirty="0">
                <a:solidFill>
                  <a:srgbClr val="FFFFFF"/>
                </a:solidFill>
              </a:rPr>
              <a:t>combination</a:t>
            </a:r>
            <a:r>
              <a:rPr sz="3450" spc="-30" dirty="0">
                <a:solidFill>
                  <a:srgbClr val="FFFFFF"/>
                </a:solidFill>
              </a:rPr>
              <a:t> </a:t>
            </a:r>
            <a:r>
              <a:rPr sz="3450" spc="185" dirty="0">
                <a:solidFill>
                  <a:srgbClr val="FFFFFF"/>
                </a:solidFill>
              </a:rPr>
              <a:t>of</a:t>
            </a:r>
            <a:r>
              <a:rPr sz="3450" spc="-25" dirty="0">
                <a:solidFill>
                  <a:srgbClr val="FFFFFF"/>
                </a:solidFill>
              </a:rPr>
              <a:t> </a:t>
            </a:r>
            <a:r>
              <a:rPr sz="3450" spc="-80" dirty="0">
                <a:solidFill>
                  <a:srgbClr val="FFFFFF"/>
                </a:solidFill>
              </a:rPr>
              <a:t>API</a:t>
            </a:r>
            <a:r>
              <a:rPr sz="3450" spc="-30" dirty="0">
                <a:solidFill>
                  <a:srgbClr val="FFFFFF"/>
                </a:solidFill>
              </a:rPr>
              <a:t> </a:t>
            </a:r>
            <a:r>
              <a:rPr sz="3450" spc="80" dirty="0">
                <a:solidFill>
                  <a:srgbClr val="FFFFFF"/>
                </a:solidFill>
              </a:rPr>
              <a:t>requests</a:t>
            </a:r>
            <a:r>
              <a:rPr sz="3450" spc="-25" dirty="0">
                <a:solidFill>
                  <a:srgbClr val="FFFFFF"/>
                </a:solidFill>
              </a:rPr>
              <a:t> </a:t>
            </a:r>
            <a:r>
              <a:rPr sz="3450" spc="170" dirty="0">
                <a:solidFill>
                  <a:srgbClr val="FFFFFF"/>
                </a:solidFill>
              </a:rPr>
              <a:t>from</a:t>
            </a:r>
            <a:r>
              <a:rPr sz="3450" spc="-3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SpaceX</a:t>
            </a:r>
            <a:r>
              <a:rPr sz="3450" spc="-25" dirty="0">
                <a:solidFill>
                  <a:srgbClr val="FFFFFF"/>
                </a:solidFill>
              </a:rPr>
              <a:t> </a:t>
            </a:r>
            <a:r>
              <a:rPr sz="3450" spc="-305" dirty="0">
                <a:solidFill>
                  <a:srgbClr val="FFFFFF"/>
                </a:solidFill>
              </a:rPr>
              <a:t>REST </a:t>
            </a:r>
            <a:r>
              <a:rPr sz="3450" spc="-80" dirty="0">
                <a:solidFill>
                  <a:srgbClr val="FFFFFF"/>
                </a:solidFill>
              </a:rPr>
              <a:t>API</a:t>
            </a:r>
            <a:r>
              <a:rPr sz="3450" spc="-75" dirty="0">
                <a:solidFill>
                  <a:srgbClr val="FFFFFF"/>
                </a:solidFill>
              </a:rPr>
              <a:t> </a:t>
            </a:r>
            <a:r>
              <a:rPr sz="3450" spc="95" dirty="0">
                <a:solidFill>
                  <a:srgbClr val="FFFFFF"/>
                </a:solidFill>
              </a:rPr>
              <a:t>and</a:t>
            </a:r>
            <a:r>
              <a:rPr sz="3450" spc="-7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Web</a:t>
            </a:r>
            <a:r>
              <a:rPr sz="3450" spc="-70" dirty="0">
                <a:solidFill>
                  <a:srgbClr val="FFFFFF"/>
                </a:solidFill>
              </a:rPr>
              <a:t> </a:t>
            </a:r>
            <a:r>
              <a:rPr sz="3450" spc="105" dirty="0">
                <a:solidFill>
                  <a:srgbClr val="FFFFFF"/>
                </a:solidFill>
              </a:rPr>
              <a:t>Scraping</a:t>
            </a:r>
            <a:r>
              <a:rPr sz="3450" spc="-75" dirty="0">
                <a:solidFill>
                  <a:srgbClr val="FFFFFF"/>
                </a:solidFill>
              </a:rPr>
              <a:t> </a:t>
            </a:r>
            <a:r>
              <a:rPr sz="3450" spc="95" dirty="0">
                <a:solidFill>
                  <a:srgbClr val="FFFFFF"/>
                </a:solidFill>
              </a:rPr>
              <a:t>data</a:t>
            </a:r>
            <a:r>
              <a:rPr sz="3450" spc="-70" dirty="0">
                <a:solidFill>
                  <a:srgbClr val="FFFFFF"/>
                </a:solidFill>
              </a:rPr>
              <a:t> </a:t>
            </a:r>
            <a:r>
              <a:rPr sz="3450" spc="170" dirty="0">
                <a:solidFill>
                  <a:srgbClr val="FFFFFF"/>
                </a:solidFill>
              </a:rPr>
              <a:t>from</a:t>
            </a:r>
            <a:r>
              <a:rPr sz="3450" spc="-7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a</a:t>
            </a:r>
            <a:r>
              <a:rPr sz="3450" spc="-70" dirty="0">
                <a:solidFill>
                  <a:srgbClr val="FFFFFF"/>
                </a:solidFill>
              </a:rPr>
              <a:t> </a:t>
            </a:r>
            <a:r>
              <a:rPr sz="3450" spc="114" dirty="0">
                <a:solidFill>
                  <a:srgbClr val="FFFFFF"/>
                </a:solidFill>
              </a:rPr>
              <a:t>table</a:t>
            </a:r>
            <a:r>
              <a:rPr sz="3450" spc="-75" dirty="0">
                <a:solidFill>
                  <a:srgbClr val="FFFFFF"/>
                </a:solidFill>
              </a:rPr>
              <a:t> </a:t>
            </a:r>
            <a:r>
              <a:rPr sz="3450" spc="120" dirty="0">
                <a:solidFill>
                  <a:srgbClr val="FFFFFF"/>
                </a:solidFill>
              </a:rPr>
              <a:t>in</a:t>
            </a:r>
            <a:r>
              <a:rPr sz="3450" spc="-70" dirty="0">
                <a:solidFill>
                  <a:srgbClr val="FFFFFF"/>
                </a:solidFill>
              </a:rPr>
              <a:t> </a:t>
            </a:r>
            <a:r>
              <a:rPr sz="3450" dirty="0">
                <a:solidFill>
                  <a:srgbClr val="FFFFFF"/>
                </a:solidFill>
              </a:rPr>
              <a:t>SpaceX’s</a:t>
            </a:r>
            <a:r>
              <a:rPr sz="3450" spc="-70" dirty="0">
                <a:solidFill>
                  <a:srgbClr val="FFFFFF"/>
                </a:solidFill>
              </a:rPr>
              <a:t> </a:t>
            </a:r>
            <a:r>
              <a:rPr sz="3450" spc="75" dirty="0">
                <a:solidFill>
                  <a:srgbClr val="FFFFFF"/>
                </a:solidFill>
              </a:rPr>
              <a:t>Wikipedia</a:t>
            </a:r>
            <a:r>
              <a:rPr sz="3450" spc="-70" dirty="0">
                <a:solidFill>
                  <a:srgbClr val="FFFFFF"/>
                </a:solidFill>
              </a:rPr>
              <a:t> </a:t>
            </a:r>
            <a:r>
              <a:rPr sz="3450" spc="65" dirty="0">
                <a:solidFill>
                  <a:srgbClr val="FFFFFF"/>
                </a:solidFill>
              </a:rPr>
              <a:t>entry.</a:t>
            </a:r>
            <a:endParaRPr sz="3450"/>
          </a:p>
        </p:txBody>
      </p:sp>
      <p:sp>
        <p:nvSpPr>
          <p:cNvPr id="4" name="object 4"/>
          <p:cNvSpPr txBox="1"/>
          <p:nvPr/>
        </p:nvSpPr>
        <p:spPr>
          <a:xfrm>
            <a:off x="1308125" y="3722006"/>
            <a:ext cx="17100550" cy="671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5540">
              <a:lnSpc>
                <a:spcPct val="109500"/>
              </a:lnSpc>
              <a:spcBef>
                <a:spcPts val="100"/>
              </a:spcBef>
            </a:pP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95" dirty="0">
                <a:solidFill>
                  <a:srgbClr val="FFFFFF"/>
                </a:solidFill>
                <a:latin typeface="Arial MT"/>
                <a:cs typeface="Arial MT"/>
              </a:rPr>
              <a:t>had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2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200" dirty="0">
                <a:solidFill>
                  <a:srgbClr val="FFFFFF"/>
                </a:solidFill>
                <a:latin typeface="Arial MT"/>
                <a:cs typeface="Arial MT"/>
              </a:rPr>
              <a:t>both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8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80" dirty="0">
                <a:solidFill>
                  <a:srgbClr val="FFFFFF"/>
                </a:solidFill>
                <a:latin typeface="Arial MT"/>
                <a:cs typeface="Arial MT"/>
              </a:rPr>
              <a:t>these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9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55" dirty="0">
                <a:solidFill>
                  <a:srgbClr val="FFFFFF"/>
                </a:solidFill>
                <a:latin typeface="Arial MT"/>
                <a:cs typeface="Arial MT"/>
              </a:rPr>
              <a:t>collection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30" dirty="0">
                <a:solidFill>
                  <a:srgbClr val="FFFFFF"/>
                </a:solidFill>
                <a:latin typeface="Arial MT"/>
                <a:cs typeface="Arial MT"/>
              </a:rPr>
              <a:t>methods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2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25" dirty="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2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75" dirty="0">
                <a:solidFill>
                  <a:srgbClr val="FFFFFF"/>
                </a:solidFill>
                <a:latin typeface="Arial MT"/>
                <a:cs typeface="Arial MT"/>
              </a:rPr>
              <a:t>get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45" dirty="0">
                <a:solidFill>
                  <a:srgbClr val="FFFFFF"/>
                </a:solidFill>
                <a:latin typeface="Arial MT"/>
                <a:cs typeface="Arial MT"/>
              </a:rPr>
              <a:t>complete </a:t>
            </a:r>
            <a:r>
              <a:rPr sz="3450" spc="130" dirty="0">
                <a:solidFill>
                  <a:srgbClr val="FFFFFF"/>
                </a:solidFill>
                <a:latin typeface="Arial MT"/>
                <a:cs typeface="Arial MT"/>
              </a:rPr>
              <a:t>information</a:t>
            </a:r>
            <a:r>
              <a:rPr sz="34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35" dirty="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34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80" dirty="0">
                <a:solidFill>
                  <a:srgbClr val="FFFFFF"/>
                </a:solidFill>
                <a:latin typeface="Arial MT"/>
                <a:cs typeface="Arial MT"/>
              </a:rPr>
              <a:t>launches</a:t>
            </a:r>
            <a:r>
              <a:rPr sz="34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4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4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4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25" dirty="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sz="34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20" dirty="0">
                <a:solidFill>
                  <a:srgbClr val="FFFFFF"/>
                </a:solidFill>
                <a:latin typeface="Arial MT"/>
                <a:cs typeface="Arial MT"/>
              </a:rPr>
              <a:t>detailed</a:t>
            </a:r>
            <a:r>
              <a:rPr sz="34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analysis.</a:t>
            </a:r>
            <a:endParaRPr sz="3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3450">
              <a:latin typeface="Arial MT"/>
              <a:cs typeface="Arial MT"/>
            </a:endParaRPr>
          </a:p>
          <a:p>
            <a:pPr marL="766445">
              <a:lnSpc>
                <a:spcPct val="100000"/>
              </a:lnSpc>
            </a:pPr>
            <a:r>
              <a:rPr sz="3850" spc="80" dirty="0">
                <a:solidFill>
                  <a:srgbClr val="D5D5D5"/>
                </a:solidFill>
                <a:latin typeface="Arial MT"/>
                <a:cs typeface="Arial MT"/>
              </a:rPr>
              <a:t>Data</a:t>
            </a:r>
            <a:r>
              <a:rPr sz="3850" spc="-14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170" dirty="0">
                <a:solidFill>
                  <a:srgbClr val="D5D5D5"/>
                </a:solidFill>
                <a:latin typeface="Arial MT"/>
                <a:cs typeface="Arial MT"/>
              </a:rPr>
              <a:t>Columns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100" dirty="0">
                <a:solidFill>
                  <a:srgbClr val="D5D5D5"/>
                </a:solidFill>
                <a:latin typeface="Arial MT"/>
                <a:cs typeface="Arial MT"/>
              </a:rPr>
              <a:t>are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210" dirty="0">
                <a:solidFill>
                  <a:srgbClr val="D5D5D5"/>
                </a:solidFill>
                <a:latin typeface="Arial MT"/>
                <a:cs typeface="Arial MT"/>
              </a:rPr>
              <a:t>obtained</a:t>
            </a:r>
            <a:r>
              <a:rPr sz="3850" spc="-14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225" dirty="0">
                <a:solidFill>
                  <a:srgbClr val="D5D5D5"/>
                </a:solidFill>
                <a:latin typeface="Arial MT"/>
                <a:cs typeface="Arial MT"/>
              </a:rPr>
              <a:t>by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180" dirty="0">
                <a:solidFill>
                  <a:srgbClr val="D5D5D5"/>
                </a:solidFill>
                <a:latin typeface="Arial MT"/>
                <a:cs typeface="Arial MT"/>
              </a:rPr>
              <a:t>using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110" dirty="0">
                <a:solidFill>
                  <a:srgbClr val="D5D5D5"/>
                </a:solidFill>
                <a:latin typeface="Arial MT"/>
                <a:cs typeface="Arial MT"/>
              </a:rPr>
              <a:t>SpaceX</a:t>
            </a:r>
            <a:r>
              <a:rPr sz="3850" spc="-14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-229" dirty="0">
                <a:solidFill>
                  <a:srgbClr val="D5D5D5"/>
                </a:solidFill>
                <a:latin typeface="Arial MT"/>
                <a:cs typeface="Arial MT"/>
              </a:rPr>
              <a:t>REST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-20" dirty="0">
                <a:solidFill>
                  <a:srgbClr val="D5D5D5"/>
                </a:solidFill>
                <a:latin typeface="Arial MT"/>
                <a:cs typeface="Arial MT"/>
              </a:rPr>
              <a:t>API:</a:t>
            </a:r>
            <a:endParaRPr sz="3850">
              <a:latin typeface="Arial MT"/>
              <a:cs typeface="Arial MT"/>
            </a:endParaRPr>
          </a:p>
          <a:p>
            <a:pPr marL="1520190" marR="5080">
              <a:lnSpc>
                <a:spcPct val="109500"/>
              </a:lnSpc>
              <a:spcBef>
                <a:spcPts val="1739"/>
              </a:spcBef>
            </a:pPr>
            <a:r>
              <a:rPr sz="3450" spc="80" dirty="0">
                <a:solidFill>
                  <a:srgbClr val="FFFFFF"/>
                </a:solidFill>
                <a:latin typeface="Arial MT"/>
                <a:cs typeface="Arial MT"/>
              </a:rPr>
              <a:t>FlightNumber,</a:t>
            </a:r>
            <a:r>
              <a:rPr sz="345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Date,</a:t>
            </a:r>
            <a:r>
              <a:rPr sz="345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BoosterVersion,</a:t>
            </a:r>
            <a:r>
              <a:rPr sz="345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PayloadMass,</a:t>
            </a:r>
            <a:r>
              <a:rPr sz="345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40" dirty="0">
                <a:solidFill>
                  <a:srgbClr val="FFFFFF"/>
                </a:solidFill>
                <a:latin typeface="Arial MT"/>
                <a:cs typeface="Arial MT"/>
              </a:rPr>
              <a:t>Orbit,</a:t>
            </a:r>
            <a:r>
              <a:rPr sz="3450" spc="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50" dirty="0">
                <a:solidFill>
                  <a:srgbClr val="FFFFFF"/>
                </a:solidFill>
                <a:latin typeface="Arial MT"/>
                <a:cs typeface="Arial MT"/>
              </a:rPr>
              <a:t>LaunchSite, </a:t>
            </a:r>
            <a:r>
              <a:rPr sz="3450" spc="135" dirty="0">
                <a:solidFill>
                  <a:srgbClr val="FFFFFF"/>
                </a:solidFill>
                <a:latin typeface="Arial MT"/>
                <a:cs typeface="Arial MT"/>
              </a:rPr>
              <a:t>Outcome,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65" dirty="0">
                <a:solidFill>
                  <a:srgbClr val="FFFFFF"/>
                </a:solidFill>
                <a:latin typeface="Arial MT"/>
                <a:cs typeface="Arial MT"/>
              </a:rPr>
              <a:t>Flights,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 GridFins,</a:t>
            </a:r>
            <a:r>
              <a:rPr sz="34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Reused, Legs, </a:t>
            </a:r>
            <a:r>
              <a:rPr sz="3450" spc="55" dirty="0">
                <a:solidFill>
                  <a:srgbClr val="FFFFFF"/>
                </a:solidFill>
                <a:latin typeface="Arial MT"/>
                <a:cs typeface="Arial MT"/>
              </a:rPr>
              <a:t>LandingPad,</a:t>
            </a:r>
            <a:r>
              <a:rPr sz="34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60" dirty="0">
                <a:solidFill>
                  <a:srgbClr val="FFFFFF"/>
                </a:solidFill>
                <a:latin typeface="Arial MT"/>
                <a:cs typeface="Arial MT"/>
              </a:rPr>
              <a:t>Block,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FFFFFF"/>
                </a:solidFill>
                <a:latin typeface="Arial MT"/>
                <a:cs typeface="Arial MT"/>
              </a:rPr>
              <a:t>ReusedCount,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Serial,</a:t>
            </a:r>
            <a:r>
              <a:rPr sz="345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14" dirty="0">
                <a:solidFill>
                  <a:srgbClr val="FFFFFF"/>
                </a:solidFill>
                <a:latin typeface="Arial MT"/>
                <a:cs typeface="Arial MT"/>
              </a:rPr>
              <a:t>Longitude,</a:t>
            </a:r>
            <a:r>
              <a:rPr sz="345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95" dirty="0">
                <a:solidFill>
                  <a:srgbClr val="FFFFFF"/>
                </a:solidFill>
                <a:latin typeface="Arial MT"/>
                <a:cs typeface="Arial MT"/>
              </a:rPr>
              <a:t>Latitude</a:t>
            </a:r>
            <a:endParaRPr sz="3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3450">
              <a:latin typeface="Arial MT"/>
              <a:cs typeface="Arial MT"/>
            </a:endParaRPr>
          </a:p>
          <a:p>
            <a:pPr marL="766445">
              <a:lnSpc>
                <a:spcPct val="100000"/>
              </a:lnSpc>
            </a:pPr>
            <a:r>
              <a:rPr sz="3850" spc="80" dirty="0">
                <a:solidFill>
                  <a:srgbClr val="D5D5D5"/>
                </a:solidFill>
                <a:latin typeface="Arial MT"/>
                <a:cs typeface="Arial MT"/>
              </a:rPr>
              <a:t>Data</a:t>
            </a:r>
            <a:r>
              <a:rPr sz="3850" spc="-14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170" dirty="0">
                <a:solidFill>
                  <a:srgbClr val="D5D5D5"/>
                </a:solidFill>
                <a:latin typeface="Arial MT"/>
                <a:cs typeface="Arial MT"/>
              </a:rPr>
              <a:t>Columns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100" dirty="0">
                <a:solidFill>
                  <a:srgbClr val="D5D5D5"/>
                </a:solidFill>
                <a:latin typeface="Arial MT"/>
                <a:cs typeface="Arial MT"/>
              </a:rPr>
              <a:t>are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210" dirty="0">
                <a:solidFill>
                  <a:srgbClr val="D5D5D5"/>
                </a:solidFill>
                <a:latin typeface="Arial MT"/>
                <a:cs typeface="Arial MT"/>
              </a:rPr>
              <a:t>obtained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225" dirty="0">
                <a:solidFill>
                  <a:srgbClr val="D5D5D5"/>
                </a:solidFill>
                <a:latin typeface="Arial MT"/>
                <a:cs typeface="Arial MT"/>
              </a:rPr>
              <a:t>by</a:t>
            </a:r>
            <a:r>
              <a:rPr sz="3850" spc="-14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180" dirty="0">
                <a:solidFill>
                  <a:srgbClr val="D5D5D5"/>
                </a:solidFill>
                <a:latin typeface="Arial MT"/>
                <a:cs typeface="Arial MT"/>
              </a:rPr>
              <a:t>using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155" dirty="0">
                <a:solidFill>
                  <a:srgbClr val="D5D5D5"/>
                </a:solidFill>
                <a:latin typeface="Arial MT"/>
                <a:cs typeface="Arial MT"/>
              </a:rPr>
              <a:t>Wikipedia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90" dirty="0">
                <a:solidFill>
                  <a:srgbClr val="D5D5D5"/>
                </a:solidFill>
                <a:latin typeface="Arial MT"/>
                <a:cs typeface="Arial MT"/>
              </a:rPr>
              <a:t>Web</a:t>
            </a:r>
            <a:r>
              <a:rPr sz="385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850" spc="145" dirty="0">
                <a:solidFill>
                  <a:srgbClr val="D5D5D5"/>
                </a:solidFill>
                <a:latin typeface="Arial MT"/>
                <a:cs typeface="Arial MT"/>
              </a:rPr>
              <a:t>Scraping:</a:t>
            </a:r>
            <a:endParaRPr sz="3850">
              <a:latin typeface="Arial MT"/>
              <a:cs typeface="Arial MT"/>
            </a:endParaRPr>
          </a:p>
          <a:p>
            <a:pPr marL="1520190" marR="1050925">
              <a:lnSpc>
                <a:spcPct val="109500"/>
              </a:lnSpc>
              <a:spcBef>
                <a:spcPts val="1739"/>
              </a:spcBef>
            </a:pPr>
            <a:r>
              <a:rPr sz="3450" spc="95" dirty="0">
                <a:solidFill>
                  <a:srgbClr val="FFFFFF"/>
                </a:solidFill>
                <a:latin typeface="Arial MT"/>
                <a:cs typeface="Arial MT"/>
              </a:rPr>
              <a:t>Flight</a:t>
            </a:r>
            <a:r>
              <a:rPr sz="34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No.,</a:t>
            </a:r>
            <a:r>
              <a:rPr sz="34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7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4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60" dirty="0">
                <a:solidFill>
                  <a:srgbClr val="FFFFFF"/>
                </a:solidFill>
                <a:latin typeface="Arial MT"/>
                <a:cs typeface="Arial MT"/>
              </a:rPr>
              <a:t>site,</a:t>
            </a:r>
            <a:r>
              <a:rPr sz="34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Payload,</a:t>
            </a:r>
            <a:r>
              <a:rPr sz="34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PayloadMass,</a:t>
            </a:r>
            <a:r>
              <a:rPr sz="34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40" dirty="0">
                <a:solidFill>
                  <a:srgbClr val="FFFFFF"/>
                </a:solidFill>
                <a:latin typeface="Arial MT"/>
                <a:cs typeface="Arial MT"/>
              </a:rPr>
              <a:t>Orbit,</a:t>
            </a:r>
            <a:r>
              <a:rPr sz="34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65" dirty="0">
                <a:solidFill>
                  <a:srgbClr val="FFFFFF"/>
                </a:solidFill>
                <a:latin typeface="Arial MT"/>
                <a:cs typeface="Arial MT"/>
              </a:rPr>
              <a:t>Customer,</a:t>
            </a:r>
            <a:r>
              <a:rPr sz="34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65" dirty="0">
                <a:solidFill>
                  <a:srgbClr val="FFFFFF"/>
                </a:solidFill>
                <a:latin typeface="Arial MT"/>
                <a:cs typeface="Arial MT"/>
              </a:rPr>
              <a:t>Launch </a:t>
            </a:r>
            <a:r>
              <a:rPr sz="3450" spc="145" dirty="0">
                <a:solidFill>
                  <a:srgbClr val="FFFFFF"/>
                </a:solidFill>
                <a:latin typeface="Arial MT"/>
                <a:cs typeface="Arial MT"/>
              </a:rPr>
              <a:t>outcome,</a:t>
            </a:r>
            <a:r>
              <a:rPr sz="3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Version</a:t>
            </a:r>
            <a:r>
              <a:rPr sz="3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Booster,</a:t>
            </a:r>
            <a:r>
              <a:rPr sz="3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65" dirty="0">
                <a:solidFill>
                  <a:srgbClr val="FFFFFF"/>
                </a:solidFill>
                <a:latin typeface="Arial MT"/>
                <a:cs typeface="Arial MT"/>
              </a:rPr>
              <a:t>Booster</a:t>
            </a:r>
            <a:r>
              <a:rPr sz="3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20" dirty="0">
                <a:solidFill>
                  <a:srgbClr val="FFFFFF"/>
                </a:solidFill>
                <a:latin typeface="Arial MT"/>
                <a:cs typeface="Arial MT"/>
              </a:rPr>
              <a:t>landing,</a:t>
            </a:r>
            <a:r>
              <a:rPr sz="3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Date,</a:t>
            </a:r>
            <a:r>
              <a:rPr sz="3450" spc="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5195" y="1055885"/>
            <a:ext cx="11336577" cy="82502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75793" y="225692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198950" y="0"/>
                </a:moveTo>
                <a:lnTo>
                  <a:pt x="469733" y="0"/>
                </a:lnTo>
                <a:lnTo>
                  <a:pt x="404775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7" y="15320"/>
                </a:lnTo>
                <a:lnTo>
                  <a:pt x="180489" y="46497"/>
                </a:lnTo>
                <a:lnTo>
                  <a:pt x="139935" y="72398"/>
                </a:lnTo>
                <a:lnTo>
                  <a:pt x="103724" y="103725"/>
                </a:lnTo>
                <a:lnTo>
                  <a:pt x="72398" y="139936"/>
                </a:lnTo>
                <a:lnTo>
                  <a:pt x="46497" y="180489"/>
                </a:lnTo>
                <a:lnTo>
                  <a:pt x="26563" y="224844"/>
                </a:lnTo>
                <a:lnTo>
                  <a:pt x="7783" y="300604"/>
                </a:lnTo>
                <a:lnTo>
                  <a:pt x="3212" y="348694"/>
                </a:lnTo>
                <a:lnTo>
                  <a:pt x="864" y="404775"/>
                </a:lnTo>
                <a:lnTo>
                  <a:pt x="0" y="469733"/>
                </a:lnTo>
                <a:lnTo>
                  <a:pt x="0" y="2771566"/>
                </a:lnTo>
                <a:lnTo>
                  <a:pt x="864" y="2836525"/>
                </a:lnTo>
                <a:lnTo>
                  <a:pt x="3212" y="2892606"/>
                </a:lnTo>
                <a:lnTo>
                  <a:pt x="7783" y="2940696"/>
                </a:lnTo>
                <a:lnTo>
                  <a:pt x="15320" y="2981684"/>
                </a:lnTo>
                <a:lnTo>
                  <a:pt x="46497" y="3060811"/>
                </a:lnTo>
                <a:lnTo>
                  <a:pt x="72398" y="3101365"/>
                </a:lnTo>
                <a:lnTo>
                  <a:pt x="103724" y="3137575"/>
                </a:lnTo>
                <a:lnTo>
                  <a:pt x="139935" y="3168902"/>
                </a:lnTo>
                <a:lnTo>
                  <a:pt x="180489" y="3194803"/>
                </a:lnTo>
                <a:lnTo>
                  <a:pt x="224844" y="3214737"/>
                </a:lnTo>
                <a:lnTo>
                  <a:pt x="300604" y="3233517"/>
                </a:lnTo>
                <a:lnTo>
                  <a:pt x="348694" y="3238088"/>
                </a:lnTo>
                <a:lnTo>
                  <a:pt x="404775" y="3240436"/>
                </a:lnTo>
                <a:lnTo>
                  <a:pt x="469733" y="3241301"/>
                </a:lnTo>
                <a:lnTo>
                  <a:pt x="3198950" y="3241301"/>
                </a:lnTo>
                <a:lnTo>
                  <a:pt x="3263908" y="3240436"/>
                </a:lnTo>
                <a:lnTo>
                  <a:pt x="3319989" y="3238088"/>
                </a:lnTo>
                <a:lnTo>
                  <a:pt x="3368079" y="3233517"/>
                </a:lnTo>
                <a:lnTo>
                  <a:pt x="3409066" y="3225980"/>
                </a:lnTo>
                <a:lnTo>
                  <a:pt x="3488194" y="3194803"/>
                </a:lnTo>
                <a:lnTo>
                  <a:pt x="3528747" y="3168902"/>
                </a:lnTo>
                <a:lnTo>
                  <a:pt x="3564958" y="3137575"/>
                </a:lnTo>
                <a:lnTo>
                  <a:pt x="3596285" y="3101365"/>
                </a:lnTo>
                <a:lnTo>
                  <a:pt x="3622186" y="3060811"/>
                </a:lnTo>
                <a:lnTo>
                  <a:pt x="3642120" y="3016456"/>
                </a:lnTo>
                <a:lnTo>
                  <a:pt x="3660900" y="2940696"/>
                </a:lnTo>
                <a:lnTo>
                  <a:pt x="3665471" y="2892606"/>
                </a:lnTo>
                <a:lnTo>
                  <a:pt x="3667819" y="2836525"/>
                </a:lnTo>
                <a:lnTo>
                  <a:pt x="3668684" y="2771566"/>
                </a:lnTo>
                <a:lnTo>
                  <a:pt x="3668684" y="469733"/>
                </a:lnTo>
                <a:lnTo>
                  <a:pt x="3667819" y="404775"/>
                </a:lnTo>
                <a:lnTo>
                  <a:pt x="3665471" y="348694"/>
                </a:lnTo>
                <a:lnTo>
                  <a:pt x="3660900" y="300604"/>
                </a:lnTo>
                <a:lnTo>
                  <a:pt x="3653363" y="259617"/>
                </a:lnTo>
                <a:lnTo>
                  <a:pt x="3622186" y="180489"/>
                </a:lnTo>
                <a:lnTo>
                  <a:pt x="3596285" y="139936"/>
                </a:lnTo>
                <a:lnTo>
                  <a:pt x="3564958" y="103725"/>
                </a:lnTo>
                <a:lnTo>
                  <a:pt x="3528747" y="72398"/>
                </a:lnTo>
                <a:lnTo>
                  <a:pt x="3488194" y="46497"/>
                </a:lnTo>
                <a:lnTo>
                  <a:pt x="3443839" y="26563"/>
                </a:lnTo>
                <a:lnTo>
                  <a:pt x="3368079" y="7783"/>
                </a:lnTo>
                <a:lnTo>
                  <a:pt x="3319989" y="3212"/>
                </a:lnTo>
                <a:lnTo>
                  <a:pt x="3263908" y="864"/>
                </a:lnTo>
                <a:lnTo>
                  <a:pt x="319895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808798" y="2980022"/>
            <a:ext cx="2202815" cy="1784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0"/>
              </a:spcBef>
            </a:pPr>
            <a:r>
              <a:rPr sz="2600" spc="90" dirty="0">
                <a:latin typeface="Arial MT"/>
                <a:cs typeface="Arial MT"/>
              </a:rPr>
              <a:t>Requesting </a:t>
            </a:r>
            <a:r>
              <a:rPr sz="2600" spc="145" dirty="0">
                <a:latin typeface="Arial MT"/>
                <a:cs typeface="Arial MT"/>
              </a:rPr>
              <a:t>rocket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114" dirty="0">
                <a:latin typeface="Arial MT"/>
                <a:cs typeface="Arial MT"/>
              </a:rPr>
              <a:t>launch </a:t>
            </a:r>
            <a:r>
              <a:rPr sz="2600" spc="120" dirty="0">
                <a:latin typeface="Arial MT"/>
                <a:cs typeface="Arial MT"/>
              </a:rPr>
              <a:t>data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75" dirty="0">
                <a:latin typeface="Arial MT"/>
                <a:cs typeface="Arial MT"/>
              </a:rPr>
              <a:t>from </a:t>
            </a:r>
            <a:r>
              <a:rPr sz="2600" spc="90" dirty="0">
                <a:latin typeface="Arial MT"/>
                <a:cs typeface="Arial MT"/>
              </a:rPr>
              <a:t>SpaceX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API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32023" y="225691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235684" y="0"/>
                </a:moveTo>
                <a:lnTo>
                  <a:pt x="433018" y="0"/>
                </a:lnTo>
                <a:lnTo>
                  <a:pt x="373137" y="797"/>
                </a:lnTo>
                <a:lnTo>
                  <a:pt x="321439" y="2961"/>
                </a:lnTo>
                <a:lnTo>
                  <a:pt x="277108" y="7175"/>
                </a:lnTo>
                <a:lnTo>
                  <a:pt x="239324" y="14122"/>
                </a:lnTo>
                <a:lnTo>
                  <a:pt x="158608" y="47214"/>
                </a:lnTo>
                <a:lnTo>
                  <a:pt x="115137" y="77718"/>
                </a:lnTo>
                <a:lnTo>
                  <a:pt x="77718" y="115137"/>
                </a:lnTo>
                <a:lnTo>
                  <a:pt x="47214" y="158609"/>
                </a:lnTo>
                <a:lnTo>
                  <a:pt x="24487" y="207270"/>
                </a:lnTo>
                <a:lnTo>
                  <a:pt x="7175" y="277108"/>
                </a:lnTo>
                <a:lnTo>
                  <a:pt x="2961" y="321440"/>
                </a:lnTo>
                <a:lnTo>
                  <a:pt x="797" y="373137"/>
                </a:lnTo>
                <a:lnTo>
                  <a:pt x="0" y="433018"/>
                </a:lnTo>
                <a:lnTo>
                  <a:pt x="0" y="2808301"/>
                </a:lnTo>
                <a:lnTo>
                  <a:pt x="797" y="2868183"/>
                </a:lnTo>
                <a:lnTo>
                  <a:pt x="2961" y="2919880"/>
                </a:lnTo>
                <a:lnTo>
                  <a:pt x="7175" y="2964211"/>
                </a:lnTo>
                <a:lnTo>
                  <a:pt x="14122" y="3001995"/>
                </a:lnTo>
                <a:lnTo>
                  <a:pt x="47214" y="3082711"/>
                </a:lnTo>
                <a:lnTo>
                  <a:pt x="77718" y="3126182"/>
                </a:lnTo>
                <a:lnTo>
                  <a:pt x="115137" y="3163601"/>
                </a:lnTo>
                <a:lnTo>
                  <a:pt x="158608" y="3194106"/>
                </a:lnTo>
                <a:lnTo>
                  <a:pt x="207269" y="3216833"/>
                </a:lnTo>
                <a:lnTo>
                  <a:pt x="277108" y="3234145"/>
                </a:lnTo>
                <a:lnTo>
                  <a:pt x="321439" y="3238359"/>
                </a:lnTo>
                <a:lnTo>
                  <a:pt x="373137" y="3240523"/>
                </a:lnTo>
                <a:lnTo>
                  <a:pt x="433018" y="3241320"/>
                </a:lnTo>
                <a:lnTo>
                  <a:pt x="3235684" y="3241320"/>
                </a:lnTo>
                <a:lnTo>
                  <a:pt x="3295566" y="3240523"/>
                </a:lnTo>
                <a:lnTo>
                  <a:pt x="3347263" y="3238359"/>
                </a:lnTo>
                <a:lnTo>
                  <a:pt x="3391594" y="3234145"/>
                </a:lnTo>
                <a:lnTo>
                  <a:pt x="3429378" y="3227197"/>
                </a:lnTo>
                <a:lnTo>
                  <a:pt x="3510094" y="3194106"/>
                </a:lnTo>
                <a:lnTo>
                  <a:pt x="3553565" y="3163601"/>
                </a:lnTo>
                <a:lnTo>
                  <a:pt x="3590984" y="3126182"/>
                </a:lnTo>
                <a:lnTo>
                  <a:pt x="3621488" y="3082711"/>
                </a:lnTo>
                <a:lnTo>
                  <a:pt x="3644215" y="3034050"/>
                </a:lnTo>
                <a:lnTo>
                  <a:pt x="3661528" y="2964211"/>
                </a:lnTo>
                <a:lnTo>
                  <a:pt x="3665742" y="2919880"/>
                </a:lnTo>
                <a:lnTo>
                  <a:pt x="3667906" y="2868183"/>
                </a:lnTo>
                <a:lnTo>
                  <a:pt x="3668703" y="2808301"/>
                </a:lnTo>
                <a:lnTo>
                  <a:pt x="3668703" y="433018"/>
                </a:lnTo>
                <a:lnTo>
                  <a:pt x="3667906" y="373137"/>
                </a:lnTo>
                <a:lnTo>
                  <a:pt x="3665742" y="321440"/>
                </a:lnTo>
                <a:lnTo>
                  <a:pt x="3661528" y="277108"/>
                </a:lnTo>
                <a:lnTo>
                  <a:pt x="3654580" y="239325"/>
                </a:lnTo>
                <a:lnTo>
                  <a:pt x="3621488" y="158609"/>
                </a:lnTo>
                <a:lnTo>
                  <a:pt x="3590984" y="115137"/>
                </a:lnTo>
                <a:lnTo>
                  <a:pt x="3553565" y="77718"/>
                </a:lnTo>
                <a:lnTo>
                  <a:pt x="3510094" y="47214"/>
                </a:lnTo>
                <a:lnTo>
                  <a:pt x="3461433" y="24487"/>
                </a:lnTo>
                <a:lnTo>
                  <a:pt x="3391594" y="7175"/>
                </a:lnTo>
                <a:lnTo>
                  <a:pt x="3347263" y="2961"/>
                </a:lnTo>
                <a:lnTo>
                  <a:pt x="3295566" y="797"/>
                </a:lnTo>
                <a:lnTo>
                  <a:pt x="3235684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44450" y="2553865"/>
            <a:ext cx="3444240" cy="26257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00025" marR="191770" indent="-635" algn="ctr">
              <a:lnSpc>
                <a:spcPct val="111500"/>
              </a:lnSpc>
              <a:spcBef>
                <a:spcPts val="75"/>
              </a:spcBef>
            </a:pPr>
            <a:r>
              <a:rPr sz="2600" spc="135" dirty="0">
                <a:latin typeface="Arial MT"/>
                <a:cs typeface="Arial MT"/>
              </a:rPr>
              <a:t>Decoding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130" dirty="0">
                <a:latin typeface="Arial MT"/>
                <a:cs typeface="Arial MT"/>
              </a:rPr>
              <a:t>the </a:t>
            </a:r>
            <a:r>
              <a:rPr sz="2600" spc="95" dirty="0">
                <a:latin typeface="Arial MT"/>
                <a:cs typeface="Arial MT"/>
              </a:rPr>
              <a:t>response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160" dirty="0">
                <a:latin typeface="Arial MT"/>
                <a:cs typeface="Arial MT"/>
              </a:rPr>
              <a:t>content </a:t>
            </a:r>
            <a:r>
              <a:rPr sz="2600" spc="120" dirty="0">
                <a:latin typeface="Arial MT"/>
                <a:cs typeface="Arial MT"/>
              </a:rPr>
              <a:t>using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dirty="0">
                <a:latin typeface="Courier New"/>
                <a:cs typeface="Courier New"/>
              </a:rPr>
              <a:t>.json()</a:t>
            </a:r>
            <a:r>
              <a:rPr sz="2600" spc="-869" dirty="0">
                <a:latin typeface="Courier New"/>
                <a:cs typeface="Courier New"/>
              </a:rPr>
              <a:t> </a:t>
            </a:r>
            <a:r>
              <a:rPr sz="2600" spc="90" dirty="0">
                <a:latin typeface="Arial MT"/>
                <a:cs typeface="Arial MT"/>
              </a:rPr>
              <a:t>and </a:t>
            </a:r>
            <a:r>
              <a:rPr sz="2600" spc="170" dirty="0">
                <a:latin typeface="Arial MT"/>
                <a:cs typeface="Arial MT"/>
              </a:rPr>
              <a:t>turning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85" dirty="0">
                <a:latin typeface="Arial MT"/>
                <a:cs typeface="Arial MT"/>
              </a:rPr>
              <a:t>it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65" dirty="0">
                <a:latin typeface="Arial MT"/>
                <a:cs typeface="Arial MT"/>
              </a:rPr>
              <a:t>into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a </a:t>
            </a:r>
            <a:r>
              <a:rPr sz="2600" spc="130" dirty="0">
                <a:latin typeface="Arial MT"/>
                <a:cs typeface="Arial MT"/>
              </a:rPr>
              <a:t>dataframe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10" dirty="0">
                <a:latin typeface="Arial MT"/>
                <a:cs typeface="Arial MT"/>
              </a:rPr>
              <a:t>using</a:t>
            </a:r>
            <a:endParaRPr sz="2600">
              <a:latin typeface="Arial MT"/>
              <a:cs typeface="Arial MT"/>
            </a:endParaRPr>
          </a:p>
          <a:p>
            <a:pPr algn="ctr">
              <a:lnSpc>
                <a:spcPts val="3090"/>
              </a:lnSpc>
            </a:pPr>
            <a:r>
              <a:rPr sz="2600" spc="-10" dirty="0">
                <a:latin typeface="Courier New"/>
                <a:cs typeface="Courier New"/>
              </a:rPr>
              <a:t>.json_normalize()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588263" y="225691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235688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9" y="2961"/>
                </a:lnTo>
                <a:lnTo>
                  <a:pt x="277107" y="7175"/>
                </a:lnTo>
                <a:lnTo>
                  <a:pt x="239324" y="14122"/>
                </a:lnTo>
                <a:lnTo>
                  <a:pt x="158609" y="47214"/>
                </a:lnTo>
                <a:lnTo>
                  <a:pt x="115136" y="77718"/>
                </a:lnTo>
                <a:lnTo>
                  <a:pt x="77716" y="115137"/>
                </a:lnTo>
                <a:lnTo>
                  <a:pt x="47210" y="158609"/>
                </a:lnTo>
                <a:lnTo>
                  <a:pt x="24482" y="207270"/>
                </a:lnTo>
                <a:lnTo>
                  <a:pt x="7173" y="277108"/>
                </a:lnTo>
                <a:lnTo>
                  <a:pt x="2960" y="321440"/>
                </a:lnTo>
                <a:lnTo>
                  <a:pt x="797" y="373137"/>
                </a:lnTo>
                <a:lnTo>
                  <a:pt x="0" y="433018"/>
                </a:lnTo>
                <a:lnTo>
                  <a:pt x="0" y="2808301"/>
                </a:lnTo>
                <a:lnTo>
                  <a:pt x="797" y="2868183"/>
                </a:lnTo>
                <a:lnTo>
                  <a:pt x="2960" y="2919880"/>
                </a:lnTo>
                <a:lnTo>
                  <a:pt x="7173" y="2964211"/>
                </a:lnTo>
                <a:lnTo>
                  <a:pt x="14119" y="3001995"/>
                </a:lnTo>
                <a:lnTo>
                  <a:pt x="47210" y="3082711"/>
                </a:lnTo>
                <a:lnTo>
                  <a:pt x="77716" y="3126182"/>
                </a:lnTo>
                <a:lnTo>
                  <a:pt x="115136" y="3163601"/>
                </a:lnTo>
                <a:lnTo>
                  <a:pt x="158609" y="3194106"/>
                </a:lnTo>
                <a:lnTo>
                  <a:pt x="207272" y="3216833"/>
                </a:lnTo>
                <a:lnTo>
                  <a:pt x="277107" y="3234145"/>
                </a:lnTo>
                <a:lnTo>
                  <a:pt x="321439" y="3238359"/>
                </a:lnTo>
                <a:lnTo>
                  <a:pt x="373136" y="3240523"/>
                </a:lnTo>
                <a:lnTo>
                  <a:pt x="433018" y="3241320"/>
                </a:lnTo>
                <a:lnTo>
                  <a:pt x="3235688" y="3241320"/>
                </a:lnTo>
                <a:lnTo>
                  <a:pt x="3295568" y="3240523"/>
                </a:lnTo>
                <a:lnTo>
                  <a:pt x="3347264" y="3238359"/>
                </a:lnTo>
                <a:lnTo>
                  <a:pt x="3391595" y="3234145"/>
                </a:lnTo>
                <a:lnTo>
                  <a:pt x="3429379" y="3227197"/>
                </a:lnTo>
                <a:lnTo>
                  <a:pt x="3510096" y="3194106"/>
                </a:lnTo>
                <a:lnTo>
                  <a:pt x="3553567" y="3163601"/>
                </a:lnTo>
                <a:lnTo>
                  <a:pt x="3590984" y="3126182"/>
                </a:lnTo>
                <a:lnTo>
                  <a:pt x="3621487" y="3082711"/>
                </a:lnTo>
                <a:lnTo>
                  <a:pt x="3644214" y="3034050"/>
                </a:lnTo>
                <a:lnTo>
                  <a:pt x="3661530" y="2964211"/>
                </a:lnTo>
                <a:lnTo>
                  <a:pt x="3665745" y="2919880"/>
                </a:lnTo>
                <a:lnTo>
                  <a:pt x="3667910" y="2868183"/>
                </a:lnTo>
                <a:lnTo>
                  <a:pt x="3668707" y="2808301"/>
                </a:lnTo>
                <a:lnTo>
                  <a:pt x="3668707" y="433018"/>
                </a:lnTo>
                <a:lnTo>
                  <a:pt x="3667910" y="373137"/>
                </a:lnTo>
                <a:lnTo>
                  <a:pt x="3665745" y="321440"/>
                </a:lnTo>
                <a:lnTo>
                  <a:pt x="3661530" y="277108"/>
                </a:lnTo>
                <a:lnTo>
                  <a:pt x="3654581" y="239325"/>
                </a:lnTo>
                <a:lnTo>
                  <a:pt x="3621487" y="158609"/>
                </a:lnTo>
                <a:lnTo>
                  <a:pt x="3590984" y="115137"/>
                </a:lnTo>
                <a:lnTo>
                  <a:pt x="3553567" y="77718"/>
                </a:lnTo>
                <a:lnTo>
                  <a:pt x="3510096" y="47214"/>
                </a:lnTo>
                <a:lnTo>
                  <a:pt x="3461435" y="24487"/>
                </a:lnTo>
                <a:lnTo>
                  <a:pt x="3391595" y="7175"/>
                </a:lnTo>
                <a:lnTo>
                  <a:pt x="3347264" y="2961"/>
                </a:lnTo>
                <a:lnTo>
                  <a:pt x="3295568" y="797"/>
                </a:lnTo>
                <a:lnTo>
                  <a:pt x="323568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857440" y="2535336"/>
            <a:ext cx="3130550" cy="2664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00" dirty="0">
                <a:latin typeface="Arial MT"/>
                <a:cs typeface="Arial MT"/>
              </a:rPr>
              <a:t>Requesting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120" dirty="0">
                <a:latin typeface="Arial MT"/>
                <a:cs typeface="Arial MT"/>
              </a:rPr>
              <a:t>needed </a:t>
            </a:r>
            <a:r>
              <a:rPr sz="2600" spc="155" dirty="0">
                <a:latin typeface="Arial MT"/>
                <a:cs typeface="Arial MT"/>
              </a:rPr>
              <a:t>information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45" dirty="0">
                <a:latin typeface="Arial MT"/>
                <a:cs typeface="Arial MT"/>
              </a:rPr>
              <a:t>about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00" dirty="0">
                <a:latin typeface="Arial MT"/>
                <a:cs typeface="Arial MT"/>
              </a:rPr>
              <a:t>launches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175" dirty="0">
                <a:latin typeface="Arial MT"/>
                <a:cs typeface="Arial MT"/>
              </a:rPr>
              <a:t>from </a:t>
            </a:r>
            <a:r>
              <a:rPr sz="2600" spc="90" dirty="0">
                <a:latin typeface="Arial MT"/>
                <a:cs typeface="Arial MT"/>
              </a:rPr>
              <a:t>SpaceX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API</a:t>
            </a:r>
            <a:endParaRPr sz="2600">
              <a:latin typeface="Arial MT"/>
              <a:cs typeface="Arial MT"/>
            </a:endParaRPr>
          </a:p>
          <a:p>
            <a:pPr marL="172085" marR="164465" algn="ctr">
              <a:lnSpc>
                <a:spcPct val="111000"/>
              </a:lnSpc>
            </a:pPr>
            <a:r>
              <a:rPr sz="2600" spc="165" dirty="0">
                <a:latin typeface="Arial MT"/>
                <a:cs typeface="Arial MT"/>
              </a:rPr>
              <a:t>by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45" dirty="0">
                <a:latin typeface="Arial MT"/>
                <a:cs typeface="Arial MT"/>
              </a:rPr>
              <a:t>applying </a:t>
            </a:r>
            <a:r>
              <a:rPr sz="2600" spc="165" dirty="0">
                <a:latin typeface="Arial MT"/>
                <a:cs typeface="Arial MT"/>
              </a:rPr>
              <a:t>custom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40" dirty="0">
                <a:latin typeface="Arial MT"/>
                <a:cs typeface="Arial MT"/>
              </a:rPr>
              <a:t>functions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344505" y="225691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235678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7" y="2961"/>
                </a:lnTo>
                <a:lnTo>
                  <a:pt x="277104" y="7175"/>
                </a:lnTo>
                <a:lnTo>
                  <a:pt x="239318" y="14122"/>
                </a:lnTo>
                <a:lnTo>
                  <a:pt x="158604" y="47214"/>
                </a:lnTo>
                <a:lnTo>
                  <a:pt x="115134" y="77718"/>
                </a:lnTo>
                <a:lnTo>
                  <a:pt x="77715" y="115137"/>
                </a:lnTo>
                <a:lnTo>
                  <a:pt x="47210" y="158609"/>
                </a:lnTo>
                <a:lnTo>
                  <a:pt x="24482" y="207270"/>
                </a:lnTo>
                <a:lnTo>
                  <a:pt x="7173" y="277108"/>
                </a:lnTo>
                <a:lnTo>
                  <a:pt x="2960" y="321440"/>
                </a:lnTo>
                <a:lnTo>
                  <a:pt x="797" y="373137"/>
                </a:lnTo>
                <a:lnTo>
                  <a:pt x="0" y="433018"/>
                </a:lnTo>
                <a:lnTo>
                  <a:pt x="0" y="2808301"/>
                </a:lnTo>
                <a:lnTo>
                  <a:pt x="797" y="2868183"/>
                </a:lnTo>
                <a:lnTo>
                  <a:pt x="2960" y="2919880"/>
                </a:lnTo>
                <a:lnTo>
                  <a:pt x="7173" y="2964211"/>
                </a:lnTo>
                <a:lnTo>
                  <a:pt x="14119" y="3001995"/>
                </a:lnTo>
                <a:lnTo>
                  <a:pt x="47210" y="3082711"/>
                </a:lnTo>
                <a:lnTo>
                  <a:pt x="77715" y="3126182"/>
                </a:lnTo>
                <a:lnTo>
                  <a:pt x="115134" y="3163601"/>
                </a:lnTo>
                <a:lnTo>
                  <a:pt x="158604" y="3194106"/>
                </a:lnTo>
                <a:lnTo>
                  <a:pt x="207262" y="3216833"/>
                </a:lnTo>
                <a:lnTo>
                  <a:pt x="277104" y="3234145"/>
                </a:lnTo>
                <a:lnTo>
                  <a:pt x="321437" y="3238359"/>
                </a:lnTo>
                <a:lnTo>
                  <a:pt x="373136" y="3240523"/>
                </a:lnTo>
                <a:lnTo>
                  <a:pt x="433018" y="3241320"/>
                </a:lnTo>
                <a:lnTo>
                  <a:pt x="3235678" y="3241320"/>
                </a:lnTo>
                <a:lnTo>
                  <a:pt x="3295560" y="3240523"/>
                </a:lnTo>
                <a:lnTo>
                  <a:pt x="3347259" y="3238359"/>
                </a:lnTo>
                <a:lnTo>
                  <a:pt x="3391592" y="3234145"/>
                </a:lnTo>
                <a:lnTo>
                  <a:pt x="3429378" y="3227197"/>
                </a:lnTo>
                <a:lnTo>
                  <a:pt x="3510092" y="3194106"/>
                </a:lnTo>
                <a:lnTo>
                  <a:pt x="3553562" y="3163601"/>
                </a:lnTo>
                <a:lnTo>
                  <a:pt x="3590981" y="3126182"/>
                </a:lnTo>
                <a:lnTo>
                  <a:pt x="3621486" y="3082711"/>
                </a:lnTo>
                <a:lnTo>
                  <a:pt x="3644214" y="3034050"/>
                </a:lnTo>
                <a:lnTo>
                  <a:pt x="3661523" y="2964211"/>
                </a:lnTo>
                <a:lnTo>
                  <a:pt x="3665736" y="2919880"/>
                </a:lnTo>
                <a:lnTo>
                  <a:pt x="3667900" y="2868183"/>
                </a:lnTo>
                <a:lnTo>
                  <a:pt x="3668697" y="2808301"/>
                </a:lnTo>
                <a:lnTo>
                  <a:pt x="3668697" y="433018"/>
                </a:lnTo>
                <a:lnTo>
                  <a:pt x="3667900" y="373137"/>
                </a:lnTo>
                <a:lnTo>
                  <a:pt x="3665736" y="321440"/>
                </a:lnTo>
                <a:lnTo>
                  <a:pt x="3661523" y="277108"/>
                </a:lnTo>
                <a:lnTo>
                  <a:pt x="3654577" y="239325"/>
                </a:lnTo>
                <a:lnTo>
                  <a:pt x="3621486" y="158609"/>
                </a:lnTo>
                <a:lnTo>
                  <a:pt x="3590981" y="115137"/>
                </a:lnTo>
                <a:lnTo>
                  <a:pt x="3553562" y="77718"/>
                </a:lnTo>
                <a:lnTo>
                  <a:pt x="3510092" y="47214"/>
                </a:lnTo>
                <a:lnTo>
                  <a:pt x="3461435" y="24487"/>
                </a:lnTo>
                <a:lnTo>
                  <a:pt x="3391592" y="7175"/>
                </a:lnTo>
                <a:lnTo>
                  <a:pt x="3347259" y="2961"/>
                </a:lnTo>
                <a:lnTo>
                  <a:pt x="3295560" y="797"/>
                </a:lnTo>
                <a:lnTo>
                  <a:pt x="323567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719491" y="3202365"/>
            <a:ext cx="2919095" cy="1344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4610" marR="5080" indent="-42545" algn="just">
              <a:lnSpc>
                <a:spcPct val="111000"/>
              </a:lnSpc>
              <a:spcBef>
                <a:spcPts val="90"/>
              </a:spcBef>
            </a:pPr>
            <a:r>
              <a:rPr sz="2600" spc="150" dirty="0">
                <a:latin typeface="Arial MT"/>
                <a:cs typeface="Arial MT"/>
              </a:rPr>
              <a:t>Constructing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100" dirty="0">
                <a:latin typeface="Arial MT"/>
                <a:cs typeface="Arial MT"/>
              </a:rPr>
              <a:t>data </a:t>
            </a:r>
            <a:r>
              <a:rPr sz="2600" spc="145" dirty="0">
                <a:latin typeface="Arial MT"/>
                <a:cs typeface="Arial MT"/>
              </a:rPr>
              <a:t>we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70" dirty="0">
                <a:latin typeface="Arial MT"/>
                <a:cs typeface="Arial MT"/>
              </a:rPr>
              <a:t>have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40" dirty="0">
                <a:latin typeface="Arial MT"/>
                <a:cs typeface="Arial MT"/>
              </a:rPr>
              <a:t>obtained </a:t>
            </a:r>
            <a:r>
              <a:rPr sz="2600" spc="165" dirty="0">
                <a:latin typeface="Arial MT"/>
                <a:cs typeface="Arial MT"/>
              </a:rPr>
              <a:t>into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50" dirty="0">
                <a:latin typeface="Arial MT"/>
                <a:cs typeface="Arial MT"/>
              </a:rPr>
              <a:t>dictionary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344514" y="6600305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198945" y="0"/>
                </a:moveTo>
                <a:lnTo>
                  <a:pt x="469732" y="0"/>
                </a:lnTo>
                <a:lnTo>
                  <a:pt x="404774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6" y="15320"/>
                </a:lnTo>
                <a:lnTo>
                  <a:pt x="180487" y="46497"/>
                </a:lnTo>
                <a:lnTo>
                  <a:pt x="139933" y="72398"/>
                </a:lnTo>
                <a:lnTo>
                  <a:pt x="103722" y="103724"/>
                </a:lnTo>
                <a:lnTo>
                  <a:pt x="72395" y="139935"/>
                </a:lnTo>
                <a:lnTo>
                  <a:pt x="46493" y="180488"/>
                </a:lnTo>
                <a:lnTo>
                  <a:pt x="26556" y="224843"/>
                </a:lnTo>
                <a:lnTo>
                  <a:pt x="7781" y="300604"/>
                </a:lnTo>
                <a:lnTo>
                  <a:pt x="3211" y="348694"/>
                </a:lnTo>
                <a:lnTo>
                  <a:pt x="864" y="404774"/>
                </a:lnTo>
                <a:lnTo>
                  <a:pt x="0" y="469733"/>
                </a:lnTo>
                <a:lnTo>
                  <a:pt x="0" y="2771566"/>
                </a:lnTo>
                <a:lnTo>
                  <a:pt x="864" y="2836525"/>
                </a:lnTo>
                <a:lnTo>
                  <a:pt x="3211" y="2892605"/>
                </a:lnTo>
                <a:lnTo>
                  <a:pt x="7781" y="2940695"/>
                </a:lnTo>
                <a:lnTo>
                  <a:pt x="15316" y="2981683"/>
                </a:lnTo>
                <a:lnTo>
                  <a:pt x="46493" y="3060811"/>
                </a:lnTo>
                <a:lnTo>
                  <a:pt x="72395" y="3101365"/>
                </a:lnTo>
                <a:lnTo>
                  <a:pt x="103722" y="3137575"/>
                </a:lnTo>
                <a:lnTo>
                  <a:pt x="139933" y="3168902"/>
                </a:lnTo>
                <a:lnTo>
                  <a:pt x="180487" y="3194803"/>
                </a:lnTo>
                <a:lnTo>
                  <a:pt x="224843" y="3214736"/>
                </a:lnTo>
                <a:lnTo>
                  <a:pt x="300604" y="3233516"/>
                </a:lnTo>
                <a:lnTo>
                  <a:pt x="348694" y="3238087"/>
                </a:lnTo>
                <a:lnTo>
                  <a:pt x="404774" y="3240435"/>
                </a:lnTo>
                <a:lnTo>
                  <a:pt x="469732" y="3241300"/>
                </a:lnTo>
                <a:lnTo>
                  <a:pt x="3198945" y="3241300"/>
                </a:lnTo>
                <a:lnTo>
                  <a:pt x="3263903" y="3240435"/>
                </a:lnTo>
                <a:lnTo>
                  <a:pt x="3319983" y="3238087"/>
                </a:lnTo>
                <a:lnTo>
                  <a:pt x="3368073" y="3233516"/>
                </a:lnTo>
                <a:lnTo>
                  <a:pt x="3409060" y="3225979"/>
                </a:lnTo>
                <a:lnTo>
                  <a:pt x="3488190" y="3194803"/>
                </a:lnTo>
                <a:lnTo>
                  <a:pt x="3528744" y="3168902"/>
                </a:lnTo>
                <a:lnTo>
                  <a:pt x="3564955" y="3137575"/>
                </a:lnTo>
                <a:lnTo>
                  <a:pt x="3596282" y="3101365"/>
                </a:lnTo>
                <a:lnTo>
                  <a:pt x="3622184" y="3060811"/>
                </a:lnTo>
                <a:lnTo>
                  <a:pt x="3642121" y="3016456"/>
                </a:lnTo>
                <a:lnTo>
                  <a:pt x="3660896" y="2940695"/>
                </a:lnTo>
                <a:lnTo>
                  <a:pt x="3665466" y="2892605"/>
                </a:lnTo>
                <a:lnTo>
                  <a:pt x="3667813" y="2836525"/>
                </a:lnTo>
                <a:lnTo>
                  <a:pt x="3668677" y="2771566"/>
                </a:lnTo>
                <a:lnTo>
                  <a:pt x="3668677" y="469733"/>
                </a:lnTo>
                <a:lnTo>
                  <a:pt x="3667813" y="404774"/>
                </a:lnTo>
                <a:lnTo>
                  <a:pt x="3665466" y="348694"/>
                </a:lnTo>
                <a:lnTo>
                  <a:pt x="3660896" y="300604"/>
                </a:lnTo>
                <a:lnTo>
                  <a:pt x="3653361" y="259616"/>
                </a:lnTo>
                <a:lnTo>
                  <a:pt x="3622184" y="180488"/>
                </a:lnTo>
                <a:lnTo>
                  <a:pt x="3596282" y="139935"/>
                </a:lnTo>
                <a:lnTo>
                  <a:pt x="3564955" y="103724"/>
                </a:lnTo>
                <a:lnTo>
                  <a:pt x="3528744" y="72398"/>
                </a:lnTo>
                <a:lnTo>
                  <a:pt x="3488190" y="46497"/>
                </a:lnTo>
                <a:lnTo>
                  <a:pt x="3443834" y="26563"/>
                </a:lnTo>
                <a:lnTo>
                  <a:pt x="3368073" y="7783"/>
                </a:lnTo>
                <a:lnTo>
                  <a:pt x="3319983" y="3212"/>
                </a:lnTo>
                <a:lnTo>
                  <a:pt x="3263903" y="864"/>
                </a:lnTo>
                <a:lnTo>
                  <a:pt x="3198945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474556" y="7755731"/>
            <a:ext cx="3408679" cy="905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9545" marR="5080" indent="-157480">
              <a:lnSpc>
                <a:spcPct val="111000"/>
              </a:lnSpc>
              <a:spcBef>
                <a:spcPts val="90"/>
              </a:spcBef>
            </a:pPr>
            <a:r>
              <a:rPr sz="2600" spc="130" dirty="0">
                <a:latin typeface="Arial MT"/>
                <a:cs typeface="Arial MT"/>
              </a:rPr>
              <a:t>Creating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20" dirty="0">
                <a:latin typeface="Arial MT"/>
                <a:cs typeface="Arial MT"/>
              </a:rPr>
              <a:t>dataframe </a:t>
            </a:r>
            <a:r>
              <a:rPr sz="2600" spc="195" dirty="0">
                <a:latin typeface="Arial MT"/>
                <a:cs typeface="Arial MT"/>
              </a:rPr>
              <a:t>from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50" dirty="0">
                <a:latin typeface="Arial MT"/>
                <a:cs typeface="Arial MT"/>
              </a:rPr>
              <a:t>dictionary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88272" y="6600305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198946" y="0"/>
                </a:moveTo>
                <a:lnTo>
                  <a:pt x="469732" y="0"/>
                </a:lnTo>
                <a:lnTo>
                  <a:pt x="404774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6" y="15320"/>
                </a:lnTo>
                <a:lnTo>
                  <a:pt x="180487" y="46497"/>
                </a:lnTo>
                <a:lnTo>
                  <a:pt x="139933" y="72398"/>
                </a:lnTo>
                <a:lnTo>
                  <a:pt x="103724" y="103724"/>
                </a:lnTo>
                <a:lnTo>
                  <a:pt x="72398" y="139935"/>
                </a:lnTo>
                <a:lnTo>
                  <a:pt x="46499" y="180488"/>
                </a:lnTo>
                <a:lnTo>
                  <a:pt x="26566" y="224843"/>
                </a:lnTo>
                <a:lnTo>
                  <a:pt x="7784" y="300604"/>
                </a:lnTo>
                <a:lnTo>
                  <a:pt x="3212" y="348694"/>
                </a:lnTo>
                <a:lnTo>
                  <a:pt x="864" y="404774"/>
                </a:lnTo>
                <a:lnTo>
                  <a:pt x="0" y="469733"/>
                </a:lnTo>
                <a:lnTo>
                  <a:pt x="0" y="2771566"/>
                </a:lnTo>
                <a:lnTo>
                  <a:pt x="864" y="2836525"/>
                </a:lnTo>
                <a:lnTo>
                  <a:pt x="3212" y="2892605"/>
                </a:lnTo>
                <a:lnTo>
                  <a:pt x="7784" y="2940695"/>
                </a:lnTo>
                <a:lnTo>
                  <a:pt x="15322" y="2981683"/>
                </a:lnTo>
                <a:lnTo>
                  <a:pt x="46499" y="3060811"/>
                </a:lnTo>
                <a:lnTo>
                  <a:pt x="72398" y="3101365"/>
                </a:lnTo>
                <a:lnTo>
                  <a:pt x="103724" y="3137575"/>
                </a:lnTo>
                <a:lnTo>
                  <a:pt x="139933" y="3168902"/>
                </a:lnTo>
                <a:lnTo>
                  <a:pt x="180487" y="3194803"/>
                </a:lnTo>
                <a:lnTo>
                  <a:pt x="224843" y="3214736"/>
                </a:lnTo>
                <a:lnTo>
                  <a:pt x="300604" y="3233516"/>
                </a:lnTo>
                <a:lnTo>
                  <a:pt x="348694" y="3238087"/>
                </a:lnTo>
                <a:lnTo>
                  <a:pt x="404774" y="3240435"/>
                </a:lnTo>
                <a:lnTo>
                  <a:pt x="469732" y="3241300"/>
                </a:lnTo>
                <a:lnTo>
                  <a:pt x="3198946" y="3241300"/>
                </a:lnTo>
                <a:lnTo>
                  <a:pt x="3263906" y="3240435"/>
                </a:lnTo>
                <a:lnTo>
                  <a:pt x="3319988" y="3238087"/>
                </a:lnTo>
                <a:lnTo>
                  <a:pt x="3368081" y="3233516"/>
                </a:lnTo>
                <a:lnTo>
                  <a:pt x="3409070" y="3225979"/>
                </a:lnTo>
                <a:lnTo>
                  <a:pt x="3488197" y="3194803"/>
                </a:lnTo>
                <a:lnTo>
                  <a:pt x="3528749" y="3168902"/>
                </a:lnTo>
                <a:lnTo>
                  <a:pt x="3564960" y="3137575"/>
                </a:lnTo>
                <a:lnTo>
                  <a:pt x="3596286" y="3101365"/>
                </a:lnTo>
                <a:lnTo>
                  <a:pt x="3622188" y="3060811"/>
                </a:lnTo>
                <a:lnTo>
                  <a:pt x="3642121" y="3016456"/>
                </a:lnTo>
                <a:lnTo>
                  <a:pt x="3660903" y="2940695"/>
                </a:lnTo>
                <a:lnTo>
                  <a:pt x="3665475" y="2892605"/>
                </a:lnTo>
                <a:lnTo>
                  <a:pt x="3667823" y="2836525"/>
                </a:lnTo>
                <a:lnTo>
                  <a:pt x="3668688" y="2771566"/>
                </a:lnTo>
                <a:lnTo>
                  <a:pt x="3668688" y="469733"/>
                </a:lnTo>
                <a:lnTo>
                  <a:pt x="3667823" y="404774"/>
                </a:lnTo>
                <a:lnTo>
                  <a:pt x="3665475" y="348694"/>
                </a:lnTo>
                <a:lnTo>
                  <a:pt x="3660903" y="300604"/>
                </a:lnTo>
                <a:lnTo>
                  <a:pt x="3653366" y="259616"/>
                </a:lnTo>
                <a:lnTo>
                  <a:pt x="3622188" y="180488"/>
                </a:lnTo>
                <a:lnTo>
                  <a:pt x="3596286" y="139935"/>
                </a:lnTo>
                <a:lnTo>
                  <a:pt x="3564960" y="103724"/>
                </a:lnTo>
                <a:lnTo>
                  <a:pt x="3528749" y="72398"/>
                </a:lnTo>
                <a:lnTo>
                  <a:pt x="3488197" y="46497"/>
                </a:lnTo>
                <a:lnTo>
                  <a:pt x="3443844" y="26563"/>
                </a:lnTo>
                <a:lnTo>
                  <a:pt x="3368081" y="7783"/>
                </a:lnTo>
                <a:lnTo>
                  <a:pt x="3319988" y="3212"/>
                </a:lnTo>
                <a:lnTo>
                  <a:pt x="3263906" y="864"/>
                </a:lnTo>
                <a:lnTo>
                  <a:pt x="3198946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999613" y="7323397"/>
            <a:ext cx="2846070" cy="1784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25" dirty="0">
                <a:latin typeface="Arial MT"/>
                <a:cs typeface="Arial MT"/>
              </a:rPr>
              <a:t>Filtering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130" dirty="0">
                <a:latin typeface="Arial MT"/>
                <a:cs typeface="Arial MT"/>
              </a:rPr>
              <a:t>the dataframe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95" dirty="0">
                <a:latin typeface="Arial MT"/>
                <a:cs typeface="Arial MT"/>
              </a:rPr>
              <a:t>to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20" dirty="0">
                <a:latin typeface="Arial MT"/>
                <a:cs typeface="Arial MT"/>
              </a:rPr>
              <a:t>only </a:t>
            </a:r>
            <a:r>
              <a:rPr sz="2600" spc="150" dirty="0">
                <a:latin typeface="Arial MT"/>
                <a:cs typeface="Arial MT"/>
              </a:rPr>
              <a:t>include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80" dirty="0">
                <a:latin typeface="Arial MT"/>
                <a:cs typeface="Arial MT"/>
              </a:rPr>
              <a:t>Falcon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180" dirty="0">
                <a:latin typeface="Arial MT"/>
                <a:cs typeface="Arial MT"/>
              </a:rPr>
              <a:t>9 </a:t>
            </a:r>
            <a:r>
              <a:rPr sz="2600" spc="90" dirty="0">
                <a:latin typeface="Arial MT"/>
                <a:cs typeface="Arial MT"/>
              </a:rPr>
              <a:t>launches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32032" y="6600305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198950" y="0"/>
                </a:moveTo>
                <a:lnTo>
                  <a:pt x="469733" y="0"/>
                </a:lnTo>
                <a:lnTo>
                  <a:pt x="404775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7" y="15320"/>
                </a:lnTo>
                <a:lnTo>
                  <a:pt x="180489" y="46497"/>
                </a:lnTo>
                <a:lnTo>
                  <a:pt x="139935" y="72398"/>
                </a:lnTo>
                <a:lnTo>
                  <a:pt x="103724" y="103724"/>
                </a:lnTo>
                <a:lnTo>
                  <a:pt x="72398" y="139935"/>
                </a:lnTo>
                <a:lnTo>
                  <a:pt x="46497" y="180488"/>
                </a:lnTo>
                <a:lnTo>
                  <a:pt x="26563" y="224843"/>
                </a:lnTo>
                <a:lnTo>
                  <a:pt x="7783" y="300604"/>
                </a:lnTo>
                <a:lnTo>
                  <a:pt x="3212" y="348694"/>
                </a:lnTo>
                <a:lnTo>
                  <a:pt x="864" y="404774"/>
                </a:lnTo>
                <a:lnTo>
                  <a:pt x="0" y="469733"/>
                </a:lnTo>
                <a:lnTo>
                  <a:pt x="0" y="2771566"/>
                </a:lnTo>
                <a:lnTo>
                  <a:pt x="864" y="2836525"/>
                </a:lnTo>
                <a:lnTo>
                  <a:pt x="3212" y="2892605"/>
                </a:lnTo>
                <a:lnTo>
                  <a:pt x="7783" y="2940695"/>
                </a:lnTo>
                <a:lnTo>
                  <a:pt x="15320" y="2981683"/>
                </a:lnTo>
                <a:lnTo>
                  <a:pt x="46497" y="3060811"/>
                </a:lnTo>
                <a:lnTo>
                  <a:pt x="72398" y="3101365"/>
                </a:lnTo>
                <a:lnTo>
                  <a:pt x="103724" y="3137575"/>
                </a:lnTo>
                <a:lnTo>
                  <a:pt x="139935" y="3168902"/>
                </a:lnTo>
                <a:lnTo>
                  <a:pt x="180489" y="3194803"/>
                </a:lnTo>
                <a:lnTo>
                  <a:pt x="224844" y="3214736"/>
                </a:lnTo>
                <a:lnTo>
                  <a:pt x="300604" y="3233516"/>
                </a:lnTo>
                <a:lnTo>
                  <a:pt x="348694" y="3238087"/>
                </a:lnTo>
                <a:lnTo>
                  <a:pt x="404775" y="3240435"/>
                </a:lnTo>
                <a:lnTo>
                  <a:pt x="469733" y="3241300"/>
                </a:lnTo>
                <a:lnTo>
                  <a:pt x="3198950" y="3241300"/>
                </a:lnTo>
                <a:lnTo>
                  <a:pt x="3263908" y="3240435"/>
                </a:lnTo>
                <a:lnTo>
                  <a:pt x="3319989" y="3238087"/>
                </a:lnTo>
                <a:lnTo>
                  <a:pt x="3368079" y="3233516"/>
                </a:lnTo>
                <a:lnTo>
                  <a:pt x="3409066" y="3225979"/>
                </a:lnTo>
                <a:lnTo>
                  <a:pt x="3488194" y="3194803"/>
                </a:lnTo>
                <a:lnTo>
                  <a:pt x="3528747" y="3168902"/>
                </a:lnTo>
                <a:lnTo>
                  <a:pt x="3564958" y="3137575"/>
                </a:lnTo>
                <a:lnTo>
                  <a:pt x="3596285" y="3101365"/>
                </a:lnTo>
                <a:lnTo>
                  <a:pt x="3622186" y="3060811"/>
                </a:lnTo>
                <a:lnTo>
                  <a:pt x="3642120" y="3016456"/>
                </a:lnTo>
                <a:lnTo>
                  <a:pt x="3660900" y="2940695"/>
                </a:lnTo>
                <a:lnTo>
                  <a:pt x="3665471" y="2892605"/>
                </a:lnTo>
                <a:lnTo>
                  <a:pt x="3667819" y="2836525"/>
                </a:lnTo>
                <a:lnTo>
                  <a:pt x="3668684" y="2771566"/>
                </a:lnTo>
                <a:lnTo>
                  <a:pt x="3668684" y="469733"/>
                </a:lnTo>
                <a:lnTo>
                  <a:pt x="3667819" y="404774"/>
                </a:lnTo>
                <a:lnTo>
                  <a:pt x="3665471" y="348694"/>
                </a:lnTo>
                <a:lnTo>
                  <a:pt x="3660900" y="300604"/>
                </a:lnTo>
                <a:lnTo>
                  <a:pt x="3653363" y="259616"/>
                </a:lnTo>
                <a:lnTo>
                  <a:pt x="3622186" y="180488"/>
                </a:lnTo>
                <a:lnTo>
                  <a:pt x="3596285" y="139935"/>
                </a:lnTo>
                <a:lnTo>
                  <a:pt x="3564958" y="103724"/>
                </a:lnTo>
                <a:lnTo>
                  <a:pt x="3528747" y="72398"/>
                </a:lnTo>
                <a:lnTo>
                  <a:pt x="3488194" y="46497"/>
                </a:lnTo>
                <a:lnTo>
                  <a:pt x="3443839" y="26563"/>
                </a:lnTo>
                <a:lnTo>
                  <a:pt x="3368079" y="7783"/>
                </a:lnTo>
                <a:lnTo>
                  <a:pt x="3319989" y="3212"/>
                </a:lnTo>
                <a:lnTo>
                  <a:pt x="3263908" y="864"/>
                </a:lnTo>
                <a:lnTo>
                  <a:pt x="319895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70662" y="7101056"/>
            <a:ext cx="2991485" cy="222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05" dirty="0">
                <a:latin typeface="Arial MT"/>
                <a:cs typeface="Arial MT"/>
              </a:rPr>
              <a:t>Replacing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10" dirty="0">
                <a:latin typeface="Arial MT"/>
                <a:cs typeface="Arial MT"/>
              </a:rPr>
              <a:t>missing </a:t>
            </a:r>
            <a:r>
              <a:rPr sz="2600" spc="80" dirty="0">
                <a:latin typeface="Arial MT"/>
                <a:cs typeface="Arial MT"/>
              </a:rPr>
              <a:t>values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95" dirty="0">
                <a:latin typeface="Arial MT"/>
                <a:cs typeface="Arial MT"/>
              </a:rPr>
              <a:t>of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55" dirty="0">
                <a:latin typeface="Arial MT"/>
                <a:cs typeface="Arial MT"/>
              </a:rPr>
              <a:t>Payload </a:t>
            </a:r>
            <a:r>
              <a:rPr sz="2600" dirty="0">
                <a:latin typeface="Arial MT"/>
                <a:cs typeface="Arial MT"/>
              </a:rPr>
              <a:t>Mass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165" dirty="0">
                <a:latin typeface="Arial MT"/>
                <a:cs typeface="Arial MT"/>
              </a:rPr>
              <a:t>column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spc="175" dirty="0">
                <a:latin typeface="Arial MT"/>
                <a:cs typeface="Arial MT"/>
              </a:rPr>
              <a:t>with </a:t>
            </a:r>
            <a:r>
              <a:rPr sz="2600" spc="135" dirty="0">
                <a:latin typeface="Arial MT"/>
                <a:cs typeface="Arial MT"/>
              </a:rPr>
              <a:t>calculated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65" dirty="0">
                <a:latin typeface="Arial MT"/>
                <a:cs typeface="Arial MT"/>
              </a:rPr>
              <a:t>.mean() </a:t>
            </a:r>
            <a:r>
              <a:rPr sz="2600" spc="170" dirty="0">
                <a:latin typeface="Arial MT"/>
                <a:cs typeface="Arial MT"/>
              </a:rPr>
              <a:t>for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30" dirty="0">
                <a:latin typeface="Arial MT"/>
                <a:cs typeface="Arial MT"/>
              </a:rPr>
              <a:t>this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column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75793" y="6600305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198950" y="0"/>
                </a:moveTo>
                <a:lnTo>
                  <a:pt x="469733" y="0"/>
                </a:lnTo>
                <a:lnTo>
                  <a:pt x="404775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7" y="15320"/>
                </a:lnTo>
                <a:lnTo>
                  <a:pt x="180489" y="46497"/>
                </a:lnTo>
                <a:lnTo>
                  <a:pt x="139935" y="72398"/>
                </a:lnTo>
                <a:lnTo>
                  <a:pt x="103724" y="103724"/>
                </a:lnTo>
                <a:lnTo>
                  <a:pt x="72398" y="139935"/>
                </a:lnTo>
                <a:lnTo>
                  <a:pt x="46497" y="180488"/>
                </a:lnTo>
                <a:lnTo>
                  <a:pt x="26563" y="224843"/>
                </a:lnTo>
                <a:lnTo>
                  <a:pt x="7783" y="300604"/>
                </a:lnTo>
                <a:lnTo>
                  <a:pt x="3212" y="348694"/>
                </a:lnTo>
                <a:lnTo>
                  <a:pt x="864" y="404774"/>
                </a:lnTo>
                <a:lnTo>
                  <a:pt x="0" y="469733"/>
                </a:lnTo>
                <a:lnTo>
                  <a:pt x="0" y="2771566"/>
                </a:lnTo>
                <a:lnTo>
                  <a:pt x="864" y="2836525"/>
                </a:lnTo>
                <a:lnTo>
                  <a:pt x="3212" y="2892605"/>
                </a:lnTo>
                <a:lnTo>
                  <a:pt x="7783" y="2940695"/>
                </a:lnTo>
                <a:lnTo>
                  <a:pt x="15320" y="2981683"/>
                </a:lnTo>
                <a:lnTo>
                  <a:pt x="46497" y="3060811"/>
                </a:lnTo>
                <a:lnTo>
                  <a:pt x="72398" y="3101365"/>
                </a:lnTo>
                <a:lnTo>
                  <a:pt x="103724" y="3137575"/>
                </a:lnTo>
                <a:lnTo>
                  <a:pt x="139935" y="3168902"/>
                </a:lnTo>
                <a:lnTo>
                  <a:pt x="180489" y="3194803"/>
                </a:lnTo>
                <a:lnTo>
                  <a:pt x="224844" y="3214736"/>
                </a:lnTo>
                <a:lnTo>
                  <a:pt x="300604" y="3233516"/>
                </a:lnTo>
                <a:lnTo>
                  <a:pt x="348694" y="3238087"/>
                </a:lnTo>
                <a:lnTo>
                  <a:pt x="404775" y="3240435"/>
                </a:lnTo>
                <a:lnTo>
                  <a:pt x="469733" y="3241300"/>
                </a:lnTo>
                <a:lnTo>
                  <a:pt x="3198950" y="3241300"/>
                </a:lnTo>
                <a:lnTo>
                  <a:pt x="3263908" y="3240435"/>
                </a:lnTo>
                <a:lnTo>
                  <a:pt x="3319989" y="3238087"/>
                </a:lnTo>
                <a:lnTo>
                  <a:pt x="3368079" y="3233516"/>
                </a:lnTo>
                <a:lnTo>
                  <a:pt x="3409066" y="3225979"/>
                </a:lnTo>
                <a:lnTo>
                  <a:pt x="3488194" y="3194803"/>
                </a:lnTo>
                <a:lnTo>
                  <a:pt x="3528747" y="3168902"/>
                </a:lnTo>
                <a:lnTo>
                  <a:pt x="3564958" y="3137575"/>
                </a:lnTo>
                <a:lnTo>
                  <a:pt x="3596285" y="3101365"/>
                </a:lnTo>
                <a:lnTo>
                  <a:pt x="3622186" y="3060811"/>
                </a:lnTo>
                <a:lnTo>
                  <a:pt x="3642120" y="3016456"/>
                </a:lnTo>
                <a:lnTo>
                  <a:pt x="3660900" y="2940695"/>
                </a:lnTo>
                <a:lnTo>
                  <a:pt x="3665471" y="2892605"/>
                </a:lnTo>
                <a:lnTo>
                  <a:pt x="3667819" y="2836525"/>
                </a:lnTo>
                <a:lnTo>
                  <a:pt x="3668684" y="2771566"/>
                </a:lnTo>
                <a:lnTo>
                  <a:pt x="3668684" y="469733"/>
                </a:lnTo>
                <a:lnTo>
                  <a:pt x="3667819" y="404774"/>
                </a:lnTo>
                <a:lnTo>
                  <a:pt x="3665471" y="348694"/>
                </a:lnTo>
                <a:lnTo>
                  <a:pt x="3660900" y="300604"/>
                </a:lnTo>
                <a:lnTo>
                  <a:pt x="3653363" y="259616"/>
                </a:lnTo>
                <a:lnTo>
                  <a:pt x="3622186" y="180488"/>
                </a:lnTo>
                <a:lnTo>
                  <a:pt x="3596285" y="139935"/>
                </a:lnTo>
                <a:lnTo>
                  <a:pt x="3564958" y="103724"/>
                </a:lnTo>
                <a:lnTo>
                  <a:pt x="3528747" y="72398"/>
                </a:lnTo>
                <a:lnTo>
                  <a:pt x="3488194" y="46497"/>
                </a:lnTo>
                <a:lnTo>
                  <a:pt x="3443839" y="26563"/>
                </a:lnTo>
                <a:lnTo>
                  <a:pt x="3368079" y="7783"/>
                </a:lnTo>
                <a:lnTo>
                  <a:pt x="3319989" y="3212"/>
                </a:lnTo>
                <a:lnTo>
                  <a:pt x="3263908" y="864"/>
                </a:lnTo>
                <a:lnTo>
                  <a:pt x="319895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419784" y="7755731"/>
            <a:ext cx="2981325" cy="905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44880" marR="5080" indent="-932815">
              <a:lnSpc>
                <a:spcPct val="111000"/>
              </a:lnSpc>
              <a:spcBef>
                <a:spcPts val="90"/>
              </a:spcBef>
            </a:pPr>
            <a:r>
              <a:rPr sz="2600" spc="140" dirty="0">
                <a:latin typeface="Arial MT"/>
                <a:cs typeface="Arial MT"/>
              </a:rPr>
              <a:t>Exporting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00" dirty="0">
                <a:latin typeface="Arial MT"/>
                <a:cs typeface="Arial MT"/>
              </a:rPr>
              <a:t>data </a:t>
            </a:r>
            <a:r>
              <a:rPr sz="2600" spc="195" dirty="0">
                <a:latin typeface="Arial MT"/>
                <a:cs typeface="Arial MT"/>
              </a:rPr>
              <a:t>to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CSV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70230" y="10205399"/>
            <a:ext cx="12213005" cy="46871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u="sng" spc="11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GitHub</a:t>
            </a:r>
            <a:r>
              <a:rPr sz="2950" u="sng" spc="-45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spc="-7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URL:</a:t>
            </a:r>
            <a:r>
              <a:rPr lang="en-US" sz="2950" u="sng" spc="-7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Data Collection </a:t>
            </a:r>
            <a:r>
              <a:rPr lang="en-US" sz="2950" u="sng" spc="-70" dirty="0" err="1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API.ipynb</a:t>
            </a:r>
            <a:endParaRPr sz="2950" dirty="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596149" y="3454547"/>
            <a:ext cx="887730" cy="846455"/>
            <a:chOff x="9596149" y="3454547"/>
            <a:chExt cx="887730" cy="846455"/>
          </a:xfrm>
        </p:grpSpPr>
        <p:sp>
          <p:nvSpPr>
            <p:cNvPr id="21" name="object 21"/>
            <p:cNvSpPr/>
            <p:nvPr/>
          </p:nvSpPr>
          <p:spPr>
            <a:xfrm>
              <a:off x="962232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0"/>
                  </a:moveTo>
                  <a:lnTo>
                    <a:pt x="469133" y="269861"/>
                  </a:lnTo>
                  <a:lnTo>
                    <a:pt x="0" y="269861"/>
                  </a:lnTo>
                  <a:lnTo>
                    <a:pt x="0" y="523848"/>
                  </a:lnTo>
                  <a:lnTo>
                    <a:pt x="469133" y="523848"/>
                  </a:lnTo>
                  <a:lnTo>
                    <a:pt x="469133" y="793710"/>
                  </a:lnTo>
                  <a:lnTo>
                    <a:pt x="834912" y="396854"/>
                  </a:lnTo>
                  <a:lnTo>
                    <a:pt x="469133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2232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523849"/>
                  </a:moveTo>
                  <a:lnTo>
                    <a:pt x="469133" y="793711"/>
                  </a:lnTo>
                  <a:lnTo>
                    <a:pt x="834912" y="396855"/>
                  </a:lnTo>
                  <a:lnTo>
                    <a:pt x="469133" y="0"/>
                  </a:lnTo>
                  <a:lnTo>
                    <a:pt x="469133" y="269861"/>
                  </a:lnTo>
                  <a:lnTo>
                    <a:pt x="0" y="269861"/>
                  </a:lnTo>
                  <a:lnTo>
                    <a:pt x="0" y="523849"/>
                  </a:lnTo>
                  <a:lnTo>
                    <a:pt x="469133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839910" y="3454547"/>
            <a:ext cx="887730" cy="846455"/>
            <a:chOff x="4839910" y="3454547"/>
            <a:chExt cx="887730" cy="846455"/>
          </a:xfrm>
        </p:grpSpPr>
        <p:sp>
          <p:nvSpPr>
            <p:cNvPr id="24" name="object 24"/>
            <p:cNvSpPr/>
            <p:nvPr/>
          </p:nvSpPr>
          <p:spPr>
            <a:xfrm>
              <a:off x="486608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0"/>
                  </a:moveTo>
                  <a:lnTo>
                    <a:pt x="469133" y="269861"/>
                  </a:lnTo>
                  <a:lnTo>
                    <a:pt x="0" y="269861"/>
                  </a:lnTo>
                  <a:lnTo>
                    <a:pt x="0" y="523848"/>
                  </a:lnTo>
                  <a:lnTo>
                    <a:pt x="469133" y="523848"/>
                  </a:lnTo>
                  <a:lnTo>
                    <a:pt x="469133" y="793710"/>
                  </a:lnTo>
                  <a:lnTo>
                    <a:pt x="834912" y="396854"/>
                  </a:lnTo>
                  <a:lnTo>
                    <a:pt x="469133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6608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523849"/>
                  </a:moveTo>
                  <a:lnTo>
                    <a:pt x="469133" y="793711"/>
                  </a:lnTo>
                  <a:lnTo>
                    <a:pt x="834912" y="396855"/>
                  </a:lnTo>
                  <a:lnTo>
                    <a:pt x="469133" y="0"/>
                  </a:lnTo>
                  <a:lnTo>
                    <a:pt x="469133" y="269861"/>
                  </a:lnTo>
                  <a:lnTo>
                    <a:pt x="0" y="269861"/>
                  </a:lnTo>
                  <a:lnTo>
                    <a:pt x="0" y="523849"/>
                  </a:lnTo>
                  <a:lnTo>
                    <a:pt x="469133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4352390" y="3454547"/>
            <a:ext cx="887730" cy="846455"/>
            <a:chOff x="14352390" y="3454547"/>
            <a:chExt cx="887730" cy="846455"/>
          </a:xfrm>
        </p:grpSpPr>
        <p:sp>
          <p:nvSpPr>
            <p:cNvPr id="27" name="object 27"/>
            <p:cNvSpPr/>
            <p:nvPr/>
          </p:nvSpPr>
          <p:spPr>
            <a:xfrm>
              <a:off x="1437856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7" y="0"/>
                  </a:moveTo>
                  <a:lnTo>
                    <a:pt x="469137" y="269861"/>
                  </a:lnTo>
                  <a:lnTo>
                    <a:pt x="0" y="269861"/>
                  </a:lnTo>
                  <a:lnTo>
                    <a:pt x="0" y="523848"/>
                  </a:lnTo>
                  <a:lnTo>
                    <a:pt x="469137" y="523848"/>
                  </a:lnTo>
                  <a:lnTo>
                    <a:pt x="469137" y="793710"/>
                  </a:lnTo>
                  <a:lnTo>
                    <a:pt x="834906" y="396854"/>
                  </a:lnTo>
                  <a:lnTo>
                    <a:pt x="46913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37856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523849"/>
                  </a:moveTo>
                  <a:lnTo>
                    <a:pt x="469133" y="793711"/>
                  </a:lnTo>
                  <a:lnTo>
                    <a:pt x="834912" y="396855"/>
                  </a:lnTo>
                  <a:lnTo>
                    <a:pt x="469133" y="0"/>
                  </a:lnTo>
                  <a:lnTo>
                    <a:pt x="469133" y="269861"/>
                  </a:lnTo>
                  <a:lnTo>
                    <a:pt x="0" y="269861"/>
                  </a:lnTo>
                  <a:lnTo>
                    <a:pt x="0" y="523849"/>
                  </a:lnTo>
                  <a:lnTo>
                    <a:pt x="469133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839910" y="7797922"/>
            <a:ext cx="887730" cy="846455"/>
            <a:chOff x="4839910" y="7797922"/>
            <a:chExt cx="887730" cy="846455"/>
          </a:xfrm>
        </p:grpSpPr>
        <p:sp>
          <p:nvSpPr>
            <p:cNvPr id="30" name="object 30"/>
            <p:cNvSpPr/>
            <p:nvPr/>
          </p:nvSpPr>
          <p:spPr>
            <a:xfrm>
              <a:off x="4866087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0"/>
                  </a:moveTo>
                  <a:lnTo>
                    <a:pt x="0" y="396855"/>
                  </a:lnTo>
                  <a:lnTo>
                    <a:pt x="365778" y="793711"/>
                  </a:lnTo>
                  <a:lnTo>
                    <a:pt x="365778" y="523850"/>
                  </a:lnTo>
                  <a:lnTo>
                    <a:pt x="834912" y="523850"/>
                  </a:lnTo>
                  <a:lnTo>
                    <a:pt x="834912" y="269861"/>
                  </a:lnTo>
                  <a:lnTo>
                    <a:pt x="365778" y="269861"/>
                  </a:lnTo>
                  <a:lnTo>
                    <a:pt x="36577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66087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523849"/>
                  </a:moveTo>
                  <a:lnTo>
                    <a:pt x="365778" y="793711"/>
                  </a:lnTo>
                  <a:lnTo>
                    <a:pt x="0" y="396855"/>
                  </a:lnTo>
                  <a:lnTo>
                    <a:pt x="365778" y="0"/>
                  </a:lnTo>
                  <a:lnTo>
                    <a:pt x="365778" y="269861"/>
                  </a:lnTo>
                  <a:lnTo>
                    <a:pt x="834912" y="269861"/>
                  </a:lnTo>
                  <a:lnTo>
                    <a:pt x="834912" y="523849"/>
                  </a:lnTo>
                  <a:lnTo>
                    <a:pt x="365778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9605572" y="7797922"/>
            <a:ext cx="887730" cy="846455"/>
            <a:chOff x="9605572" y="7797922"/>
            <a:chExt cx="887730" cy="846455"/>
          </a:xfrm>
        </p:grpSpPr>
        <p:sp>
          <p:nvSpPr>
            <p:cNvPr id="33" name="object 33"/>
            <p:cNvSpPr/>
            <p:nvPr/>
          </p:nvSpPr>
          <p:spPr>
            <a:xfrm>
              <a:off x="9631749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0"/>
                  </a:moveTo>
                  <a:lnTo>
                    <a:pt x="0" y="396855"/>
                  </a:lnTo>
                  <a:lnTo>
                    <a:pt x="365778" y="793711"/>
                  </a:lnTo>
                  <a:lnTo>
                    <a:pt x="365778" y="523850"/>
                  </a:lnTo>
                  <a:lnTo>
                    <a:pt x="834912" y="523850"/>
                  </a:lnTo>
                  <a:lnTo>
                    <a:pt x="834912" y="269861"/>
                  </a:lnTo>
                  <a:lnTo>
                    <a:pt x="365778" y="269861"/>
                  </a:lnTo>
                  <a:lnTo>
                    <a:pt x="36577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631749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523849"/>
                  </a:moveTo>
                  <a:lnTo>
                    <a:pt x="365778" y="793711"/>
                  </a:lnTo>
                  <a:lnTo>
                    <a:pt x="0" y="396855"/>
                  </a:lnTo>
                  <a:lnTo>
                    <a:pt x="365778" y="0"/>
                  </a:lnTo>
                  <a:lnTo>
                    <a:pt x="365778" y="269861"/>
                  </a:lnTo>
                  <a:lnTo>
                    <a:pt x="834912" y="269861"/>
                  </a:lnTo>
                  <a:lnTo>
                    <a:pt x="834912" y="523849"/>
                  </a:lnTo>
                  <a:lnTo>
                    <a:pt x="365778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14361807" y="7797922"/>
            <a:ext cx="887730" cy="846455"/>
            <a:chOff x="14361807" y="7797922"/>
            <a:chExt cx="887730" cy="846455"/>
          </a:xfrm>
        </p:grpSpPr>
        <p:sp>
          <p:nvSpPr>
            <p:cNvPr id="36" name="object 36"/>
            <p:cNvSpPr/>
            <p:nvPr/>
          </p:nvSpPr>
          <p:spPr>
            <a:xfrm>
              <a:off x="14387990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9" y="0"/>
                  </a:moveTo>
                  <a:lnTo>
                    <a:pt x="0" y="396855"/>
                  </a:lnTo>
                  <a:lnTo>
                    <a:pt x="365779" y="793711"/>
                  </a:lnTo>
                  <a:lnTo>
                    <a:pt x="365779" y="523850"/>
                  </a:lnTo>
                  <a:lnTo>
                    <a:pt x="834906" y="523850"/>
                  </a:lnTo>
                  <a:lnTo>
                    <a:pt x="834906" y="269861"/>
                  </a:lnTo>
                  <a:lnTo>
                    <a:pt x="365779" y="269861"/>
                  </a:lnTo>
                  <a:lnTo>
                    <a:pt x="36577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387984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523849"/>
                  </a:moveTo>
                  <a:lnTo>
                    <a:pt x="365778" y="793711"/>
                  </a:lnTo>
                  <a:lnTo>
                    <a:pt x="0" y="396855"/>
                  </a:lnTo>
                  <a:lnTo>
                    <a:pt x="365778" y="0"/>
                  </a:lnTo>
                  <a:lnTo>
                    <a:pt x="365778" y="269861"/>
                  </a:lnTo>
                  <a:lnTo>
                    <a:pt x="834912" y="269861"/>
                  </a:lnTo>
                  <a:lnTo>
                    <a:pt x="834912" y="523849"/>
                  </a:lnTo>
                  <a:lnTo>
                    <a:pt x="365778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6755825" y="5608614"/>
            <a:ext cx="846455" cy="887730"/>
            <a:chOff x="16755825" y="5608614"/>
            <a:chExt cx="846455" cy="887730"/>
          </a:xfrm>
        </p:grpSpPr>
        <p:sp>
          <p:nvSpPr>
            <p:cNvPr id="39" name="object 39"/>
            <p:cNvSpPr/>
            <p:nvPr/>
          </p:nvSpPr>
          <p:spPr>
            <a:xfrm>
              <a:off x="16782002" y="5634791"/>
              <a:ext cx="793750" cy="835025"/>
            </a:xfrm>
            <a:custGeom>
              <a:avLst/>
              <a:gdLst/>
              <a:ahLst/>
              <a:cxnLst/>
              <a:rect l="l" t="t" r="r" b="b"/>
              <a:pathLst>
                <a:path w="793750" h="835025">
                  <a:moveTo>
                    <a:pt x="523847" y="0"/>
                  </a:moveTo>
                  <a:lnTo>
                    <a:pt x="269855" y="0"/>
                  </a:lnTo>
                  <a:lnTo>
                    <a:pt x="269855" y="469134"/>
                  </a:lnTo>
                  <a:lnTo>
                    <a:pt x="0" y="469134"/>
                  </a:lnTo>
                  <a:lnTo>
                    <a:pt x="396846" y="834912"/>
                  </a:lnTo>
                  <a:lnTo>
                    <a:pt x="793703" y="469134"/>
                  </a:lnTo>
                  <a:lnTo>
                    <a:pt x="523847" y="469134"/>
                  </a:lnTo>
                  <a:lnTo>
                    <a:pt x="52384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782002" y="5634791"/>
              <a:ext cx="793750" cy="835025"/>
            </a:xfrm>
            <a:custGeom>
              <a:avLst/>
              <a:gdLst/>
              <a:ahLst/>
              <a:cxnLst/>
              <a:rect l="l" t="t" r="r" b="b"/>
              <a:pathLst>
                <a:path w="793750" h="835025">
                  <a:moveTo>
                    <a:pt x="523849" y="469133"/>
                  </a:moveTo>
                  <a:lnTo>
                    <a:pt x="793711" y="469133"/>
                  </a:lnTo>
                  <a:lnTo>
                    <a:pt x="396855" y="834912"/>
                  </a:lnTo>
                  <a:lnTo>
                    <a:pt x="0" y="469133"/>
                  </a:lnTo>
                  <a:lnTo>
                    <a:pt x="269861" y="469133"/>
                  </a:lnTo>
                  <a:lnTo>
                    <a:pt x="269861" y="0"/>
                  </a:lnTo>
                  <a:lnTo>
                    <a:pt x="523849" y="0"/>
                  </a:lnTo>
                  <a:lnTo>
                    <a:pt x="523849" y="469133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4998" y="1055884"/>
            <a:ext cx="12151923" cy="83821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75793" y="225692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198950" y="0"/>
                </a:moveTo>
                <a:lnTo>
                  <a:pt x="469733" y="0"/>
                </a:lnTo>
                <a:lnTo>
                  <a:pt x="404775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7" y="15320"/>
                </a:lnTo>
                <a:lnTo>
                  <a:pt x="180489" y="46497"/>
                </a:lnTo>
                <a:lnTo>
                  <a:pt x="139935" y="72398"/>
                </a:lnTo>
                <a:lnTo>
                  <a:pt x="103724" y="103725"/>
                </a:lnTo>
                <a:lnTo>
                  <a:pt x="72398" y="139936"/>
                </a:lnTo>
                <a:lnTo>
                  <a:pt x="46497" y="180489"/>
                </a:lnTo>
                <a:lnTo>
                  <a:pt x="26563" y="224844"/>
                </a:lnTo>
                <a:lnTo>
                  <a:pt x="7783" y="300604"/>
                </a:lnTo>
                <a:lnTo>
                  <a:pt x="3212" y="348694"/>
                </a:lnTo>
                <a:lnTo>
                  <a:pt x="864" y="404775"/>
                </a:lnTo>
                <a:lnTo>
                  <a:pt x="0" y="469733"/>
                </a:lnTo>
                <a:lnTo>
                  <a:pt x="0" y="2771567"/>
                </a:lnTo>
                <a:lnTo>
                  <a:pt x="864" y="2836526"/>
                </a:lnTo>
                <a:lnTo>
                  <a:pt x="3212" y="2892606"/>
                </a:lnTo>
                <a:lnTo>
                  <a:pt x="7783" y="2940696"/>
                </a:lnTo>
                <a:lnTo>
                  <a:pt x="15320" y="2981684"/>
                </a:lnTo>
                <a:lnTo>
                  <a:pt x="46497" y="3060811"/>
                </a:lnTo>
                <a:lnTo>
                  <a:pt x="72398" y="3101365"/>
                </a:lnTo>
                <a:lnTo>
                  <a:pt x="103724" y="3137575"/>
                </a:lnTo>
                <a:lnTo>
                  <a:pt x="139935" y="3168902"/>
                </a:lnTo>
                <a:lnTo>
                  <a:pt x="180489" y="3194803"/>
                </a:lnTo>
                <a:lnTo>
                  <a:pt x="224844" y="3214737"/>
                </a:lnTo>
                <a:lnTo>
                  <a:pt x="300604" y="3233517"/>
                </a:lnTo>
                <a:lnTo>
                  <a:pt x="348694" y="3238088"/>
                </a:lnTo>
                <a:lnTo>
                  <a:pt x="404775" y="3240436"/>
                </a:lnTo>
                <a:lnTo>
                  <a:pt x="469733" y="3241301"/>
                </a:lnTo>
                <a:lnTo>
                  <a:pt x="3198950" y="3241301"/>
                </a:lnTo>
                <a:lnTo>
                  <a:pt x="3263908" y="3240436"/>
                </a:lnTo>
                <a:lnTo>
                  <a:pt x="3319989" y="3238088"/>
                </a:lnTo>
                <a:lnTo>
                  <a:pt x="3368079" y="3233517"/>
                </a:lnTo>
                <a:lnTo>
                  <a:pt x="3409066" y="3225980"/>
                </a:lnTo>
                <a:lnTo>
                  <a:pt x="3488194" y="3194803"/>
                </a:lnTo>
                <a:lnTo>
                  <a:pt x="3528747" y="3168902"/>
                </a:lnTo>
                <a:lnTo>
                  <a:pt x="3564958" y="3137575"/>
                </a:lnTo>
                <a:lnTo>
                  <a:pt x="3596285" y="3101365"/>
                </a:lnTo>
                <a:lnTo>
                  <a:pt x="3622186" y="3060811"/>
                </a:lnTo>
                <a:lnTo>
                  <a:pt x="3642120" y="3016456"/>
                </a:lnTo>
                <a:lnTo>
                  <a:pt x="3660900" y="2940696"/>
                </a:lnTo>
                <a:lnTo>
                  <a:pt x="3665471" y="2892606"/>
                </a:lnTo>
                <a:lnTo>
                  <a:pt x="3667819" y="2836526"/>
                </a:lnTo>
                <a:lnTo>
                  <a:pt x="3668684" y="2771567"/>
                </a:lnTo>
                <a:lnTo>
                  <a:pt x="3668684" y="469733"/>
                </a:lnTo>
                <a:lnTo>
                  <a:pt x="3667819" y="404775"/>
                </a:lnTo>
                <a:lnTo>
                  <a:pt x="3665471" y="348694"/>
                </a:lnTo>
                <a:lnTo>
                  <a:pt x="3660900" y="300604"/>
                </a:lnTo>
                <a:lnTo>
                  <a:pt x="3653363" y="259617"/>
                </a:lnTo>
                <a:lnTo>
                  <a:pt x="3622186" y="180489"/>
                </a:lnTo>
                <a:lnTo>
                  <a:pt x="3596285" y="139936"/>
                </a:lnTo>
                <a:lnTo>
                  <a:pt x="3564958" y="103725"/>
                </a:lnTo>
                <a:lnTo>
                  <a:pt x="3528747" y="72398"/>
                </a:lnTo>
                <a:lnTo>
                  <a:pt x="3488194" y="46497"/>
                </a:lnTo>
                <a:lnTo>
                  <a:pt x="3443839" y="26563"/>
                </a:lnTo>
                <a:lnTo>
                  <a:pt x="3368079" y="7783"/>
                </a:lnTo>
                <a:lnTo>
                  <a:pt x="3319989" y="3212"/>
                </a:lnTo>
                <a:lnTo>
                  <a:pt x="3263908" y="864"/>
                </a:lnTo>
                <a:lnTo>
                  <a:pt x="319895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41264" y="2980022"/>
            <a:ext cx="2538095" cy="1784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0"/>
              </a:spcBef>
            </a:pPr>
            <a:r>
              <a:rPr sz="2600" spc="90" dirty="0">
                <a:latin typeface="Arial MT"/>
                <a:cs typeface="Arial MT"/>
              </a:rPr>
              <a:t>Requesting </a:t>
            </a:r>
            <a:r>
              <a:rPr sz="2600" spc="80" dirty="0">
                <a:latin typeface="Arial MT"/>
                <a:cs typeface="Arial MT"/>
              </a:rPr>
              <a:t>Falcon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229" dirty="0">
                <a:latin typeface="Arial MT"/>
                <a:cs typeface="Arial MT"/>
              </a:rPr>
              <a:t>9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14" dirty="0">
                <a:latin typeface="Arial MT"/>
                <a:cs typeface="Arial MT"/>
              </a:rPr>
              <a:t>launch </a:t>
            </a:r>
            <a:r>
              <a:rPr sz="2600" spc="120" dirty="0">
                <a:latin typeface="Arial MT"/>
                <a:cs typeface="Arial MT"/>
              </a:rPr>
              <a:t>data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75" dirty="0">
                <a:latin typeface="Arial MT"/>
                <a:cs typeface="Arial MT"/>
              </a:rPr>
              <a:t>from </a:t>
            </a:r>
            <a:r>
              <a:rPr sz="2600" spc="105" dirty="0">
                <a:latin typeface="Arial MT"/>
                <a:cs typeface="Arial MT"/>
              </a:rPr>
              <a:t>Wikipedia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32023" y="225691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235684" y="0"/>
                </a:moveTo>
                <a:lnTo>
                  <a:pt x="433018" y="0"/>
                </a:lnTo>
                <a:lnTo>
                  <a:pt x="373137" y="797"/>
                </a:lnTo>
                <a:lnTo>
                  <a:pt x="321439" y="2961"/>
                </a:lnTo>
                <a:lnTo>
                  <a:pt x="277108" y="7175"/>
                </a:lnTo>
                <a:lnTo>
                  <a:pt x="239324" y="14122"/>
                </a:lnTo>
                <a:lnTo>
                  <a:pt x="158608" y="47214"/>
                </a:lnTo>
                <a:lnTo>
                  <a:pt x="115137" y="77718"/>
                </a:lnTo>
                <a:lnTo>
                  <a:pt x="77718" y="115137"/>
                </a:lnTo>
                <a:lnTo>
                  <a:pt x="47214" y="158609"/>
                </a:lnTo>
                <a:lnTo>
                  <a:pt x="24487" y="207270"/>
                </a:lnTo>
                <a:lnTo>
                  <a:pt x="7175" y="277108"/>
                </a:lnTo>
                <a:lnTo>
                  <a:pt x="2961" y="321440"/>
                </a:lnTo>
                <a:lnTo>
                  <a:pt x="797" y="373137"/>
                </a:lnTo>
                <a:lnTo>
                  <a:pt x="0" y="433018"/>
                </a:lnTo>
                <a:lnTo>
                  <a:pt x="0" y="2808301"/>
                </a:lnTo>
                <a:lnTo>
                  <a:pt x="797" y="2868183"/>
                </a:lnTo>
                <a:lnTo>
                  <a:pt x="2961" y="2919880"/>
                </a:lnTo>
                <a:lnTo>
                  <a:pt x="7175" y="2964211"/>
                </a:lnTo>
                <a:lnTo>
                  <a:pt x="14122" y="3001995"/>
                </a:lnTo>
                <a:lnTo>
                  <a:pt x="47214" y="3082711"/>
                </a:lnTo>
                <a:lnTo>
                  <a:pt x="77718" y="3126182"/>
                </a:lnTo>
                <a:lnTo>
                  <a:pt x="115137" y="3163601"/>
                </a:lnTo>
                <a:lnTo>
                  <a:pt x="158608" y="3194106"/>
                </a:lnTo>
                <a:lnTo>
                  <a:pt x="207269" y="3216833"/>
                </a:lnTo>
                <a:lnTo>
                  <a:pt x="277108" y="3234145"/>
                </a:lnTo>
                <a:lnTo>
                  <a:pt x="321439" y="3238359"/>
                </a:lnTo>
                <a:lnTo>
                  <a:pt x="373137" y="3240523"/>
                </a:lnTo>
                <a:lnTo>
                  <a:pt x="433018" y="3241320"/>
                </a:lnTo>
                <a:lnTo>
                  <a:pt x="3235684" y="3241320"/>
                </a:lnTo>
                <a:lnTo>
                  <a:pt x="3295566" y="3240523"/>
                </a:lnTo>
                <a:lnTo>
                  <a:pt x="3347263" y="3238359"/>
                </a:lnTo>
                <a:lnTo>
                  <a:pt x="3391594" y="3234145"/>
                </a:lnTo>
                <a:lnTo>
                  <a:pt x="3429378" y="3227197"/>
                </a:lnTo>
                <a:lnTo>
                  <a:pt x="3510094" y="3194106"/>
                </a:lnTo>
                <a:lnTo>
                  <a:pt x="3553565" y="3163601"/>
                </a:lnTo>
                <a:lnTo>
                  <a:pt x="3590984" y="3126182"/>
                </a:lnTo>
                <a:lnTo>
                  <a:pt x="3621488" y="3082711"/>
                </a:lnTo>
                <a:lnTo>
                  <a:pt x="3644215" y="3034050"/>
                </a:lnTo>
                <a:lnTo>
                  <a:pt x="3661528" y="2964211"/>
                </a:lnTo>
                <a:lnTo>
                  <a:pt x="3665742" y="2919880"/>
                </a:lnTo>
                <a:lnTo>
                  <a:pt x="3667906" y="2868183"/>
                </a:lnTo>
                <a:lnTo>
                  <a:pt x="3668703" y="2808301"/>
                </a:lnTo>
                <a:lnTo>
                  <a:pt x="3668703" y="433018"/>
                </a:lnTo>
                <a:lnTo>
                  <a:pt x="3667906" y="373137"/>
                </a:lnTo>
                <a:lnTo>
                  <a:pt x="3665742" y="321440"/>
                </a:lnTo>
                <a:lnTo>
                  <a:pt x="3661528" y="277108"/>
                </a:lnTo>
                <a:lnTo>
                  <a:pt x="3654580" y="239325"/>
                </a:lnTo>
                <a:lnTo>
                  <a:pt x="3621488" y="158609"/>
                </a:lnTo>
                <a:lnTo>
                  <a:pt x="3590984" y="115137"/>
                </a:lnTo>
                <a:lnTo>
                  <a:pt x="3553565" y="77718"/>
                </a:lnTo>
                <a:lnTo>
                  <a:pt x="3510094" y="47214"/>
                </a:lnTo>
                <a:lnTo>
                  <a:pt x="3461433" y="24487"/>
                </a:lnTo>
                <a:lnTo>
                  <a:pt x="3391594" y="7175"/>
                </a:lnTo>
                <a:lnTo>
                  <a:pt x="3347263" y="2961"/>
                </a:lnTo>
                <a:lnTo>
                  <a:pt x="3295566" y="797"/>
                </a:lnTo>
                <a:lnTo>
                  <a:pt x="3235684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73139" y="2980022"/>
            <a:ext cx="3387090" cy="1784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30" dirty="0">
                <a:latin typeface="Arial MT"/>
                <a:cs typeface="Arial MT"/>
              </a:rPr>
              <a:t>Creating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a </a:t>
            </a:r>
            <a:r>
              <a:rPr sz="2600" spc="114" dirty="0">
                <a:latin typeface="Arial MT"/>
                <a:cs typeface="Arial MT"/>
              </a:rPr>
              <a:t>BeautifulSoup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60" dirty="0">
                <a:latin typeface="Arial MT"/>
                <a:cs typeface="Arial MT"/>
              </a:rPr>
              <a:t>object </a:t>
            </a:r>
            <a:r>
              <a:rPr sz="2600" spc="195" dirty="0">
                <a:latin typeface="Arial MT"/>
                <a:cs typeface="Arial MT"/>
              </a:rPr>
              <a:t>from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30" dirty="0">
                <a:latin typeface="Arial MT"/>
                <a:cs typeface="Arial MT"/>
              </a:rPr>
              <a:t>HTML </a:t>
            </a:r>
            <a:r>
              <a:rPr sz="2600" spc="85" dirty="0">
                <a:latin typeface="Arial MT"/>
                <a:cs typeface="Arial MT"/>
              </a:rPr>
              <a:t>response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588263" y="225691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235688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9" y="2961"/>
                </a:lnTo>
                <a:lnTo>
                  <a:pt x="277107" y="7175"/>
                </a:lnTo>
                <a:lnTo>
                  <a:pt x="239324" y="14122"/>
                </a:lnTo>
                <a:lnTo>
                  <a:pt x="158609" y="47214"/>
                </a:lnTo>
                <a:lnTo>
                  <a:pt x="115136" y="77718"/>
                </a:lnTo>
                <a:lnTo>
                  <a:pt x="77716" y="115137"/>
                </a:lnTo>
                <a:lnTo>
                  <a:pt x="47210" y="158609"/>
                </a:lnTo>
                <a:lnTo>
                  <a:pt x="24482" y="207270"/>
                </a:lnTo>
                <a:lnTo>
                  <a:pt x="7173" y="277108"/>
                </a:lnTo>
                <a:lnTo>
                  <a:pt x="2960" y="321440"/>
                </a:lnTo>
                <a:lnTo>
                  <a:pt x="797" y="373137"/>
                </a:lnTo>
                <a:lnTo>
                  <a:pt x="0" y="433018"/>
                </a:lnTo>
                <a:lnTo>
                  <a:pt x="0" y="2808301"/>
                </a:lnTo>
                <a:lnTo>
                  <a:pt x="797" y="2868183"/>
                </a:lnTo>
                <a:lnTo>
                  <a:pt x="2960" y="2919880"/>
                </a:lnTo>
                <a:lnTo>
                  <a:pt x="7173" y="2964211"/>
                </a:lnTo>
                <a:lnTo>
                  <a:pt x="14119" y="3001995"/>
                </a:lnTo>
                <a:lnTo>
                  <a:pt x="47210" y="3082711"/>
                </a:lnTo>
                <a:lnTo>
                  <a:pt x="77716" y="3126182"/>
                </a:lnTo>
                <a:lnTo>
                  <a:pt x="115136" y="3163601"/>
                </a:lnTo>
                <a:lnTo>
                  <a:pt x="158609" y="3194106"/>
                </a:lnTo>
                <a:lnTo>
                  <a:pt x="207272" y="3216833"/>
                </a:lnTo>
                <a:lnTo>
                  <a:pt x="277107" y="3234145"/>
                </a:lnTo>
                <a:lnTo>
                  <a:pt x="321439" y="3238359"/>
                </a:lnTo>
                <a:lnTo>
                  <a:pt x="373136" y="3240523"/>
                </a:lnTo>
                <a:lnTo>
                  <a:pt x="433018" y="3241320"/>
                </a:lnTo>
                <a:lnTo>
                  <a:pt x="3235688" y="3241320"/>
                </a:lnTo>
                <a:lnTo>
                  <a:pt x="3295568" y="3240523"/>
                </a:lnTo>
                <a:lnTo>
                  <a:pt x="3347264" y="3238359"/>
                </a:lnTo>
                <a:lnTo>
                  <a:pt x="3391595" y="3234145"/>
                </a:lnTo>
                <a:lnTo>
                  <a:pt x="3429379" y="3227197"/>
                </a:lnTo>
                <a:lnTo>
                  <a:pt x="3510096" y="3194106"/>
                </a:lnTo>
                <a:lnTo>
                  <a:pt x="3553567" y="3163601"/>
                </a:lnTo>
                <a:lnTo>
                  <a:pt x="3590984" y="3126182"/>
                </a:lnTo>
                <a:lnTo>
                  <a:pt x="3621487" y="3082711"/>
                </a:lnTo>
                <a:lnTo>
                  <a:pt x="3644214" y="3034050"/>
                </a:lnTo>
                <a:lnTo>
                  <a:pt x="3661530" y="2964211"/>
                </a:lnTo>
                <a:lnTo>
                  <a:pt x="3665745" y="2919880"/>
                </a:lnTo>
                <a:lnTo>
                  <a:pt x="3667910" y="2868183"/>
                </a:lnTo>
                <a:lnTo>
                  <a:pt x="3668707" y="2808301"/>
                </a:lnTo>
                <a:lnTo>
                  <a:pt x="3668707" y="433018"/>
                </a:lnTo>
                <a:lnTo>
                  <a:pt x="3667910" y="373137"/>
                </a:lnTo>
                <a:lnTo>
                  <a:pt x="3665745" y="321440"/>
                </a:lnTo>
                <a:lnTo>
                  <a:pt x="3661530" y="277108"/>
                </a:lnTo>
                <a:lnTo>
                  <a:pt x="3654581" y="239325"/>
                </a:lnTo>
                <a:lnTo>
                  <a:pt x="3621487" y="158609"/>
                </a:lnTo>
                <a:lnTo>
                  <a:pt x="3590984" y="115137"/>
                </a:lnTo>
                <a:lnTo>
                  <a:pt x="3553567" y="77718"/>
                </a:lnTo>
                <a:lnTo>
                  <a:pt x="3510096" y="47214"/>
                </a:lnTo>
                <a:lnTo>
                  <a:pt x="3461435" y="24487"/>
                </a:lnTo>
                <a:lnTo>
                  <a:pt x="3391595" y="7175"/>
                </a:lnTo>
                <a:lnTo>
                  <a:pt x="3347264" y="2961"/>
                </a:lnTo>
                <a:lnTo>
                  <a:pt x="3295568" y="797"/>
                </a:lnTo>
                <a:lnTo>
                  <a:pt x="323568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778971" y="2980022"/>
            <a:ext cx="3287395" cy="178498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34"/>
              </a:spcBef>
            </a:pPr>
            <a:r>
              <a:rPr sz="2600" spc="120" dirty="0">
                <a:latin typeface="Arial MT"/>
                <a:cs typeface="Arial MT"/>
              </a:rPr>
              <a:t>Extracting</a:t>
            </a:r>
            <a:endParaRPr sz="2600">
              <a:latin typeface="Arial MT"/>
              <a:cs typeface="Arial MT"/>
            </a:endParaRPr>
          </a:p>
          <a:p>
            <a:pPr marL="12700" marR="5080" algn="ctr">
              <a:lnSpc>
                <a:spcPct val="111000"/>
              </a:lnSpc>
            </a:pPr>
            <a:r>
              <a:rPr sz="2600" spc="95" dirty="0">
                <a:latin typeface="Arial MT"/>
                <a:cs typeface="Arial MT"/>
              </a:rPr>
              <a:t>all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65" dirty="0">
                <a:latin typeface="Arial MT"/>
                <a:cs typeface="Arial MT"/>
              </a:rPr>
              <a:t>column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80" dirty="0">
                <a:latin typeface="Arial MT"/>
                <a:cs typeface="Arial MT"/>
              </a:rPr>
              <a:t>names </a:t>
            </a:r>
            <a:r>
              <a:rPr sz="2600" spc="195" dirty="0">
                <a:latin typeface="Arial MT"/>
                <a:cs typeface="Arial MT"/>
              </a:rPr>
              <a:t>from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50" dirty="0">
                <a:latin typeface="Arial MT"/>
                <a:cs typeface="Arial MT"/>
              </a:rPr>
              <a:t>HTML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14" dirty="0">
                <a:latin typeface="Arial MT"/>
                <a:cs typeface="Arial MT"/>
              </a:rPr>
              <a:t>table </a:t>
            </a:r>
            <a:r>
              <a:rPr sz="2600" spc="105" dirty="0">
                <a:latin typeface="Arial MT"/>
                <a:cs typeface="Arial MT"/>
              </a:rPr>
              <a:t>header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344505" y="4436300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235678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7" y="2961"/>
                </a:lnTo>
                <a:lnTo>
                  <a:pt x="277104" y="7175"/>
                </a:lnTo>
                <a:lnTo>
                  <a:pt x="239318" y="14122"/>
                </a:lnTo>
                <a:lnTo>
                  <a:pt x="158604" y="47213"/>
                </a:lnTo>
                <a:lnTo>
                  <a:pt x="115134" y="77717"/>
                </a:lnTo>
                <a:lnTo>
                  <a:pt x="77715" y="115137"/>
                </a:lnTo>
                <a:lnTo>
                  <a:pt x="47210" y="158608"/>
                </a:lnTo>
                <a:lnTo>
                  <a:pt x="24482" y="207269"/>
                </a:lnTo>
                <a:lnTo>
                  <a:pt x="7173" y="277108"/>
                </a:lnTo>
                <a:lnTo>
                  <a:pt x="2960" y="321439"/>
                </a:lnTo>
                <a:lnTo>
                  <a:pt x="797" y="373137"/>
                </a:lnTo>
                <a:lnTo>
                  <a:pt x="0" y="433018"/>
                </a:lnTo>
                <a:lnTo>
                  <a:pt x="0" y="2808301"/>
                </a:lnTo>
                <a:lnTo>
                  <a:pt x="797" y="2868182"/>
                </a:lnTo>
                <a:lnTo>
                  <a:pt x="2960" y="2919879"/>
                </a:lnTo>
                <a:lnTo>
                  <a:pt x="7173" y="2964210"/>
                </a:lnTo>
                <a:lnTo>
                  <a:pt x="14119" y="3001994"/>
                </a:lnTo>
                <a:lnTo>
                  <a:pt x="47210" y="3082710"/>
                </a:lnTo>
                <a:lnTo>
                  <a:pt x="77715" y="3126181"/>
                </a:lnTo>
                <a:lnTo>
                  <a:pt x="115134" y="3163600"/>
                </a:lnTo>
                <a:lnTo>
                  <a:pt x="158604" y="3194105"/>
                </a:lnTo>
                <a:lnTo>
                  <a:pt x="207262" y="3216832"/>
                </a:lnTo>
                <a:lnTo>
                  <a:pt x="277104" y="3234144"/>
                </a:lnTo>
                <a:lnTo>
                  <a:pt x="321437" y="3238358"/>
                </a:lnTo>
                <a:lnTo>
                  <a:pt x="373136" y="3240522"/>
                </a:lnTo>
                <a:lnTo>
                  <a:pt x="433018" y="3241319"/>
                </a:lnTo>
                <a:lnTo>
                  <a:pt x="3235678" y="3241319"/>
                </a:lnTo>
                <a:lnTo>
                  <a:pt x="3295560" y="3240522"/>
                </a:lnTo>
                <a:lnTo>
                  <a:pt x="3347258" y="3238358"/>
                </a:lnTo>
                <a:lnTo>
                  <a:pt x="3391589" y="3234144"/>
                </a:lnTo>
                <a:lnTo>
                  <a:pt x="3429372" y="3227196"/>
                </a:lnTo>
                <a:lnTo>
                  <a:pt x="3510087" y="3194105"/>
                </a:lnTo>
                <a:lnTo>
                  <a:pt x="3553560" y="3163600"/>
                </a:lnTo>
                <a:lnTo>
                  <a:pt x="3590980" y="3126181"/>
                </a:lnTo>
                <a:lnTo>
                  <a:pt x="3621486" y="3082710"/>
                </a:lnTo>
                <a:lnTo>
                  <a:pt x="3644214" y="3034049"/>
                </a:lnTo>
                <a:lnTo>
                  <a:pt x="3661523" y="2964210"/>
                </a:lnTo>
                <a:lnTo>
                  <a:pt x="3665736" y="2919879"/>
                </a:lnTo>
                <a:lnTo>
                  <a:pt x="3667900" y="2868182"/>
                </a:lnTo>
                <a:lnTo>
                  <a:pt x="3668697" y="2808301"/>
                </a:lnTo>
                <a:lnTo>
                  <a:pt x="3668697" y="433018"/>
                </a:lnTo>
                <a:lnTo>
                  <a:pt x="3667900" y="373137"/>
                </a:lnTo>
                <a:lnTo>
                  <a:pt x="3665736" y="321439"/>
                </a:lnTo>
                <a:lnTo>
                  <a:pt x="3661523" y="277108"/>
                </a:lnTo>
                <a:lnTo>
                  <a:pt x="3654577" y="239324"/>
                </a:lnTo>
                <a:lnTo>
                  <a:pt x="3621486" y="158608"/>
                </a:lnTo>
                <a:lnTo>
                  <a:pt x="3590980" y="115137"/>
                </a:lnTo>
                <a:lnTo>
                  <a:pt x="3553560" y="77717"/>
                </a:lnTo>
                <a:lnTo>
                  <a:pt x="3510087" y="47213"/>
                </a:lnTo>
                <a:lnTo>
                  <a:pt x="3461424" y="24486"/>
                </a:lnTo>
                <a:lnTo>
                  <a:pt x="3391589" y="7175"/>
                </a:lnTo>
                <a:lnTo>
                  <a:pt x="3347258" y="2961"/>
                </a:lnTo>
                <a:lnTo>
                  <a:pt x="3295560" y="797"/>
                </a:lnTo>
                <a:lnTo>
                  <a:pt x="323567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645105" y="5381745"/>
            <a:ext cx="3067685" cy="1344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41020" marR="5080" indent="-528955">
              <a:lnSpc>
                <a:spcPct val="111000"/>
              </a:lnSpc>
              <a:spcBef>
                <a:spcPts val="90"/>
              </a:spcBef>
            </a:pPr>
            <a:r>
              <a:rPr sz="2600" spc="150" dirty="0">
                <a:latin typeface="Arial MT"/>
                <a:cs typeface="Arial MT"/>
              </a:rPr>
              <a:t>Collecting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00" dirty="0">
                <a:latin typeface="Arial MT"/>
                <a:cs typeface="Arial MT"/>
              </a:rPr>
              <a:t>data </a:t>
            </a:r>
            <a:r>
              <a:rPr sz="2600" spc="165" dirty="0">
                <a:latin typeface="Arial MT"/>
                <a:cs typeface="Arial MT"/>
              </a:rPr>
              <a:t>by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14" dirty="0">
                <a:latin typeface="Arial MT"/>
                <a:cs typeface="Arial MT"/>
              </a:rPr>
              <a:t>parsing </a:t>
            </a:r>
            <a:r>
              <a:rPr sz="2600" spc="50" dirty="0">
                <a:latin typeface="Arial MT"/>
                <a:cs typeface="Arial MT"/>
              </a:rPr>
              <a:t>HTML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05" dirty="0">
                <a:latin typeface="Arial MT"/>
                <a:cs typeface="Arial MT"/>
              </a:rPr>
              <a:t>tables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588272" y="6600304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198946" y="0"/>
                </a:moveTo>
                <a:lnTo>
                  <a:pt x="469732" y="0"/>
                </a:lnTo>
                <a:lnTo>
                  <a:pt x="404774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6" y="15320"/>
                </a:lnTo>
                <a:lnTo>
                  <a:pt x="180487" y="46497"/>
                </a:lnTo>
                <a:lnTo>
                  <a:pt x="139933" y="72398"/>
                </a:lnTo>
                <a:lnTo>
                  <a:pt x="103724" y="103725"/>
                </a:lnTo>
                <a:lnTo>
                  <a:pt x="72398" y="139936"/>
                </a:lnTo>
                <a:lnTo>
                  <a:pt x="46499" y="180489"/>
                </a:lnTo>
                <a:lnTo>
                  <a:pt x="26566" y="224844"/>
                </a:lnTo>
                <a:lnTo>
                  <a:pt x="7784" y="300604"/>
                </a:lnTo>
                <a:lnTo>
                  <a:pt x="3212" y="348695"/>
                </a:lnTo>
                <a:lnTo>
                  <a:pt x="864" y="404775"/>
                </a:lnTo>
                <a:lnTo>
                  <a:pt x="0" y="469734"/>
                </a:lnTo>
                <a:lnTo>
                  <a:pt x="0" y="2771567"/>
                </a:lnTo>
                <a:lnTo>
                  <a:pt x="864" y="2836526"/>
                </a:lnTo>
                <a:lnTo>
                  <a:pt x="3212" y="2892606"/>
                </a:lnTo>
                <a:lnTo>
                  <a:pt x="7784" y="2940696"/>
                </a:lnTo>
                <a:lnTo>
                  <a:pt x="15322" y="2981684"/>
                </a:lnTo>
                <a:lnTo>
                  <a:pt x="46499" y="3060812"/>
                </a:lnTo>
                <a:lnTo>
                  <a:pt x="72398" y="3101365"/>
                </a:lnTo>
                <a:lnTo>
                  <a:pt x="103724" y="3137576"/>
                </a:lnTo>
                <a:lnTo>
                  <a:pt x="139933" y="3168902"/>
                </a:lnTo>
                <a:lnTo>
                  <a:pt x="180487" y="3194803"/>
                </a:lnTo>
                <a:lnTo>
                  <a:pt x="224843" y="3214737"/>
                </a:lnTo>
                <a:lnTo>
                  <a:pt x="300604" y="3233517"/>
                </a:lnTo>
                <a:lnTo>
                  <a:pt x="348694" y="3238088"/>
                </a:lnTo>
                <a:lnTo>
                  <a:pt x="404774" y="3240436"/>
                </a:lnTo>
                <a:lnTo>
                  <a:pt x="469732" y="3241301"/>
                </a:lnTo>
                <a:lnTo>
                  <a:pt x="3198946" y="3241301"/>
                </a:lnTo>
                <a:lnTo>
                  <a:pt x="3263905" y="3240436"/>
                </a:lnTo>
                <a:lnTo>
                  <a:pt x="3319987" y="3238088"/>
                </a:lnTo>
                <a:lnTo>
                  <a:pt x="3368077" y="3233517"/>
                </a:lnTo>
                <a:lnTo>
                  <a:pt x="3409064" y="3225980"/>
                </a:lnTo>
                <a:lnTo>
                  <a:pt x="3488191" y="3194803"/>
                </a:lnTo>
                <a:lnTo>
                  <a:pt x="3528746" y="3168902"/>
                </a:lnTo>
                <a:lnTo>
                  <a:pt x="3564958" y="3137576"/>
                </a:lnTo>
                <a:lnTo>
                  <a:pt x="3596286" y="3101365"/>
                </a:lnTo>
                <a:lnTo>
                  <a:pt x="3622187" y="3060812"/>
                </a:lnTo>
                <a:lnTo>
                  <a:pt x="3642121" y="3016456"/>
                </a:lnTo>
                <a:lnTo>
                  <a:pt x="3660903" y="2940696"/>
                </a:lnTo>
                <a:lnTo>
                  <a:pt x="3665475" y="2892606"/>
                </a:lnTo>
                <a:lnTo>
                  <a:pt x="3667823" y="2836526"/>
                </a:lnTo>
                <a:lnTo>
                  <a:pt x="3668688" y="2771567"/>
                </a:lnTo>
                <a:lnTo>
                  <a:pt x="3668688" y="469734"/>
                </a:lnTo>
                <a:lnTo>
                  <a:pt x="3667823" y="404775"/>
                </a:lnTo>
                <a:lnTo>
                  <a:pt x="3665475" y="348695"/>
                </a:lnTo>
                <a:lnTo>
                  <a:pt x="3660903" y="300604"/>
                </a:lnTo>
                <a:lnTo>
                  <a:pt x="3653366" y="259617"/>
                </a:lnTo>
                <a:lnTo>
                  <a:pt x="3622187" y="180489"/>
                </a:lnTo>
                <a:lnTo>
                  <a:pt x="3596286" y="139936"/>
                </a:lnTo>
                <a:lnTo>
                  <a:pt x="3564958" y="103725"/>
                </a:lnTo>
                <a:lnTo>
                  <a:pt x="3528746" y="72398"/>
                </a:lnTo>
                <a:lnTo>
                  <a:pt x="3488191" y="46497"/>
                </a:lnTo>
                <a:lnTo>
                  <a:pt x="3443834" y="26563"/>
                </a:lnTo>
                <a:lnTo>
                  <a:pt x="3368077" y="7783"/>
                </a:lnTo>
                <a:lnTo>
                  <a:pt x="3319987" y="3212"/>
                </a:lnTo>
                <a:lnTo>
                  <a:pt x="3263905" y="864"/>
                </a:lnTo>
                <a:lnTo>
                  <a:pt x="3198946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963258" y="7545740"/>
            <a:ext cx="2919095" cy="1344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4610" marR="5080" indent="-42545" algn="just">
              <a:lnSpc>
                <a:spcPct val="111000"/>
              </a:lnSpc>
              <a:spcBef>
                <a:spcPts val="90"/>
              </a:spcBef>
            </a:pPr>
            <a:r>
              <a:rPr sz="2600" spc="150" dirty="0">
                <a:latin typeface="Arial MT"/>
                <a:cs typeface="Arial MT"/>
              </a:rPr>
              <a:t>Constructing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100" dirty="0">
                <a:latin typeface="Arial MT"/>
                <a:cs typeface="Arial MT"/>
              </a:rPr>
              <a:t>data </a:t>
            </a:r>
            <a:r>
              <a:rPr sz="2600" spc="145" dirty="0">
                <a:latin typeface="Arial MT"/>
                <a:cs typeface="Arial MT"/>
              </a:rPr>
              <a:t>we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70" dirty="0">
                <a:latin typeface="Arial MT"/>
                <a:cs typeface="Arial MT"/>
              </a:rPr>
              <a:t>have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40" dirty="0">
                <a:latin typeface="Arial MT"/>
                <a:cs typeface="Arial MT"/>
              </a:rPr>
              <a:t>obtained </a:t>
            </a:r>
            <a:r>
              <a:rPr sz="2600" spc="165" dirty="0">
                <a:latin typeface="Arial MT"/>
                <a:cs typeface="Arial MT"/>
              </a:rPr>
              <a:t>into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50" dirty="0">
                <a:latin typeface="Arial MT"/>
                <a:cs typeface="Arial MT"/>
              </a:rPr>
              <a:t>dictionary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32032" y="6600304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198950" y="0"/>
                </a:moveTo>
                <a:lnTo>
                  <a:pt x="469733" y="0"/>
                </a:lnTo>
                <a:lnTo>
                  <a:pt x="404775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7" y="15320"/>
                </a:lnTo>
                <a:lnTo>
                  <a:pt x="180489" y="46497"/>
                </a:lnTo>
                <a:lnTo>
                  <a:pt x="139935" y="72398"/>
                </a:lnTo>
                <a:lnTo>
                  <a:pt x="103724" y="103725"/>
                </a:lnTo>
                <a:lnTo>
                  <a:pt x="72398" y="139936"/>
                </a:lnTo>
                <a:lnTo>
                  <a:pt x="46497" y="180489"/>
                </a:lnTo>
                <a:lnTo>
                  <a:pt x="26563" y="224844"/>
                </a:lnTo>
                <a:lnTo>
                  <a:pt x="7783" y="300604"/>
                </a:lnTo>
                <a:lnTo>
                  <a:pt x="3212" y="348695"/>
                </a:lnTo>
                <a:lnTo>
                  <a:pt x="864" y="404775"/>
                </a:lnTo>
                <a:lnTo>
                  <a:pt x="0" y="469734"/>
                </a:lnTo>
                <a:lnTo>
                  <a:pt x="0" y="2771567"/>
                </a:lnTo>
                <a:lnTo>
                  <a:pt x="864" y="2836526"/>
                </a:lnTo>
                <a:lnTo>
                  <a:pt x="3212" y="2892606"/>
                </a:lnTo>
                <a:lnTo>
                  <a:pt x="7783" y="2940696"/>
                </a:lnTo>
                <a:lnTo>
                  <a:pt x="15320" y="2981684"/>
                </a:lnTo>
                <a:lnTo>
                  <a:pt x="46497" y="3060812"/>
                </a:lnTo>
                <a:lnTo>
                  <a:pt x="72398" y="3101365"/>
                </a:lnTo>
                <a:lnTo>
                  <a:pt x="103724" y="3137576"/>
                </a:lnTo>
                <a:lnTo>
                  <a:pt x="139935" y="3168902"/>
                </a:lnTo>
                <a:lnTo>
                  <a:pt x="180489" y="3194803"/>
                </a:lnTo>
                <a:lnTo>
                  <a:pt x="224844" y="3214737"/>
                </a:lnTo>
                <a:lnTo>
                  <a:pt x="300604" y="3233517"/>
                </a:lnTo>
                <a:lnTo>
                  <a:pt x="348694" y="3238088"/>
                </a:lnTo>
                <a:lnTo>
                  <a:pt x="404775" y="3240436"/>
                </a:lnTo>
                <a:lnTo>
                  <a:pt x="469733" y="3241301"/>
                </a:lnTo>
                <a:lnTo>
                  <a:pt x="3198950" y="3241301"/>
                </a:lnTo>
                <a:lnTo>
                  <a:pt x="3263908" y="3240436"/>
                </a:lnTo>
                <a:lnTo>
                  <a:pt x="3319989" y="3238088"/>
                </a:lnTo>
                <a:lnTo>
                  <a:pt x="3368079" y="3233517"/>
                </a:lnTo>
                <a:lnTo>
                  <a:pt x="3409066" y="3225980"/>
                </a:lnTo>
                <a:lnTo>
                  <a:pt x="3488194" y="3194803"/>
                </a:lnTo>
                <a:lnTo>
                  <a:pt x="3528747" y="3168902"/>
                </a:lnTo>
                <a:lnTo>
                  <a:pt x="3564958" y="3137576"/>
                </a:lnTo>
                <a:lnTo>
                  <a:pt x="3596285" y="3101365"/>
                </a:lnTo>
                <a:lnTo>
                  <a:pt x="3622186" y="3060812"/>
                </a:lnTo>
                <a:lnTo>
                  <a:pt x="3642120" y="3016456"/>
                </a:lnTo>
                <a:lnTo>
                  <a:pt x="3660900" y="2940696"/>
                </a:lnTo>
                <a:lnTo>
                  <a:pt x="3665471" y="2892606"/>
                </a:lnTo>
                <a:lnTo>
                  <a:pt x="3667819" y="2836526"/>
                </a:lnTo>
                <a:lnTo>
                  <a:pt x="3668684" y="2771567"/>
                </a:lnTo>
                <a:lnTo>
                  <a:pt x="3668684" y="469734"/>
                </a:lnTo>
                <a:lnTo>
                  <a:pt x="3667819" y="404775"/>
                </a:lnTo>
                <a:lnTo>
                  <a:pt x="3665471" y="348695"/>
                </a:lnTo>
                <a:lnTo>
                  <a:pt x="3660900" y="300604"/>
                </a:lnTo>
                <a:lnTo>
                  <a:pt x="3653363" y="259617"/>
                </a:lnTo>
                <a:lnTo>
                  <a:pt x="3622186" y="180489"/>
                </a:lnTo>
                <a:lnTo>
                  <a:pt x="3596285" y="139936"/>
                </a:lnTo>
                <a:lnTo>
                  <a:pt x="3564958" y="103725"/>
                </a:lnTo>
                <a:lnTo>
                  <a:pt x="3528747" y="72398"/>
                </a:lnTo>
                <a:lnTo>
                  <a:pt x="3488194" y="46497"/>
                </a:lnTo>
                <a:lnTo>
                  <a:pt x="3443839" y="26563"/>
                </a:lnTo>
                <a:lnTo>
                  <a:pt x="3368079" y="7783"/>
                </a:lnTo>
                <a:lnTo>
                  <a:pt x="3319989" y="3212"/>
                </a:lnTo>
                <a:lnTo>
                  <a:pt x="3263908" y="864"/>
                </a:lnTo>
                <a:lnTo>
                  <a:pt x="319895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962082" y="7755731"/>
            <a:ext cx="3408679" cy="905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9545" marR="5080" indent="-157480">
              <a:lnSpc>
                <a:spcPct val="111000"/>
              </a:lnSpc>
              <a:spcBef>
                <a:spcPts val="90"/>
              </a:spcBef>
            </a:pPr>
            <a:r>
              <a:rPr sz="2600" spc="130" dirty="0">
                <a:latin typeface="Arial MT"/>
                <a:cs typeface="Arial MT"/>
              </a:rPr>
              <a:t>Creating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20" dirty="0">
                <a:latin typeface="Arial MT"/>
                <a:cs typeface="Arial MT"/>
              </a:rPr>
              <a:t>dataframe </a:t>
            </a:r>
            <a:r>
              <a:rPr sz="2600" spc="195" dirty="0">
                <a:latin typeface="Arial MT"/>
                <a:cs typeface="Arial MT"/>
              </a:rPr>
              <a:t>from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50" dirty="0">
                <a:latin typeface="Arial MT"/>
                <a:cs typeface="Arial MT"/>
              </a:rPr>
              <a:t>dictionary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75793" y="6600304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198950" y="0"/>
                </a:moveTo>
                <a:lnTo>
                  <a:pt x="469733" y="0"/>
                </a:lnTo>
                <a:lnTo>
                  <a:pt x="404775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7" y="15320"/>
                </a:lnTo>
                <a:lnTo>
                  <a:pt x="180489" y="46497"/>
                </a:lnTo>
                <a:lnTo>
                  <a:pt x="139935" y="72398"/>
                </a:lnTo>
                <a:lnTo>
                  <a:pt x="103724" y="103725"/>
                </a:lnTo>
                <a:lnTo>
                  <a:pt x="72398" y="139936"/>
                </a:lnTo>
                <a:lnTo>
                  <a:pt x="46497" y="180489"/>
                </a:lnTo>
                <a:lnTo>
                  <a:pt x="26563" y="224844"/>
                </a:lnTo>
                <a:lnTo>
                  <a:pt x="7783" y="300604"/>
                </a:lnTo>
                <a:lnTo>
                  <a:pt x="3212" y="348695"/>
                </a:lnTo>
                <a:lnTo>
                  <a:pt x="864" y="404775"/>
                </a:lnTo>
                <a:lnTo>
                  <a:pt x="0" y="469734"/>
                </a:lnTo>
                <a:lnTo>
                  <a:pt x="0" y="2771567"/>
                </a:lnTo>
                <a:lnTo>
                  <a:pt x="864" y="2836526"/>
                </a:lnTo>
                <a:lnTo>
                  <a:pt x="3212" y="2892606"/>
                </a:lnTo>
                <a:lnTo>
                  <a:pt x="7783" y="2940696"/>
                </a:lnTo>
                <a:lnTo>
                  <a:pt x="15320" y="2981684"/>
                </a:lnTo>
                <a:lnTo>
                  <a:pt x="46497" y="3060812"/>
                </a:lnTo>
                <a:lnTo>
                  <a:pt x="72398" y="3101365"/>
                </a:lnTo>
                <a:lnTo>
                  <a:pt x="103724" y="3137576"/>
                </a:lnTo>
                <a:lnTo>
                  <a:pt x="139935" y="3168902"/>
                </a:lnTo>
                <a:lnTo>
                  <a:pt x="180489" y="3194803"/>
                </a:lnTo>
                <a:lnTo>
                  <a:pt x="224844" y="3214737"/>
                </a:lnTo>
                <a:lnTo>
                  <a:pt x="300604" y="3233517"/>
                </a:lnTo>
                <a:lnTo>
                  <a:pt x="348694" y="3238088"/>
                </a:lnTo>
                <a:lnTo>
                  <a:pt x="404775" y="3240436"/>
                </a:lnTo>
                <a:lnTo>
                  <a:pt x="469733" y="3241301"/>
                </a:lnTo>
                <a:lnTo>
                  <a:pt x="3198950" y="3241301"/>
                </a:lnTo>
                <a:lnTo>
                  <a:pt x="3263908" y="3240436"/>
                </a:lnTo>
                <a:lnTo>
                  <a:pt x="3319989" y="3238088"/>
                </a:lnTo>
                <a:lnTo>
                  <a:pt x="3368079" y="3233517"/>
                </a:lnTo>
                <a:lnTo>
                  <a:pt x="3409066" y="3225980"/>
                </a:lnTo>
                <a:lnTo>
                  <a:pt x="3488194" y="3194803"/>
                </a:lnTo>
                <a:lnTo>
                  <a:pt x="3528747" y="3168902"/>
                </a:lnTo>
                <a:lnTo>
                  <a:pt x="3564958" y="3137576"/>
                </a:lnTo>
                <a:lnTo>
                  <a:pt x="3596285" y="3101365"/>
                </a:lnTo>
                <a:lnTo>
                  <a:pt x="3622186" y="3060812"/>
                </a:lnTo>
                <a:lnTo>
                  <a:pt x="3642120" y="3016456"/>
                </a:lnTo>
                <a:lnTo>
                  <a:pt x="3660900" y="2940696"/>
                </a:lnTo>
                <a:lnTo>
                  <a:pt x="3665471" y="2892606"/>
                </a:lnTo>
                <a:lnTo>
                  <a:pt x="3667819" y="2836526"/>
                </a:lnTo>
                <a:lnTo>
                  <a:pt x="3668684" y="2771567"/>
                </a:lnTo>
                <a:lnTo>
                  <a:pt x="3668684" y="469734"/>
                </a:lnTo>
                <a:lnTo>
                  <a:pt x="3667819" y="404775"/>
                </a:lnTo>
                <a:lnTo>
                  <a:pt x="3665471" y="348695"/>
                </a:lnTo>
                <a:lnTo>
                  <a:pt x="3660900" y="300604"/>
                </a:lnTo>
                <a:lnTo>
                  <a:pt x="3653363" y="259617"/>
                </a:lnTo>
                <a:lnTo>
                  <a:pt x="3622186" y="180489"/>
                </a:lnTo>
                <a:lnTo>
                  <a:pt x="3596285" y="139936"/>
                </a:lnTo>
                <a:lnTo>
                  <a:pt x="3564958" y="103725"/>
                </a:lnTo>
                <a:lnTo>
                  <a:pt x="3528747" y="72398"/>
                </a:lnTo>
                <a:lnTo>
                  <a:pt x="3488194" y="46497"/>
                </a:lnTo>
                <a:lnTo>
                  <a:pt x="3443839" y="26563"/>
                </a:lnTo>
                <a:lnTo>
                  <a:pt x="3368079" y="7783"/>
                </a:lnTo>
                <a:lnTo>
                  <a:pt x="3319989" y="3212"/>
                </a:lnTo>
                <a:lnTo>
                  <a:pt x="3263908" y="864"/>
                </a:lnTo>
                <a:lnTo>
                  <a:pt x="319895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419784" y="7755731"/>
            <a:ext cx="2981325" cy="9055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44880" marR="5080" indent="-932815">
              <a:lnSpc>
                <a:spcPct val="111000"/>
              </a:lnSpc>
              <a:spcBef>
                <a:spcPts val="90"/>
              </a:spcBef>
            </a:pPr>
            <a:r>
              <a:rPr sz="2600" spc="140" dirty="0">
                <a:latin typeface="Arial MT"/>
                <a:cs typeface="Arial MT"/>
              </a:rPr>
              <a:t>Exporting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00" dirty="0">
                <a:latin typeface="Arial MT"/>
                <a:cs typeface="Arial MT"/>
              </a:rPr>
              <a:t>data </a:t>
            </a:r>
            <a:r>
              <a:rPr sz="2600" spc="195" dirty="0">
                <a:latin typeface="Arial MT"/>
                <a:cs typeface="Arial MT"/>
              </a:rPr>
              <a:t>to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CSV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36148" y="10310983"/>
            <a:ext cx="9245102" cy="46871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u="sng" spc="11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GitHub</a:t>
            </a:r>
            <a:r>
              <a:rPr sz="2950" u="sng" spc="-3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spc="-7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URL:</a:t>
            </a:r>
            <a:r>
              <a:rPr sz="2950" u="sng" spc="-25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950" u="sng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Data Collection with Web </a:t>
            </a:r>
            <a:r>
              <a:rPr lang="en-US" sz="2950" u="sng" dirty="0" err="1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Scraping.ipynb</a:t>
            </a:r>
            <a:endParaRPr sz="2950" dirty="0">
              <a:latin typeface="Arial MT"/>
              <a:cs typeface="Arial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596148" y="3454547"/>
            <a:ext cx="887730" cy="846455"/>
            <a:chOff x="9596148" y="3454547"/>
            <a:chExt cx="887730" cy="846455"/>
          </a:xfrm>
        </p:grpSpPr>
        <p:sp>
          <p:nvSpPr>
            <p:cNvPr id="19" name="object 19"/>
            <p:cNvSpPr/>
            <p:nvPr/>
          </p:nvSpPr>
          <p:spPr>
            <a:xfrm>
              <a:off x="9622325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4" y="0"/>
                  </a:moveTo>
                  <a:lnTo>
                    <a:pt x="469134" y="269861"/>
                  </a:lnTo>
                  <a:lnTo>
                    <a:pt x="0" y="269861"/>
                  </a:lnTo>
                  <a:lnTo>
                    <a:pt x="0" y="523848"/>
                  </a:lnTo>
                  <a:lnTo>
                    <a:pt x="469134" y="523848"/>
                  </a:lnTo>
                  <a:lnTo>
                    <a:pt x="469134" y="793710"/>
                  </a:lnTo>
                  <a:lnTo>
                    <a:pt x="834912" y="396855"/>
                  </a:lnTo>
                  <a:lnTo>
                    <a:pt x="469134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622325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523849"/>
                  </a:moveTo>
                  <a:lnTo>
                    <a:pt x="469133" y="793711"/>
                  </a:lnTo>
                  <a:lnTo>
                    <a:pt x="834912" y="396855"/>
                  </a:lnTo>
                  <a:lnTo>
                    <a:pt x="469133" y="0"/>
                  </a:lnTo>
                  <a:lnTo>
                    <a:pt x="469133" y="269861"/>
                  </a:lnTo>
                  <a:lnTo>
                    <a:pt x="0" y="269861"/>
                  </a:lnTo>
                  <a:lnTo>
                    <a:pt x="0" y="523849"/>
                  </a:lnTo>
                  <a:lnTo>
                    <a:pt x="469133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4839910" y="3454547"/>
            <a:ext cx="887730" cy="846455"/>
            <a:chOff x="4839910" y="3454547"/>
            <a:chExt cx="887730" cy="846455"/>
          </a:xfrm>
        </p:grpSpPr>
        <p:sp>
          <p:nvSpPr>
            <p:cNvPr id="22" name="object 22"/>
            <p:cNvSpPr/>
            <p:nvPr/>
          </p:nvSpPr>
          <p:spPr>
            <a:xfrm>
              <a:off x="486608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0"/>
                  </a:moveTo>
                  <a:lnTo>
                    <a:pt x="469133" y="269860"/>
                  </a:lnTo>
                  <a:lnTo>
                    <a:pt x="0" y="269860"/>
                  </a:lnTo>
                  <a:lnTo>
                    <a:pt x="0" y="523848"/>
                  </a:lnTo>
                  <a:lnTo>
                    <a:pt x="469133" y="523848"/>
                  </a:lnTo>
                  <a:lnTo>
                    <a:pt x="469133" y="793710"/>
                  </a:lnTo>
                  <a:lnTo>
                    <a:pt x="834912" y="396854"/>
                  </a:lnTo>
                  <a:lnTo>
                    <a:pt x="469133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6608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523849"/>
                  </a:moveTo>
                  <a:lnTo>
                    <a:pt x="469133" y="793711"/>
                  </a:lnTo>
                  <a:lnTo>
                    <a:pt x="834912" y="396855"/>
                  </a:lnTo>
                  <a:lnTo>
                    <a:pt x="469133" y="0"/>
                  </a:lnTo>
                  <a:lnTo>
                    <a:pt x="469133" y="269861"/>
                  </a:lnTo>
                  <a:lnTo>
                    <a:pt x="0" y="269861"/>
                  </a:lnTo>
                  <a:lnTo>
                    <a:pt x="0" y="523849"/>
                  </a:lnTo>
                  <a:lnTo>
                    <a:pt x="469133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4607083" y="3501159"/>
            <a:ext cx="774065" cy="755650"/>
            <a:chOff x="14607083" y="3501159"/>
            <a:chExt cx="774065" cy="755650"/>
          </a:xfrm>
        </p:grpSpPr>
        <p:sp>
          <p:nvSpPr>
            <p:cNvPr id="25" name="object 25"/>
            <p:cNvSpPr/>
            <p:nvPr/>
          </p:nvSpPr>
          <p:spPr>
            <a:xfrm>
              <a:off x="14633261" y="3527337"/>
              <a:ext cx="721360" cy="702945"/>
            </a:xfrm>
            <a:custGeom>
              <a:avLst/>
              <a:gdLst/>
              <a:ahLst/>
              <a:cxnLst/>
              <a:rect l="l" t="t" r="r" b="b"/>
              <a:pathLst>
                <a:path w="721359" h="702945">
                  <a:moveTo>
                    <a:pt x="163262" y="0"/>
                  </a:moveTo>
                  <a:lnTo>
                    <a:pt x="0" y="194565"/>
                  </a:lnTo>
                  <a:lnTo>
                    <a:pt x="359381" y="496118"/>
                  </a:lnTo>
                  <a:lnTo>
                    <a:pt x="185921" y="702845"/>
                  </a:lnTo>
                  <a:lnTo>
                    <a:pt x="721213" y="633954"/>
                  </a:lnTo>
                  <a:lnTo>
                    <a:pt x="696104" y="94827"/>
                  </a:lnTo>
                  <a:lnTo>
                    <a:pt x="522643" y="301553"/>
                  </a:lnTo>
                  <a:lnTo>
                    <a:pt x="16326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633260" y="3527337"/>
              <a:ext cx="721360" cy="702945"/>
            </a:xfrm>
            <a:custGeom>
              <a:avLst/>
              <a:gdLst/>
              <a:ahLst/>
              <a:cxnLst/>
              <a:rect l="l" t="t" r="r" b="b"/>
              <a:pathLst>
                <a:path w="721359" h="702945">
                  <a:moveTo>
                    <a:pt x="359377" y="496119"/>
                  </a:moveTo>
                  <a:lnTo>
                    <a:pt x="185913" y="702845"/>
                  </a:lnTo>
                  <a:lnTo>
                    <a:pt x="721210" y="633954"/>
                  </a:lnTo>
                  <a:lnTo>
                    <a:pt x="696101" y="94827"/>
                  </a:lnTo>
                  <a:lnTo>
                    <a:pt x="522637" y="301553"/>
                  </a:lnTo>
                  <a:lnTo>
                    <a:pt x="163260" y="0"/>
                  </a:lnTo>
                  <a:lnTo>
                    <a:pt x="0" y="194565"/>
                  </a:lnTo>
                  <a:lnTo>
                    <a:pt x="359377" y="49611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4839910" y="7797922"/>
            <a:ext cx="887730" cy="846455"/>
            <a:chOff x="4839910" y="7797922"/>
            <a:chExt cx="887730" cy="846455"/>
          </a:xfrm>
        </p:grpSpPr>
        <p:sp>
          <p:nvSpPr>
            <p:cNvPr id="28" name="object 28"/>
            <p:cNvSpPr/>
            <p:nvPr/>
          </p:nvSpPr>
          <p:spPr>
            <a:xfrm>
              <a:off x="4866087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0"/>
                  </a:moveTo>
                  <a:lnTo>
                    <a:pt x="0" y="396855"/>
                  </a:lnTo>
                  <a:lnTo>
                    <a:pt x="365778" y="793711"/>
                  </a:lnTo>
                  <a:lnTo>
                    <a:pt x="365778" y="523850"/>
                  </a:lnTo>
                  <a:lnTo>
                    <a:pt x="834912" y="523850"/>
                  </a:lnTo>
                  <a:lnTo>
                    <a:pt x="834912" y="269861"/>
                  </a:lnTo>
                  <a:lnTo>
                    <a:pt x="365778" y="269861"/>
                  </a:lnTo>
                  <a:lnTo>
                    <a:pt x="36577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66087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523849"/>
                  </a:moveTo>
                  <a:lnTo>
                    <a:pt x="365778" y="793711"/>
                  </a:lnTo>
                  <a:lnTo>
                    <a:pt x="0" y="396855"/>
                  </a:lnTo>
                  <a:lnTo>
                    <a:pt x="365778" y="0"/>
                  </a:lnTo>
                  <a:lnTo>
                    <a:pt x="365778" y="269861"/>
                  </a:lnTo>
                  <a:lnTo>
                    <a:pt x="834912" y="269861"/>
                  </a:lnTo>
                  <a:lnTo>
                    <a:pt x="834912" y="523849"/>
                  </a:lnTo>
                  <a:lnTo>
                    <a:pt x="365778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9605572" y="7797922"/>
            <a:ext cx="887730" cy="846455"/>
            <a:chOff x="9605572" y="7797922"/>
            <a:chExt cx="887730" cy="846455"/>
          </a:xfrm>
        </p:grpSpPr>
        <p:sp>
          <p:nvSpPr>
            <p:cNvPr id="31" name="object 31"/>
            <p:cNvSpPr/>
            <p:nvPr/>
          </p:nvSpPr>
          <p:spPr>
            <a:xfrm>
              <a:off x="9631749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9" y="0"/>
                  </a:moveTo>
                  <a:lnTo>
                    <a:pt x="0" y="396855"/>
                  </a:lnTo>
                  <a:lnTo>
                    <a:pt x="365779" y="793711"/>
                  </a:lnTo>
                  <a:lnTo>
                    <a:pt x="365779" y="523850"/>
                  </a:lnTo>
                  <a:lnTo>
                    <a:pt x="834912" y="523850"/>
                  </a:lnTo>
                  <a:lnTo>
                    <a:pt x="834912" y="269861"/>
                  </a:lnTo>
                  <a:lnTo>
                    <a:pt x="365779" y="269861"/>
                  </a:lnTo>
                  <a:lnTo>
                    <a:pt x="36577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631749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523849"/>
                  </a:moveTo>
                  <a:lnTo>
                    <a:pt x="365778" y="793711"/>
                  </a:lnTo>
                  <a:lnTo>
                    <a:pt x="0" y="396855"/>
                  </a:lnTo>
                  <a:lnTo>
                    <a:pt x="365778" y="0"/>
                  </a:lnTo>
                  <a:lnTo>
                    <a:pt x="365778" y="269861"/>
                  </a:lnTo>
                  <a:lnTo>
                    <a:pt x="834912" y="269861"/>
                  </a:lnTo>
                  <a:lnTo>
                    <a:pt x="834912" y="523849"/>
                  </a:lnTo>
                  <a:lnTo>
                    <a:pt x="365778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14597476" y="7844535"/>
            <a:ext cx="774065" cy="755650"/>
            <a:chOff x="14597476" y="7844535"/>
            <a:chExt cx="774065" cy="755650"/>
          </a:xfrm>
        </p:grpSpPr>
        <p:sp>
          <p:nvSpPr>
            <p:cNvPr id="34" name="object 34"/>
            <p:cNvSpPr/>
            <p:nvPr/>
          </p:nvSpPr>
          <p:spPr>
            <a:xfrm>
              <a:off x="14623659" y="7870713"/>
              <a:ext cx="721360" cy="702945"/>
            </a:xfrm>
            <a:custGeom>
              <a:avLst/>
              <a:gdLst/>
              <a:ahLst/>
              <a:cxnLst/>
              <a:rect l="l" t="t" r="r" b="b"/>
              <a:pathLst>
                <a:path w="721359" h="702945">
                  <a:moveTo>
                    <a:pt x="557951" y="0"/>
                  </a:moveTo>
                  <a:lnTo>
                    <a:pt x="198569" y="301553"/>
                  </a:lnTo>
                  <a:lnTo>
                    <a:pt x="25109" y="94827"/>
                  </a:lnTo>
                  <a:lnTo>
                    <a:pt x="0" y="633954"/>
                  </a:lnTo>
                  <a:lnTo>
                    <a:pt x="535292" y="702845"/>
                  </a:lnTo>
                  <a:lnTo>
                    <a:pt x="361831" y="496118"/>
                  </a:lnTo>
                  <a:lnTo>
                    <a:pt x="721203" y="194565"/>
                  </a:lnTo>
                  <a:lnTo>
                    <a:pt x="557951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623653" y="7870713"/>
              <a:ext cx="721360" cy="702945"/>
            </a:xfrm>
            <a:custGeom>
              <a:avLst/>
              <a:gdLst/>
              <a:ahLst/>
              <a:cxnLst/>
              <a:rect l="l" t="t" r="r" b="b"/>
              <a:pathLst>
                <a:path w="721359" h="702945">
                  <a:moveTo>
                    <a:pt x="361832" y="496119"/>
                  </a:moveTo>
                  <a:lnTo>
                    <a:pt x="535296" y="702845"/>
                  </a:lnTo>
                  <a:lnTo>
                    <a:pt x="0" y="633954"/>
                  </a:lnTo>
                  <a:lnTo>
                    <a:pt x="25108" y="94827"/>
                  </a:lnTo>
                  <a:lnTo>
                    <a:pt x="198572" y="301553"/>
                  </a:lnTo>
                  <a:lnTo>
                    <a:pt x="557950" y="0"/>
                  </a:lnTo>
                  <a:lnTo>
                    <a:pt x="721210" y="194565"/>
                  </a:lnTo>
                  <a:lnTo>
                    <a:pt x="361832" y="49611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91909" y="1055884"/>
            <a:ext cx="5958101" cy="8382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67794" y="2212962"/>
            <a:ext cx="12082216" cy="91114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10260">
              <a:lnSpc>
                <a:spcPct val="111800"/>
              </a:lnSpc>
              <a:spcBef>
                <a:spcPts val="95"/>
              </a:spcBef>
            </a:pPr>
            <a:r>
              <a:rPr sz="2950" spc="6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55" dirty="0">
                <a:solidFill>
                  <a:srgbClr val="FFFFFF"/>
                </a:solidFill>
                <a:latin typeface="Arial MT"/>
                <a:cs typeface="Arial MT"/>
              </a:rPr>
              <a:t>set,</a:t>
            </a:r>
            <a:r>
              <a:rPr sz="29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FFFFFF"/>
                </a:solidFill>
                <a:latin typeface="Arial MT"/>
                <a:cs typeface="Arial MT"/>
              </a:rPr>
              <a:t>there</a:t>
            </a:r>
            <a:r>
              <a:rPr sz="2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9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several</a:t>
            </a:r>
            <a:r>
              <a:rPr sz="29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25" dirty="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sz="2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cases</a:t>
            </a:r>
            <a:r>
              <a:rPr sz="295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FFFFFF"/>
                </a:solidFill>
                <a:latin typeface="Arial MT"/>
                <a:cs typeface="Arial MT"/>
              </a:rPr>
              <a:t>where</a:t>
            </a:r>
            <a:r>
              <a:rPr sz="2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10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2950" spc="125" dirty="0">
                <a:solidFill>
                  <a:srgbClr val="FFFFFF"/>
                </a:solidFill>
                <a:latin typeface="Arial MT"/>
                <a:cs typeface="Arial MT"/>
              </a:rPr>
              <a:t>booster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80" dirty="0">
                <a:solidFill>
                  <a:srgbClr val="FFFFFF"/>
                </a:solidFill>
                <a:latin typeface="Arial MT"/>
                <a:cs typeface="Arial MT"/>
              </a:rPr>
              <a:t>did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6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FFFFFF"/>
                </a:solidFill>
                <a:latin typeface="Arial MT"/>
                <a:cs typeface="Arial MT"/>
              </a:rPr>
              <a:t>land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60" dirty="0">
                <a:solidFill>
                  <a:srgbClr val="FFFFFF"/>
                </a:solidFill>
                <a:latin typeface="Arial MT"/>
                <a:cs typeface="Arial MT"/>
              </a:rPr>
              <a:t>successfully.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FFFFFF"/>
                </a:solidFill>
                <a:latin typeface="Arial MT"/>
                <a:cs typeface="Arial MT"/>
              </a:rPr>
              <a:t>Sometimes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20" dirty="0">
                <a:solidFill>
                  <a:srgbClr val="FFFFFF"/>
                </a:solidFill>
                <a:latin typeface="Arial MT"/>
                <a:cs typeface="Arial MT"/>
              </a:rPr>
              <a:t>landing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was </a:t>
            </a:r>
            <a:r>
              <a:rPr sz="2950" spc="145" dirty="0">
                <a:solidFill>
                  <a:srgbClr val="FFFFFF"/>
                </a:solidFill>
                <a:latin typeface="Arial MT"/>
                <a:cs typeface="Arial MT"/>
              </a:rPr>
              <a:t>attempted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90" dirty="0">
                <a:solidFill>
                  <a:srgbClr val="FFFFFF"/>
                </a:solidFill>
                <a:latin typeface="Arial MT"/>
                <a:cs typeface="Arial MT"/>
              </a:rPr>
              <a:t>but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00" dirty="0">
                <a:solidFill>
                  <a:srgbClr val="FFFFFF"/>
                </a:solidFill>
                <a:latin typeface="Arial MT"/>
                <a:cs typeface="Arial MT"/>
              </a:rPr>
              <a:t>failed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0" dirty="0">
                <a:solidFill>
                  <a:srgbClr val="FFFFFF"/>
                </a:solidFill>
                <a:latin typeface="Arial MT"/>
                <a:cs typeface="Arial MT"/>
              </a:rPr>
              <a:t>due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8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0" dirty="0">
                <a:solidFill>
                  <a:srgbClr val="FFFFFF"/>
                </a:solidFill>
                <a:latin typeface="Arial MT"/>
                <a:cs typeface="Arial MT"/>
              </a:rPr>
              <a:t>accident;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2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80" dirty="0">
                <a:solidFill>
                  <a:srgbClr val="FFFFFF"/>
                </a:solidFill>
                <a:latin typeface="Arial MT"/>
                <a:cs typeface="Arial MT"/>
              </a:rPr>
              <a:t>example,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True </a:t>
            </a:r>
            <a:r>
              <a:rPr sz="2950" spc="85" dirty="0">
                <a:solidFill>
                  <a:srgbClr val="FFFFFF"/>
                </a:solidFill>
                <a:latin typeface="Arial MT"/>
                <a:cs typeface="Arial MT"/>
              </a:rPr>
              <a:t>Ocean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60" dirty="0">
                <a:solidFill>
                  <a:srgbClr val="FFFFFF"/>
                </a:solidFill>
                <a:latin typeface="Arial MT"/>
                <a:cs typeface="Arial MT"/>
              </a:rPr>
              <a:t>means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85" dirty="0">
                <a:solidFill>
                  <a:srgbClr val="FFFFFF"/>
                </a:solidFill>
                <a:latin typeface="Arial MT"/>
                <a:cs typeface="Arial MT"/>
              </a:rPr>
              <a:t>mission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60" dirty="0">
                <a:solidFill>
                  <a:srgbClr val="FFFFFF"/>
                </a:solidFill>
                <a:latin typeface="Arial MT"/>
                <a:cs typeface="Arial MT"/>
              </a:rPr>
              <a:t>outcome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85" dirty="0">
                <a:solidFill>
                  <a:srgbClr val="FFFFFF"/>
                </a:solidFill>
                <a:latin typeface="Arial MT"/>
                <a:cs typeface="Arial MT"/>
              </a:rPr>
              <a:t>successfully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05" dirty="0">
                <a:solidFill>
                  <a:srgbClr val="FFFFFF"/>
                </a:solidFill>
                <a:latin typeface="Arial MT"/>
                <a:cs typeface="Arial MT"/>
              </a:rPr>
              <a:t>landed </a:t>
            </a:r>
            <a:r>
              <a:rPr sz="2950" spc="18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14" dirty="0">
                <a:solidFill>
                  <a:srgbClr val="FFFFFF"/>
                </a:solidFill>
                <a:latin typeface="Arial MT"/>
                <a:cs typeface="Arial MT"/>
              </a:rPr>
              <a:t>specific</a:t>
            </a:r>
            <a:r>
              <a:rPr sz="2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20" dirty="0">
                <a:solidFill>
                  <a:srgbClr val="FFFFFF"/>
                </a:solidFill>
                <a:latin typeface="Arial MT"/>
                <a:cs typeface="Arial MT"/>
              </a:rPr>
              <a:t>region</a:t>
            </a:r>
            <a:r>
              <a:rPr sz="2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7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FFFFFF"/>
                </a:solidFill>
                <a:latin typeface="Arial MT"/>
                <a:cs typeface="Arial MT"/>
              </a:rPr>
              <a:t>ocean</a:t>
            </a:r>
            <a:r>
              <a:rPr sz="2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20" dirty="0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sz="2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FFFFFF"/>
                </a:solidFill>
                <a:latin typeface="Arial MT"/>
                <a:cs typeface="Arial MT"/>
              </a:rPr>
              <a:t>False</a:t>
            </a:r>
            <a:r>
              <a:rPr sz="2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85" dirty="0">
                <a:solidFill>
                  <a:srgbClr val="FFFFFF"/>
                </a:solidFill>
                <a:latin typeface="Arial MT"/>
                <a:cs typeface="Arial MT"/>
              </a:rPr>
              <a:t>Ocean</a:t>
            </a:r>
            <a:r>
              <a:rPr sz="2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50" dirty="0">
                <a:solidFill>
                  <a:srgbClr val="FFFFFF"/>
                </a:solidFill>
                <a:latin typeface="Arial MT"/>
                <a:cs typeface="Arial MT"/>
              </a:rPr>
              <a:t>means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85" dirty="0">
                <a:solidFill>
                  <a:srgbClr val="FFFFFF"/>
                </a:solidFill>
                <a:latin typeface="Arial MT"/>
                <a:cs typeface="Arial MT"/>
              </a:rPr>
              <a:t>mission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60" dirty="0">
                <a:solidFill>
                  <a:srgbClr val="FFFFFF"/>
                </a:solidFill>
                <a:latin typeface="Arial MT"/>
                <a:cs typeface="Arial MT"/>
              </a:rPr>
              <a:t>outcome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0" dirty="0">
                <a:solidFill>
                  <a:srgbClr val="FFFFFF"/>
                </a:solidFill>
                <a:latin typeface="Arial MT"/>
                <a:cs typeface="Arial MT"/>
              </a:rPr>
              <a:t>unsuccessfully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14" dirty="0">
                <a:solidFill>
                  <a:srgbClr val="FFFFFF"/>
                </a:solidFill>
                <a:latin typeface="Arial MT"/>
                <a:cs typeface="Arial MT"/>
              </a:rPr>
              <a:t>landed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8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FFFFFF"/>
                </a:solidFill>
                <a:latin typeface="Arial MT"/>
                <a:cs typeface="Arial MT"/>
              </a:rPr>
              <a:t>specific </a:t>
            </a:r>
            <a:r>
              <a:rPr sz="2950" spc="120" dirty="0">
                <a:solidFill>
                  <a:srgbClr val="FFFFFF"/>
                </a:solidFill>
                <a:latin typeface="Arial MT"/>
                <a:cs typeface="Arial MT"/>
              </a:rPr>
              <a:t>region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7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75" dirty="0">
                <a:solidFill>
                  <a:srgbClr val="FFFFFF"/>
                </a:solidFill>
                <a:latin typeface="Arial MT"/>
                <a:cs typeface="Arial MT"/>
              </a:rPr>
              <a:t>ocean.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True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-175" dirty="0">
                <a:solidFill>
                  <a:srgbClr val="FFFFFF"/>
                </a:solidFill>
                <a:latin typeface="Arial MT"/>
                <a:cs typeface="Arial MT"/>
              </a:rPr>
              <a:t>RTLS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60" dirty="0">
                <a:solidFill>
                  <a:srgbClr val="FFFFFF"/>
                </a:solidFill>
                <a:latin typeface="Arial MT"/>
                <a:cs typeface="Arial MT"/>
              </a:rPr>
              <a:t>means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85" dirty="0">
                <a:solidFill>
                  <a:srgbClr val="FFFFFF"/>
                </a:solidFill>
                <a:latin typeface="Arial MT"/>
                <a:cs typeface="Arial MT"/>
              </a:rPr>
              <a:t>mission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50" dirty="0">
                <a:solidFill>
                  <a:srgbClr val="FFFFFF"/>
                </a:solidFill>
                <a:latin typeface="Arial MT"/>
                <a:cs typeface="Arial MT"/>
              </a:rPr>
              <a:t>outcome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2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85" dirty="0">
                <a:solidFill>
                  <a:srgbClr val="FFFFFF"/>
                </a:solidFill>
                <a:latin typeface="Arial MT"/>
                <a:cs typeface="Arial MT"/>
              </a:rPr>
              <a:t>successfully</a:t>
            </a:r>
            <a:r>
              <a:rPr sz="2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14" dirty="0">
                <a:solidFill>
                  <a:srgbClr val="FFFFFF"/>
                </a:solidFill>
                <a:latin typeface="Arial MT"/>
                <a:cs typeface="Arial MT"/>
              </a:rPr>
              <a:t>landed</a:t>
            </a:r>
            <a:r>
              <a:rPr sz="2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8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45" dirty="0">
                <a:solidFill>
                  <a:srgbClr val="FFFFFF"/>
                </a:solidFill>
                <a:latin typeface="Arial MT"/>
                <a:cs typeface="Arial MT"/>
              </a:rPr>
              <a:t>ground</a:t>
            </a:r>
            <a:r>
              <a:rPr sz="2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0" dirty="0">
                <a:solidFill>
                  <a:srgbClr val="FFFFFF"/>
                </a:solidFill>
                <a:latin typeface="Arial MT"/>
                <a:cs typeface="Arial MT"/>
              </a:rPr>
              <a:t>pad</a:t>
            </a:r>
            <a:r>
              <a:rPr sz="2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FFFFFF"/>
                </a:solidFill>
                <a:latin typeface="Arial MT"/>
                <a:cs typeface="Arial MT"/>
              </a:rPr>
              <a:t>False</a:t>
            </a:r>
            <a:r>
              <a:rPr sz="2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-175" dirty="0">
                <a:solidFill>
                  <a:srgbClr val="FFFFFF"/>
                </a:solidFill>
                <a:latin typeface="Arial MT"/>
                <a:cs typeface="Arial MT"/>
              </a:rPr>
              <a:t>RTLS</a:t>
            </a:r>
            <a:r>
              <a:rPr sz="2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50" dirty="0">
                <a:solidFill>
                  <a:srgbClr val="FFFFFF"/>
                </a:solidFill>
                <a:latin typeface="Arial MT"/>
                <a:cs typeface="Arial MT"/>
              </a:rPr>
              <a:t>means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85" dirty="0">
                <a:solidFill>
                  <a:srgbClr val="FFFFFF"/>
                </a:solidFill>
                <a:latin typeface="Arial MT"/>
                <a:cs typeface="Arial MT"/>
              </a:rPr>
              <a:t>mission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60" dirty="0">
                <a:solidFill>
                  <a:srgbClr val="FFFFFF"/>
                </a:solidFill>
                <a:latin typeface="Arial MT"/>
                <a:cs typeface="Arial MT"/>
              </a:rPr>
              <a:t>outcome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0" dirty="0">
                <a:solidFill>
                  <a:srgbClr val="FFFFFF"/>
                </a:solidFill>
                <a:latin typeface="Arial MT"/>
                <a:cs typeface="Arial MT"/>
              </a:rPr>
              <a:t>unsuccessfully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14" dirty="0">
                <a:solidFill>
                  <a:srgbClr val="FFFFFF"/>
                </a:solidFill>
                <a:latin typeface="Arial MT"/>
                <a:cs typeface="Arial MT"/>
              </a:rPr>
              <a:t>landed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8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ground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pad.True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-60" dirty="0">
                <a:solidFill>
                  <a:srgbClr val="FFFFFF"/>
                </a:solidFill>
                <a:latin typeface="Arial MT"/>
                <a:cs typeface="Arial MT"/>
              </a:rPr>
              <a:t>ASDS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60" dirty="0">
                <a:solidFill>
                  <a:srgbClr val="FFFFFF"/>
                </a:solidFill>
                <a:latin typeface="Arial MT"/>
                <a:cs typeface="Arial MT"/>
              </a:rPr>
              <a:t>means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85" dirty="0">
                <a:solidFill>
                  <a:srgbClr val="FFFFFF"/>
                </a:solidFill>
                <a:latin typeface="Arial MT"/>
                <a:cs typeface="Arial MT"/>
              </a:rPr>
              <a:t>mission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60" dirty="0">
                <a:solidFill>
                  <a:srgbClr val="FFFFFF"/>
                </a:solidFill>
                <a:latin typeface="Arial MT"/>
                <a:cs typeface="Arial MT"/>
              </a:rPr>
              <a:t>outcome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75" dirty="0">
                <a:solidFill>
                  <a:srgbClr val="FFFFFF"/>
                </a:solidFill>
                <a:latin typeface="Arial MT"/>
                <a:cs typeface="Arial MT"/>
              </a:rPr>
              <a:t>successfully </a:t>
            </a:r>
            <a:r>
              <a:rPr sz="2950" spc="114" dirty="0">
                <a:solidFill>
                  <a:srgbClr val="FFFFFF"/>
                </a:solidFill>
                <a:latin typeface="Arial MT"/>
                <a:cs typeface="Arial MT"/>
              </a:rPr>
              <a:t>landed</a:t>
            </a:r>
            <a:r>
              <a:rPr sz="29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9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9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14" dirty="0">
                <a:solidFill>
                  <a:srgbClr val="FFFFFF"/>
                </a:solidFill>
                <a:latin typeface="Arial MT"/>
                <a:cs typeface="Arial MT"/>
              </a:rPr>
              <a:t>drone</a:t>
            </a:r>
            <a:r>
              <a:rPr sz="29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0" dirty="0">
                <a:solidFill>
                  <a:srgbClr val="FFFFFF"/>
                </a:solidFill>
                <a:latin typeface="Arial MT"/>
                <a:cs typeface="Arial MT"/>
              </a:rPr>
              <a:t>ship</a:t>
            </a:r>
            <a:r>
              <a:rPr sz="29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FFFFFF"/>
                </a:solidFill>
                <a:latin typeface="Arial MT"/>
                <a:cs typeface="Arial MT"/>
              </a:rPr>
              <a:t>False</a:t>
            </a:r>
            <a:r>
              <a:rPr sz="2950" spc="-60" dirty="0">
                <a:solidFill>
                  <a:srgbClr val="FFFFFF"/>
                </a:solidFill>
                <a:latin typeface="Arial MT"/>
                <a:cs typeface="Arial MT"/>
              </a:rPr>
              <a:t> ASDS </a:t>
            </a:r>
            <a:r>
              <a:rPr sz="2950" spc="60" dirty="0">
                <a:solidFill>
                  <a:srgbClr val="FFFFFF"/>
                </a:solidFill>
                <a:latin typeface="Arial MT"/>
                <a:cs typeface="Arial MT"/>
              </a:rPr>
              <a:t>means</a:t>
            </a:r>
            <a:r>
              <a:rPr sz="29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5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75" dirty="0">
                <a:solidFill>
                  <a:srgbClr val="FFFFFF"/>
                </a:solidFill>
                <a:latin typeface="Arial MT"/>
                <a:cs typeface="Arial MT"/>
              </a:rPr>
              <a:t>mission </a:t>
            </a:r>
            <a:r>
              <a:rPr sz="2950" spc="160" dirty="0">
                <a:solidFill>
                  <a:srgbClr val="FFFFFF"/>
                </a:solidFill>
                <a:latin typeface="Arial MT"/>
                <a:cs typeface="Arial MT"/>
              </a:rPr>
              <a:t>outcome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0" dirty="0">
                <a:solidFill>
                  <a:srgbClr val="FFFFFF"/>
                </a:solidFill>
                <a:latin typeface="Arial MT"/>
                <a:cs typeface="Arial MT"/>
              </a:rPr>
              <a:t>unsuccessfully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14" dirty="0">
                <a:solidFill>
                  <a:srgbClr val="FFFFFF"/>
                </a:solidFill>
                <a:latin typeface="Arial MT"/>
                <a:cs typeface="Arial MT"/>
              </a:rPr>
              <a:t>landed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14" dirty="0">
                <a:solidFill>
                  <a:srgbClr val="FFFFFF"/>
                </a:solidFill>
                <a:latin typeface="Arial MT"/>
                <a:cs typeface="Arial MT"/>
              </a:rPr>
              <a:t>drone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55" dirty="0">
                <a:solidFill>
                  <a:srgbClr val="FFFFFF"/>
                </a:solidFill>
                <a:latin typeface="Arial MT"/>
                <a:cs typeface="Arial MT"/>
              </a:rPr>
              <a:t>ship.</a:t>
            </a:r>
            <a:endParaRPr sz="2950" dirty="0">
              <a:latin typeface="Arial MT"/>
              <a:cs typeface="Arial MT"/>
            </a:endParaRPr>
          </a:p>
          <a:p>
            <a:pPr marL="12700" marR="958850" algn="just">
              <a:lnSpc>
                <a:spcPct val="111800"/>
              </a:lnSpc>
              <a:spcBef>
                <a:spcPts val="1980"/>
              </a:spcBef>
            </a:pP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FFFFFF"/>
                </a:solidFill>
                <a:latin typeface="Arial MT"/>
                <a:cs typeface="Arial MT"/>
              </a:rPr>
              <a:t>mainly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25" dirty="0">
                <a:solidFill>
                  <a:srgbClr val="FFFFFF"/>
                </a:solidFill>
                <a:latin typeface="Arial MT"/>
                <a:cs typeface="Arial MT"/>
              </a:rPr>
              <a:t>convert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00" dirty="0">
                <a:solidFill>
                  <a:srgbClr val="FFFFFF"/>
                </a:solidFill>
                <a:latin typeface="Arial MT"/>
                <a:cs typeface="Arial MT"/>
              </a:rPr>
              <a:t>those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outcomes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50" dirty="0">
                <a:solidFill>
                  <a:srgbClr val="FFFFFF"/>
                </a:solidFill>
                <a:latin typeface="Arial MT"/>
                <a:cs typeface="Arial MT"/>
              </a:rPr>
              <a:t>into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55" dirty="0">
                <a:solidFill>
                  <a:srgbClr val="FFFFFF"/>
                </a:solidFill>
                <a:latin typeface="Arial MT"/>
                <a:cs typeface="Arial MT"/>
              </a:rPr>
              <a:t>Training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Labels</a:t>
            </a:r>
            <a:r>
              <a:rPr sz="2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with </a:t>
            </a:r>
            <a:r>
              <a:rPr sz="2950" dirty="0">
                <a:solidFill>
                  <a:srgbClr val="FFFFFF"/>
                </a:solidFill>
                <a:latin typeface="Arial MT"/>
                <a:cs typeface="Arial MT"/>
              </a:rPr>
              <a:t>“1”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60" dirty="0">
                <a:solidFill>
                  <a:srgbClr val="FFFFFF"/>
                </a:solidFill>
                <a:latin typeface="Arial MT"/>
                <a:cs typeface="Arial MT"/>
              </a:rPr>
              <a:t>means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3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25" dirty="0">
                <a:solidFill>
                  <a:srgbClr val="FFFFFF"/>
                </a:solidFill>
                <a:latin typeface="Arial MT"/>
                <a:cs typeface="Arial MT"/>
              </a:rPr>
              <a:t>booster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85" dirty="0">
                <a:solidFill>
                  <a:srgbClr val="FFFFFF"/>
                </a:solidFill>
                <a:latin typeface="Arial MT"/>
                <a:cs typeface="Arial MT"/>
              </a:rPr>
              <a:t>successfully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95" dirty="0">
                <a:solidFill>
                  <a:srgbClr val="FFFFFF"/>
                </a:solidFill>
                <a:latin typeface="Arial MT"/>
                <a:cs typeface="Arial MT"/>
              </a:rPr>
              <a:t>landed,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265" dirty="0">
                <a:solidFill>
                  <a:srgbClr val="FFFFFF"/>
                </a:solidFill>
                <a:latin typeface="Arial MT"/>
                <a:cs typeface="Arial MT"/>
              </a:rPr>
              <a:t>“0”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60" dirty="0">
                <a:solidFill>
                  <a:srgbClr val="FFFFFF"/>
                </a:solidFill>
                <a:latin typeface="Arial MT"/>
                <a:cs typeface="Arial MT"/>
              </a:rPr>
              <a:t>means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16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50" spc="-25" dirty="0">
                <a:solidFill>
                  <a:srgbClr val="FFFFFF"/>
                </a:solidFill>
                <a:latin typeface="Arial MT"/>
                <a:cs typeface="Arial MT"/>
              </a:rPr>
              <a:t>was </a:t>
            </a:r>
            <a:r>
              <a:rPr sz="2950" spc="75" dirty="0">
                <a:solidFill>
                  <a:srgbClr val="FFFFFF"/>
                </a:solidFill>
                <a:latin typeface="Arial MT"/>
                <a:cs typeface="Arial MT"/>
              </a:rPr>
              <a:t>unsuccessful.</a:t>
            </a:r>
            <a:endParaRPr sz="2950" dirty="0">
              <a:latin typeface="Arial MT"/>
              <a:cs typeface="Arial MT"/>
            </a:endParaRPr>
          </a:p>
          <a:p>
            <a:pPr marL="6597650">
              <a:lnSpc>
                <a:spcPct val="100000"/>
              </a:lnSpc>
              <a:spcBef>
                <a:spcPts val="2445"/>
              </a:spcBef>
            </a:pPr>
            <a:r>
              <a:rPr sz="2950" u="sng" spc="11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GitHub</a:t>
            </a:r>
            <a:r>
              <a:rPr sz="2950" u="sng" spc="-5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spc="-7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URL:</a:t>
            </a:r>
            <a:r>
              <a:rPr lang="en-US" sz="2950" u="sng" spc="-45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Data </a:t>
            </a:r>
            <a:r>
              <a:rPr lang="en-US" sz="2950" u="sng" spc="-45" dirty="0" err="1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Wrangling.ipynb</a:t>
            </a:r>
            <a:endParaRPr sz="2950" dirty="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355758" y="2326875"/>
            <a:ext cx="6701155" cy="1047115"/>
          </a:xfrm>
          <a:custGeom>
            <a:avLst/>
            <a:gdLst/>
            <a:ahLst/>
            <a:cxnLst/>
            <a:rect l="l" t="t" r="r" b="b"/>
            <a:pathLst>
              <a:path w="6701155" h="1047114">
                <a:moveTo>
                  <a:pt x="6268120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9" y="2961"/>
                </a:lnTo>
                <a:lnTo>
                  <a:pt x="277107" y="7175"/>
                </a:lnTo>
                <a:lnTo>
                  <a:pt x="239324" y="14122"/>
                </a:lnTo>
                <a:lnTo>
                  <a:pt x="158609" y="47214"/>
                </a:lnTo>
                <a:lnTo>
                  <a:pt x="115136" y="77718"/>
                </a:lnTo>
                <a:lnTo>
                  <a:pt x="77716" y="115137"/>
                </a:lnTo>
                <a:lnTo>
                  <a:pt x="47210" y="158608"/>
                </a:lnTo>
                <a:lnTo>
                  <a:pt x="24482" y="207269"/>
                </a:lnTo>
                <a:lnTo>
                  <a:pt x="7173" y="277108"/>
                </a:lnTo>
                <a:lnTo>
                  <a:pt x="2960" y="321439"/>
                </a:lnTo>
                <a:lnTo>
                  <a:pt x="797" y="373137"/>
                </a:lnTo>
                <a:lnTo>
                  <a:pt x="0" y="433018"/>
                </a:lnTo>
                <a:lnTo>
                  <a:pt x="0" y="613842"/>
                </a:lnTo>
                <a:lnTo>
                  <a:pt x="797" y="673723"/>
                </a:lnTo>
                <a:lnTo>
                  <a:pt x="2960" y="725420"/>
                </a:lnTo>
                <a:lnTo>
                  <a:pt x="7173" y="769751"/>
                </a:lnTo>
                <a:lnTo>
                  <a:pt x="14119" y="807535"/>
                </a:lnTo>
                <a:lnTo>
                  <a:pt x="47210" y="888251"/>
                </a:lnTo>
                <a:lnTo>
                  <a:pt x="77716" y="931723"/>
                </a:lnTo>
                <a:lnTo>
                  <a:pt x="115136" y="969142"/>
                </a:lnTo>
                <a:lnTo>
                  <a:pt x="158609" y="999646"/>
                </a:lnTo>
                <a:lnTo>
                  <a:pt x="207272" y="1022373"/>
                </a:lnTo>
                <a:lnTo>
                  <a:pt x="277107" y="1039685"/>
                </a:lnTo>
                <a:lnTo>
                  <a:pt x="321439" y="1043899"/>
                </a:lnTo>
                <a:lnTo>
                  <a:pt x="373136" y="1046063"/>
                </a:lnTo>
                <a:lnTo>
                  <a:pt x="433018" y="1046860"/>
                </a:lnTo>
                <a:lnTo>
                  <a:pt x="6268120" y="1046860"/>
                </a:lnTo>
                <a:lnTo>
                  <a:pt x="6328002" y="1046063"/>
                </a:lnTo>
                <a:lnTo>
                  <a:pt x="6379699" y="1043899"/>
                </a:lnTo>
                <a:lnTo>
                  <a:pt x="6424031" y="1039685"/>
                </a:lnTo>
                <a:lnTo>
                  <a:pt x="6461813" y="1032737"/>
                </a:lnTo>
                <a:lnTo>
                  <a:pt x="6542529" y="999646"/>
                </a:lnTo>
                <a:lnTo>
                  <a:pt x="6586001" y="969142"/>
                </a:lnTo>
                <a:lnTo>
                  <a:pt x="6623422" y="931723"/>
                </a:lnTo>
                <a:lnTo>
                  <a:pt x="6653928" y="888251"/>
                </a:lnTo>
                <a:lnTo>
                  <a:pt x="6676656" y="839590"/>
                </a:lnTo>
                <a:lnTo>
                  <a:pt x="6693965" y="769751"/>
                </a:lnTo>
                <a:lnTo>
                  <a:pt x="6698178" y="725420"/>
                </a:lnTo>
                <a:lnTo>
                  <a:pt x="6700341" y="673723"/>
                </a:lnTo>
                <a:lnTo>
                  <a:pt x="6701138" y="613842"/>
                </a:lnTo>
                <a:lnTo>
                  <a:pt x="6701138" y="433018"/>
                </a:lnTo>
                <a:lnTo>
                  <a:pt x="6700341" y="373137"/>
                </a:lnTo>
                <a:lnTo>
                  <a:pt x="6698178" y="321439"/>
                </a:lnTo>
                <a:lnTo>
                  <a:pt x="6693965" y="277108"/>
                </a:lnTo>
                <a:lnTo>
                  <a:pt x="6687018" y="239324"/>
                </a:lnTo>
                <a:lnTo>
                  <a:pt x="6653928" y="158608"/>
                </a:lnTo>
                <a:lnTo>
                  <a:pt x="6623422" y="115137"/>
                </a:lnTo>
                <a:lnTo>
                  <a:pt x="6586001" y="77718"/>
                </a:lnTo>
                <a:lnTo>
                  <a:pt x="6542529" y="47214"/>
                </a:lnTo>
                <a:lnTo>
                  <a:pt x="6493866" y="24487"/>
                </a:lnTo>
                <a:lnTo>
                  <a:pt x="6424031" y="7175"/>
                </a:lnTo>
                <a:lnTo>
                  <a:pt x="6379699" y="2961"/>
                </a:lnTo>
                <a:lnTo>
                  <a:pt x="6328002" y="797"/>
                </a:lnTo>
                <a:lnTo>
                  <a:pt x="626812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3147161" y="2406728"/>
            <a:ext cx="5118735" cy="863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marR="5080" indent="-283210">
              <a:lnSpc>
                <a:spcPct val="112200"/>
              </a:lnSpc>
              <a:spcBef>
                <a:spcPts val="95"/>
              </a:spcBef>
            </a:pPr>
            <a:r>
              <a:rPr sz="2450" spc="110" dirty="0">
                <a:latin typeface="Arial MT"/>
                <a:cs typeface="Arial MT"/>
              </a:rPr>
              <a:t>Perform</a:t>
            </a:r>
            <a:r>
              <a:rPr sz="2450" spc="-75" dirty="0">
                <a:latin typeface="Arial MT"/>
                <a:cs typeface="Arial MT"/>
              </a:rPr>
              <a:t> </a:t>
            </a:r>
            <a:r>
              <a:rPr sz="2450" spc="125" dirty="0">
                <a:latin typeface="Arial MT"/>
                <a:cs typeface="Arial MT"/>
              </a:rPr>
              <a:t>exploratory</a:t>
            </a:r>
            <a:r>
              <a:rPr sz="2450" spc="-70" dirty="0">
                <a:latin typeface="Arial MT"/>
                <a:cs typeface="Arial MT"/>
              </a:rPr>
              <a:t> </a:t>
            </a:r>
            <a:r>
              <a:rPr sz="2450" spc="50" dirty="0">
                <a:latin typeface="Arial MT"/>
                <a:cs typeface="Arial MT"/>
              </a:rPr>
              <a:t>Data</a:t>
            </a:r>
            <a:r>
              <a:rPr sz="2450" spc="-70" dirty="0">
                <a:latin typeface="Arial MT"/>
                <a:cs typeface="Arial MT"/>
              </a:rPr>
              <a:t> </a:t>
            </a:r>
            <a:r>
              <a:rPr sz="2450" spc="60" dirty="0">
                <a:latin typeface="Arial MT"/>
                <a:cs typeface="Arial MT"/>
              </a:rPr>
              <a:t>Analysis </a:t>
            </a:r>
            <a:r>
              <a:rPr sz="2450" spc="105" dirty="0">
                <a:latin typeface="Arial MT"/>
                <a:cs typeface="Arial MT"/>
              </a:rPr>
              <a:t>and</a:t>
            </a:r>
            <a:r>
              <a:rPr sz="2450" spc="-80" dirty="0">
                <a:latin typeface="Arial MT"/>
                <a:cs typeface="Arial MT"/>
              </a:rPr>
              <a:t> </a:t>
            </a:r>
            <a:r>
              <a:rPr sz="2450" spc="145" dirty="0">
                <a:latin typeface="Arial MT"/>
                <a:cs typeface="Arial MT"/>
              </a:rPr>
              <a:t>determine</a:t>
            </a:r>
            <a:r>
              <a:rPr sz="2450" spc="-80" dirty="0">
                <a:latin typeface="Arial MT"/>
                <a:cs typeface="Arial MT"/>
              </a:rPr>
              <a:t> </a:t>
            </a:r>
            <a:r>
              <a:rPr sz="2450" spc="85" dirty="0">
                <a:latin typeface="Arial MT"/>
                <a:cs typeface="Arial MT"/>
              </a:rPr>
              <a:t>Training</a:t>
            </a:r>
            <a:r>
              <a:rPr sz="2450" spc="-80" dirty="0">
                <a:latin typeface="Arial MT"/>
                <a:cs typeface="Arial MT"/>
              </a:rPr>
              <a:t> </a:t>
            </a:r>
            <a:r>
              <a:rPr sz="2450" spc="50" dirty="0">
                <a:latin typeface="Arial MT"/>
                <a:cs typeface="Arial MT"/>
              </a:rPr>
              <a:t>Labels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355645" y="3974817"/>
            <a:ext cx="6701790" cy="1047115"/>
          </a:xfrm>
          <a:custGeom>
            <a:avLst/>
            <a:gdLst/>
            <a:ahLst/>
            <a:cxnLst/>
            <a:rect l="l" t="t" r="r" b="b"/>
            <a:pathLst>
              <a:path w="6701790" h="1047114">
                <a:moveTo>
                  <a:pt x="6231265" y="0"/>
                </a:moveTo>
                <a:lnTo>
                  <a:pt x="470100" y="0"/>
                </a:lnTo>
                <a:lnTo>
                  <a:pt x="405355" y="846"/>
                </a:lnTo>
                <a:lnTo>
                  <a:pt x="349460" y="3142"/>
                </a:lnTo>
                <a:lnTo>
                  <a:pt x="301530" y="7614"/>
                </a:lnTo>
                <a:lnTo>
                  <a:pt x="260679" y="14986"/>
                </a:lnTo>
                <a:lnTo>
                  <a:pt x="181304" y="46083"/>
                </a:lnTo>
                <a:lnTo>
                  <a:pt x="140416" y="72198"/>
                </a:lnTo>
                <a:lnTo>
                  <a:pt x="103906" y="103782"/>
                </a:lnTo>
                <a:lnTo>
                  <a:pt x="72320" y="140292"/>
                </a:lnTo>
                <a:lnTo>
                  <a:pt x="46204" y="181179"/>
                </a:lnTo>
                <a:lnTo>
                  <a:pt x="26103" y="225900"/>
                </a:lnTo>
                <a:lnTo>
                  <a:pt x="8325" y="298070"/>
                </a:lnTo>
                <a:lnTo>
                  <a:pt x="3761" y="344824"/>
                </a:lnTo>
                <a:lnTo>
                  <a:pt x="1262" y="398209"/>
                </a:lnTo>
                <a:lnTo>
                  <a:pt x="213" y="457863"/>
                </a:lnTo>
                <a:lnTo>
                  <a:pt x="0" y="523423"/>
                </a:lnTo>
                <a:lnTo>
                  <a:pt x="213" y="588983"/>
                </a:lnTo>
                <a:lnTo>
                  <a:pt x="1262" y="648637"/>
                </a:lnTo>
                <a:lnTo>
                  <a:pt x="3761" y="702022"/>
                </a:lnTo>
                <a:lnTo>
                  <a:pt x="8325" y="748776"/>
                </a:lnTo>
                <a:lnTo>
                  <a:pt x="15568" y="788538"/>
                </a:lnTo>
                <a:lnTo>
                  <a:pt x="46204" y="865666"/>
                </a:lnTo>
                <a:lnTo>
                  <a:pt x="72320" y="906554"/>
                </a:lnTo>
                <a:lnTo>
                  <a:pt x="103906" y="943064"/>
                </a:lnTo>
                <a:lnTo>
                  <a:pt x="140416" y="974648"/>
                </a:lnTo>
                <a:lnTo>
                  <a:pt x="181304" y="1000763"/>
                </a:lnTo>
                <a:lnTo>
                  <a:pt x="226024" y="1020861"/>
                </a:lnTo>
                <a:lnTo>
                  <a:pt x="301530" y="1039232"/>
                </a:lnTo>
                <a:lnTo>
                  <a:pt x="349460" y="1043704"/>
                </a:lnTo>
                <a:lnTo>
                  <a:pt x="405355" y="1046000"/>
                </a:lnTo>
                <a:lnTo>
                  <a:pt x="470100" y="1046846"/>
                </a:lnTo>
                <a:lnTo>
                  <a:pt x="6231265" y="1046846"/>
                </a:lnTo>
                <a:lnTo>
                  <a:pt x="6296010" y="1046000"/>
                </a:lnTo>
                <a:lnTo>
                  <a:pt x="6351906" y="1043704"/>
                </a:lnTo>
                <a:lnTo>
                  <a:pt x="6399836" y="1039232"/>
                </a:lnTo>
                <a:lnTo>
                  <a:pt x="6440686" y="1031860"/>
                </a:lnTo>
                <a:lnTo>
                  <a:pt x="6520062" y="1000763"/>
                </a:lnTo>
                <a:lnTo>
                  <a:pt x="6560950" y="974648"/>
                </a:lnTo>
                <a:lnTo>
                  <a:pt x="6597460" y="943064"/>
                </a:lnTo>
                <a:lnTo>
                  <a:pt x="6629046" y="906554"/>
                </a:lnTo>
                <a:lnTo>
                  <a:pt x="6655162" y="865666"/>
                </a:lnTo>
                <a:lnTo>
                  <a:pt x="6675262" y="820946"/>
                </a:lnTo>
                <a:lnTo>
                  <a:pt x="6693041" y="748776"/>
                </a:lnTo>
                <a:lnTo>
                  <a:pt x="6697604" y="702022"/>
                </a:lnTo>
                <a:lnTo>
                  <a:pt x="6700104" y="648637"/>
                </a:lnTo>
                <a:lnTo>
                  <a:pt x="6701153" y="588983"/>
                </a:lnTo>
                <a:lnTo>
                  <a:pt x="6701366" y="523423"/>
                </a:lnTo>
                <a:lnTo>
                  <a:pt x="6701153" y="457863"/>
                </a:lnTo>
                <a:lnTo>
                  <a:pt x="6700104" y="398209"/>
                </a:lnTo>
                <a:lnTo>
                  <a:pt x="6697604" y="344824"/>
                </a:lnTo>
                <a:lnTo>
                  <a:pt x="6693041" y="298070"/>
                </a:lnTo>
                <a:lnTo>
                  <a:pt x="6685798" y="258308"/>
                </a:lnTo>
                <a:lnTo>
                  <a:pt x="6655162" y="181179"/>
                </a:lnTo>
                <a:lnTo>
                  <a:pt x="6629046" y="140292"/>
                </a:lnTo>
                <a:lnTo>
                  <a:pt x="6597460" y="103782"/>
                </a:lnTo>
                <a:lnTo>
                  <a:pt x="6560950" y="72198"/>
                </a:lnTo>
                <a:lnTo>
                  <a:pt x="6520062" y="46083"/>
                </a:lnTo>
                <a:lnTo>
                  <a:pt x="6475342" y="25985"/>
                </a:lnTo>
                <a:lnTo>
                  <a:pt x="6399836" y="7614"/>
                </a:lnTo>
                <a:lnTo>
                  <a:pt x="6351906" y="3142"/>
                </a:lnTo>
                <a:lnTo>
                  <a:pt x="6296010" y="846"/>
                </a:lnTo>
                <a:lnTo>
                  <a:pt x="6231265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355758" y="5166153"/>
            <a:ext cx="6701155" cy="1047115"/>
          </a:xfrm>
          <a:custGeom>
            <a:avLst/>
            <a:gdLst/>
            <a:ahLst/>
            <a:cxnLst/>
            <a:rect l="l" t="t" r="r" b="b"/>
            <a:pathLst>
              <a:path w="6701155" h="1047114">
                <a:moveTo>
                  <a:pt x="6268120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9" y="2961"/>
                </a:lnTo>
                <a:lnTo>
                  <a:pt x="277107" y="7175"/>
                </a:lnTo>
                <a:lnTo>
                  <a:pt x="239324" y="14122"/>
                </a:lnTo>
                <a:lnTo>
                  <a:pt x="158609" y="47214"/>
                </a:lnTo>
                <a:lnTo>
                  <a:pt x="115136" y="77718"/>
                </a:lnTo>
                <a:lnTo>
                  <a:pt x="77716" y="115137"/>
                </a:lnTo>
                <a:lnTo>
                  <a:pt x="47210" y="158609"/>
                </a:lnTo>
                <a:lnTo>
                  <a:pt x="24482" y="207270"/>
                </a:lnTo>
                <a:lnTo>
                  <a:pt x="7173" y="277108"/>
                </a:lnTo>
                <a:lnTo>
                  <a:pt x="2960" y="321440"/>
                </a:lnTo>
                <a:lnTo>
                  <a:pt x="797" y="373137"/>
                </a:lnTo>
                <a:lnTo>
                  <a:pt x="0" y="433018"/>
                </a:lnTo>
                <a:lnTo>
                  <a:pt x="0" y="613842"/>
                </a:lnTo>
                <a:lnTo>
                  <a:pt x="797" y="673723"/>
                </a:lnTo>
                <a:lnTo>
                  <a:pt x="2960" y="725420"/>
                </a:lnTo>
                <a:lnTo>
                  <a:pt x="7173" y="769752"/>
                </a:lnTo>
                <a:lnTo>
                  <a:pt x="14119" y="807536"/>
                </a:lnTo>
                <a:lnTo>
                  <a:pt x="47210" y="888252"/>
                </a:lnTo>
                <a:lnTo>
                  <a:pt x="77716" y="931723"/>
                </a:lnTo>
                <a:lnTo>
                  <a:pt x="115136" y="969142"/>
                </a:lnTo>
                <a:lnTo>
                  <a:pt x="158609" y="999647"/>
                </a:lnTo>
                <a:lnTo>
                  <a:pt x="207272" y="1022374"/>
                </a:lnTo>
                <a:lnTo>
                  <a:pt x="277107" y="1039685"/>
                </a:lnTo>
                <a:lnTo>
                  <a:pt x="321439" y="1043899"/>
                </a:lnTo>
                <a:lnTo>
                  <a:pt x="373136" y="1046063"/>
                </a:lnTo>
                <a:lnTo>
                  <a:pt x="433018" y="1046860"/>
                </a:lnTo>
                <a:lnTo>
                  <a:pt x="6268120" y="1046860"/>
                </a:lnTo>
                <a:lnTo>
                  <a:pt x="6328002" y="1046063"/>
                </a:lnTo>
                <a:lnTo>
                  <a:pt x="6379699" y="1043899"/>
                </a:lnTo>
                <a:lnTo>
                  <a:pt x="6424031" y="1039685"/>
                </a:lnTo>
                <a:lnTo>
                  <a:pt x="6461813" y="1032738"/>
                </a:lnTo>
                <a:lnTo>
                  <a:pt x="6542529" y="999647"/>
                </a:lnTo>
                <a:lnTo>
                  <a:pt x="6586001" y="969142"/>
                </a:lnTo>
                <a:lnTo>
                  <a:pt x="6623422" y="931723"/>
                </a:lnTo>
                <a:lnTo>
                  <a:pt x="6653928" y="888252"/>
                </a:lnTo>
                <a:lnTo>
                  <a:pt x="6676656" y="839591"/>
                </a:lnTo>
                <a:lnTo>
                  <a:pt x="6693965" y="769752"/>
                </a:lnTo>
                <a:lnTo>
                  <a:pt x="6698178" y="725420"/>
                </a:lnTo>
                <a:lnTo>
                  <a:pt x="6700341" y="673723"/>
                </a:lnTo>
                <a:lnTo>
                  <a:pt x="6701138" y="613842"/>
                </a:lnTo>
                <a:lnTo>
                  <a:pt x="6701138" y="433018"/>
                </a:lnTo>
                <a:lnTo>
                  <a:pt x="6700341" y="373137"/>
                </a:lnTo>
                <a:lnTo>
                  <a:pt x="6698178" y="321440"/>
                </a:lnTo>
                <a:lnTo>
                  <a:pt x="6693965" y="277108"/>
                </a:lnTo>
                <a:lnTo>
                  <a:pt x="6687018" y="239325"/>
                </a:lnTo>
                <a:lnTo>
                  <a:pt x="6653928" y="158609"/>
                </a:lnTo>
                <a:lnTo>
                  <a:pt x="6623422" y="115137"/>
                </a:lnTo>
                <a:lnTo>
                  <a:pt x="6586001" y="77718"/>
                </a:lnTo>
                <a:lnTo>
                  <a:pt x="6542529" y="47214"/>
                </a:lnTo>
                <a:lnTo>
                  <a:pt x="6493866" y="24487"/>
                </a:lnTo>
                <a:lnTo>
                  <a:pt x="6424031" y="7175"/>
                </a:lnTo>
                <a:lnTo>
                  <a:pt x="6379699" y="2961"/>
                </a:lnTo>
                <a:lnTo>
                  <a:pt x="6328002" y="797"/>
                </a:lnTo>
                <a:lnTo>
                  <a:pt x="626812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355758" y="6357497"/>
            <a:ext cx="6701155" cy="1047115"/>
          </a:xfrm>
          <a:custGeom>
            <a:avLst/>
            <a:gdLst/>
            <a:ahLst/>
            <a:cxnLst/>
            <a:rect l="l" t="t" r="r" b="b"/>
            <a:pathLst>
              <a:path w="6701155" h="1047115">
                <a:moveTo>
                  <a:pt x="6268120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9" y="2961"/>
                </a:lnTo>
                <a:lnTo>
                  <a:pt x="277107" y="7175"/>
                </a:lnTo>
                <a:lnTo>
                  <a:pt x="239324" y="14122"/>
                </a:lnTo>
                <a:lnTo>
                  <a:pt x="158609" y="47214"/>
                </a:lnTo>
                <a:lnTo>
                  <a:pt x="115136" y="77718"/>
                </a:lnTo>
                <a:lnTo>
                  <a:pt x="77716" y="115137"/>
                </a:lnTo>
                <a:lnTo>
                  <a:pt x="47210" y="158608"/>
                </a:lnTo>
                <a:lnTo>
                  <a:pt x="24482" y="207269"/>
                </a:lnTo>
                <a:lnTo>
                  <a:pt x="7173" y="277108"/>
                </a:lnTo>
                <a:lnTo>
                  <a:pt x="2960" y="321439"/>
                </a:lnTo>
                <a:lnTo>
                  <a:pt x="797" y="373137"/>
                </a:lnTo>
                <a:lnTo>
                  <a:pt x="0" y="433018"/>
                </a:lnTo>
                <a:lnTo>
                  <a:pt x="0" y="613841"/>
                </a:lnTo>
                <a:lnTo>
                  <a:pt x="797" y="673723"/>
                </a:lnTo>
                <a:lnTo>
                  <a:pt x="2960" y="725420"/>
                </a:lnTo>
                <a:lnTo>
                  <a:pt x="7173" y="769751"/>
                </a:lnTo>
                <a:lnTo>
                  <a:pt x="14119" y="807535"/>
                </a:lnTo>
                <a:lnTo>
                  <a:pt x="47210" y="888251"/>
                </a:lnTo>
                <a:lnTo>
                  <a:pt x="77716" y="931723"/>
                </a:lnTo>
                <a:lnTo>
                  <a:pt x="115136" y="969142"/>
                </a:lnTo>
                <a:lnTo>
                  <a:pt x="158609" y="999646"/>
                </a:lnTo>
                <a:lnTo>
                  <a:pt x="207272" y="1022373"/>
                </a:lnTo>
                <a:lnTo>
                  <a:pt x="277107" y="1039685"/>
                </a:lnTo>
                <a:lnTo>
                  <a:pt x="321439" y="1043899"/>
                </a:lnTo>
                <a:lnTo>
                  <a:pt x="373136" y="1046063"/>
                </a:lnTo>
                <a:lnTo>
                  <a:pt x="433018" y="1046860"/>
                </a:lnTo>
                <a:lnTo>
                  <a:pt x="6268120" y="1046860"/>
                </a:lnTo>
                <a:lnTo>
                  <a:pt x="6328002" y="1046063"/>
                </a:lnTo>
                <a:lnTo>
                  <a:pt x="6379699" y="1043899"/>
                </a:lnTo>
                <a:lnTo>
                  <a:pt x="6424031" y="1039685"/>
                </a:lnTo>
                <a:lnTo>
                  <a:pt x="6461813" y="1032737"/>
                </a:lnTo>
                <a:lnTo>
                  <a:pt x="6542529" y="999646"/>
                </a:lnTo>
                <a:lnTo>
                  <a:pt x="6586001" y="969142"/>
                </a:lnTo>
                <a:lnTo>
                  <a:pt x="6623422" y="931723"/>
                </a:lnTo>
                <a:lnTo>
                  <a:pt x="6653928" y="888251"/>
                </a:lnTo>
                <a:lnTo>
                  <a:pt x="6676656" y="839590"/>
                </a:lnTo>
                <a:lnTo>
                  <a:pt x="6693965" y="769751"/>
                </a:lnTo>
                <a:lnTo>
                  <a:pt x="6698178" y="725420"/>
                </a:lnTo>
                <a:lnTo>
                  <a:pt x="6700341" y="673723"/>
                </a:lnTo>
                <a:lnTo>
                  <a:pt x="6701138" y="613841"/>
                </a:lnTo>
                <a:lnTo>
                  <a:pt x="6701138" y="433018"/>
                </a:lnTo>
                <a:lnTo>
                  <a:pt x="6700341" y="373137"/>
                </a:lnTo>
                <a:lnTo>
                  <a:pt x="6698178" y="321439"/>
                </a:lnTo>
                <a:lnTo>
                  <a:pt x="6693965" y="277108"/>
                </a:lnTo>
                <a:lnTo>
                  <a:pt x="6687018" y="239324"/>
                </a:lnTo>
                <a:lnTo>
                  <a:pt x="6653928" y="158608"/>
                </a:lnTo>
                <a:lnTo>
                  <a:pt x="6623422" y="115137"/>
                </a:lnTo>
                <a:lnTo>
                  <a:pt x="6586001" y="77718"/>
                </a:lnTo>
                <a:lnTo>
                  <a:pt x="6542529" y="47214"/>
                </a:lnTo>
                <a:lnTo>
                  <a:pt x="6493866" y="24487"/>
                </a:lnTo>
                <a:lnTo>
                  <a:pt x="6424031" y="7175"/>
                </a:lnTo>
                <a:lnTo>
                  <a:pt x="6379699" y="2961"/>
                </a:lnTo>
                <a:lnTo>
                  <a:pt x="6328002" y="797"/>
                </a:lnTo>
                <a:lnTo>
                  <a:pt x="626812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856123" y="4054664"/>
            <a:ext cx="5701030" cy="324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8930" marR="321310" algn="ctr">
              <a:lnSpc>
                <a:spcPct val="112200"/>
              </a:lnSpc>
              <a:spcBef>
                <a:spcPts val="95"/>
              </a:spcBef>
            </a:pPr>
            <a:r>
              <a:rPr sz="2450" spc="105" dirty="0">
                <a:latin typeface="Arial MT"/>
                <a:cs typeface="Arial MT"/>
              </a:rPr>
              <a:t>Calculate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145" dirty="0">
                <a:latin typeface="Arial MT"/>
                <a:cs typeface="Arial MT"/>
              </a:rPr>
              <a:t>the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150" dirty="0">
                <a:latin typeface="Arial MT"/>
                <a:cs typeface="Arial MT"/>
              </a:rPr>
              <a:t>number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180" dirty="0">
                <a:latin typeface="Arial MT"/>
                <a:cs typeface="Arial MT"/>
              </a:rPr>
              <a:t>of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85" dirty="0">
                <a:latin typeface="Arial MT"/>
                <a:cs typeface="Arial MT"/>
              </a:rPr>
              <a:t>launches </a:t>
            </a:r>
            <a:r>
              <a:rPr sz="2450" spc="135" dirty="0">
                <a:latin typeface="Arial MT"/>
                <a:cs typeface="Arial MT"/>
              </a:rPr>
              <a:t>on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95" dirty="0">
                <a:latin typeface="Arial MT"/>
                <a:cs typeface="Arial MT"/>
              </a:rPr>
              <a:t>each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80" dirty="0">
                <a:latin typeface="Arial MT"/>
                <a:cs typeface="Arial MT"/>
              </a:rPr>
              <a:t>site</a:t>
            </a:r>
            <a:endParaRPr sz="2450">
              <a:latin typeface="Arial MT"/>
              <a:cs typeface="Arial MT"/>
            </a:endParaRPr>
          </a:p>
          <a:p>
            <a:pPr marL="12700" marR="5080" algn="ctr">
              <a:lnSpc>
                <a:spcPct val="112200"/>
              </a:lnSpc>
              <a:spcBef>
                <a:spcPts val="2780"/>
              </a:spcBef>
            </a:pPr>
            <a:r>
              <a:rPr sz="2450" spc="105" dirty="0">
                <a:latin typeface="Arial MT"/>
                <a:cs typeface="Arial MT"/>
              </a:rPr>
              <a:t>Calculate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145" dirty="0">
                <a:latin typeface="Arial MT"/>
                <a:cs typeface="Arial MT"/>
              </a:rPr>
              <a:t>the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150" dirty="0">
                <a:latin typeface="Arial MT"/>
                <a:cs typeface="Arial MT"/>
              </a:rPr>
              <a:t>number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105" dirty="0">
                <a:latin typeface="Arial MT"/>
                <a:cs typeface="Arial MT"/>
              </a:rPr>
              <a:t>and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130" dirty="0">
                <a:latin typeface="Arial MT"/>
                <a:cs typeface="Arial MT"/>
              </a:rPr>
              <a:t>occurrence </a:t>
            </a:r>
            <a:r>
              <a:rPr sz="2450" spc="180" dirty="0">
                <a:latin typeface="Arial MT"/>
                <a:cs typeface="Arial MT"/>
              </a:rPr>
              <a:t>of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95" dirty="0">
                <a:latin typeface="Arial MT"/>
                <a:cs typeface="Arial MT"/>
              </a:rPr>
              <a:t>each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160" dirty="0">
                <a:latin typeface="Arial MT"/>
                <a:cs typeface="Arial MT"/>
              </a:rPr>
              <a:t>orbit</a:t>
            </a:r>
            <a:endParaRPr sz="2450">
              <a:latin typeface="Arial MT"/>
              <a:cs typeface="Arial MT"/>
            </a:endParaRPr>
          </a:p>
          <a:p>
            <a:pPr marL="316865" marR="5080" indent="-304800">
              <a:lnSpc>
                <a:spcPct val="112200"/>
              </a:lnSpc>
              <a:spcBef>
                <a:spcPts val="2785"/>
              </a:spcBef>
            </a:pPr>
            <a:r>
              <a:rPr sz="2450" spc="105" dirty="0">
                <a:latin typeface="Arial MT"/>
                <a:cs typeface="Arial MT"/>
              </a:rPr>
              <a:t>Calculate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145" dirty="0">
                <a:latin typeface="Arial MT"/>
                <a:cs typeface="Arial MT"/>
              </a:rPr>
              <a:t>the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150" dirty="0">
                <a:latin typeface="Arial MT"/>
                <a:cs typeface="Arial MT"/>
              </a:rPr>
              <a:t>number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105" dirty="0">
                <a:latin typeface="Arial MT"/>
                <a:cs typeface="Arial MT"/>
              </a:rPr>
              <a:t>and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130" dirty="0">
                <a:latin typeface="Arial MT"/>
                <a:cs typeface="Arial MT"/>
              </a:rPr>
              <a:t>occurrence </a:t>
            </a:r>
            <a:r>
              <a:rPr sz="2450" spc="180" dirty="0">
                <a:latin typeface="Arial MT"/>
                <a:cs typeface="Arial MT"/>
              </a:rPr>
              <a:t>of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105" dirty="0">
                <a:latin typeface="Arial MT"/>
                <a:cs typeface="Arial MT"/>
              </a:rPr>
              <a:t>mission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160" dirty="0">
                <a:latin typeface="Arial MT"/>
                <a:cs typeface="Arial MT"/>
              </a:rPr>
              <a:t>outcome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140" dirty="0">
                <a:latin typeface="Arial MT"/>
                <a:cs typeface="Arial MT"/>
              </a:rPr>
              <a:t>per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170" dirty="0">
                <a:latin typeface="Arial MT"/>
                <a:cs typeface="Arial MT"/>
              </a:rPr>
              <a:t>orbit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140" dirty="0">
                <a:latin typeface="Arial MT"/>
                <a:cs typeface="Arial MT"/>
              </a:rPr>
              <a:t>type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355758" y="7548840"/>
            <a:ext cx="6701155" cy="1047115"/>
          </a:xfrm>
          <a:custGeom>
            <a:avLst/>
            <a:gdLst/>
            <a:ahLst/>
            <a:cxnLst/>
            <a:rect l="l" t="t" r="r" b="b"/>
            <a:pathLst>
              <a:path w="6701155" h="1047115">
                <a:moveTo>
                  <a:pt x="6268120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9" y="2961"/>
                </a:lnTo>
                <a:lnTo>
                  <a:pt x="277107" y="7175"/>
                </a:lnTo>
                <a:lnTo>
                  <a:pt x="239324" y="14122"/>
                </a:lnTo>
                <a:lnTo>
                  <a:pt x="158609" y="47214"/>
                </a:lnTo>
                <a:lnTo>
                  <a:pt x="115136" y="77718"/>
                </a:lnTo>
                <a:lnTo>
                  <a:pt x="77716" y="115137"/>
                </a:lnTo>
                <a:lnTo>
                  <a:pt x="47210" y="158609"/>
                </a:lnTo>
                <a:lnTo>
                  <a:pt x="24482" y="207270"/>
                </a:lnTo>
                <a:lnTo>
                  <a:pt x="7173" y="277108"/>
                </a:lnTo>
                <a:lnTo>
                  <a:pt x="2960" y="321440"/>
                </a:lnTo>
                <a:lnTo>
                  <a:pt x="797" y="373137"/>
                </a:lnTo>
                <a:lnTo>
                  <a:pt x="0" y="433018"/>
                </a:lnTo>
                <a:lnTo>
                  <a:pt x="0" y="613842"/>
                </a:lnTo>
                <a:lnTo>
                  <a:pt x="797" y="673723"/>
                </a:lnTo>
                <a:lnTo>
                  <a:pt x="2960" y="725420"/>
                </a:lnTo>
                <a:lnTo>
                  <a:pt x="7173" y="769752"/>
                </a:lnTo>
                <a:lnTo>
                  <a:pt x="14119" y="807536"/>
                </a:lnTo>
                <a:lnTo>
                  <a:pt x="47210" y="888252"/>
                </a:lnTo>
                <a:lnTo>
                  <a:pt x="77716" y="931723"/>
                </a:lnTo>
                <a:lnTo>
                  <a:pt x="115136" y="969142"/>
                </a:lnTo>
                <a:lnTo>
                  <a:pt x="158609" y="999647"/>
                </a:lnTo>
                <a:lnTo>
                  <a:pt x="207272" y="1022374"/>
                </a:lnTo>
                <a:lnTo>
                  <a:pt x="277107" y="1039685"/>
                </a:lnTo>
                <a:lnTo>
                  <a:pt x="321439" y="1043899"/>
                </a:lnTo>
                <a:lnTo>
                  <a:pt x="373136" y="1046063"/>
                </a:lnTo>
                <a:lnTo>
                  <a:pt x="433018" y="1046860"/>
                </a:lnTo>
                <a:lnTo>
                  <a:pt x="6268120" y="1046860"/>
                </a:lnTo>
                <a:lnTo>
                  <a:pt x="6328002" y="1046063"/>
                </a:lnTo>
                <a:lnTo>
                  <a:pt x="6379699" y="1043899"/>
                </a:lnTo>
                <a:lnTo>
                  <a:pt x="6424031" y="1039685"/>
                </a:lnTo>
                <a:lnTo>
                  <a:pt x="6461813" y="1032738"/>
                </a:lnTo>
                <a:lnTo>
                  <a:pt x="6542529" y="999647"/>
                </a:lnTo>
                <a:lnTo>
                  <a:pt x="6586001" y="969142"/>
                </a:lnTo>
                <a:lnTo>
                  <a:pt x="6623422" y="931723"/>
                </a:lnTo>
                <a:lnTo>
                  <a:pt x="6653928" y="888252"/>
                </a:lnTo>
                <a:lnTo>
                  <a:pt x="6676656" y="839591"/>
                </a:lnTo>
                <a:lnTo>
                  <a:pt x="6693965" y="769752"/>
                </a:lnTo>
                <a:lnTo>
                  <a:pt x="6698178" y="725420"/>
                </a:lnTo>
                <a:lnTo>
                  <a:pt x="6700341" y="673723"/>
                </a:lnTo>
                <a:lnTo>
                  <a:pt x="6701138" y="613842"/>
                </a:lnTo>
                <a:lnTo>
                  <a:pt x="6701138" y="433018"/>
                </a:lnTo>
                <a:lnTo>
                  <a:pt x="6700341" y="373137"/>
                </a:lnTo>
                <a:lnTo>
                  <a:pt x="6698178" y="321440"/>
                </a:lnTo>
                <a:lnTo>
                  <a:pt x="6693965" y="277108"/>
                </a:lnTo>
                <a:lnTo>
                  <a:pt x="6687018" y="239325"/>
                </a:lnTo>
                <a:lnTo>
                  <a:pt x="6653928" y="158609"/>
                </a:lnTo>
                <a:lnTo>
                  <a:pt x="6623422" y="115137"/>
                </a:lnTo>
                <a:lnTo>
                  <a:pt x="6586001" y="77718"/>
                </a:lnTo>
                <a:lnTo>
                  <a:pt x="6542529" y="47214"/>
                </a:lnTo>
                <a:lnTo>
                  <a:pt x="6493866" y="24487"/>
                </a:lnTo>
                <a:lnTo>
                  <a:pt x="6424031" y="7175"/>
                </a:lnTo>
                <a:lnTo>
                  <a:pt x="6379699" y="2961"/>
                </a:lnTo>
                <a:lnTo>
                  <a:pt x="6328002" y="797"/>
                </a:lnTo>
                <a:lnTo>
                  <a:pt x="626812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355758" y="8740183"/>
            <a:ext cx="6701155" cy="1047115"/>
          </a:xfrm>
          <a:custGeom>
            <a:avLst/>
            <a:gdLst/>
            <a:ahLst/>
            <a:cxnLst/>
            <a:rect l="l" t="t" r="r" b="b"/>
            <a:pathLst>
              <a:path w="6701155" h="1047115">
                <a:moveTo>
                  <a:pt x="6268120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9" y="2961"/>
                </a:lnTo>
                <a:lnTo>
                  <a:pt x="277107" y="7175"/>
                </a:lnTo>
                <a:lnTo>
                  <a:pt x="239324" y="14122"/>
                </a:lnTo>
                <a:lnTo>
                  <a:pt x="158609" y="47213"/>
                </a:lnTo>
                <a:lnTo>
                  <a:pt x="115136" y="77717"/>
                </a:lnTo>
                <a:lnTo>
                  <a:pt x="77716" y="115137"/>
                </a:lnTo>
                <a:lnTo>
                  <a:pt x="47210" y="158608"/>
                </a:lnTo>
                <a:lnTo>
                  <a:pt x="24482" y="207269"/>
                </a:lnTo>
                <a:lnTo>
                  <a:pt x="7173" y="277108"/>
                </a:lnTo>
                <a:lnTo>
                  <a:pt x="2960" y="321439"/>
                </a:lnTo>
                <a:lnTo>
                  <a:pt x="797" y="373137"/>
                </a:lnTo>
                <a:lnTo>
                  <a:pt x="0" y="433018"/>
                </a:lnTo>
                <a:lnTo>
                  <a:pt x="0" y="613841"/>
                </a:lnTo>
                <a:lnTo>
                  <a:pt x="797" y="673723"/>
                </a:lnTo>
                <a:lnTo>
                  <a:pt x="2960" y="725420"/>
                </a:lnTo>
                <a:lnTo>
                  <a:pt x="7173" y="769751"/>
                </a:lnTo>
                <a:lnTo>
                  <a:pt x="14119" y="807535"/>
                </a:lnTo>
                <a:lnTo>
                  <a:pt x="47210" y="888251"/>
                </a:lnTo>
                <a:lnTo>
                  <a:pt x="77716" y="931723"/>
                </a:lnTo>
                <a:lnTo>
                  <a:pt x="115136" y="969142"/>
                </a:lnTo>
                <a:lnTo>
                  <a:pt x="158609" y="999646"/>
                </a:lnTo>
                <a:lnTo>
                  <a:pt x="207272" y="1022373"/>
                </a:lnTo>
                <a:lnTo>
                  <a:pt x="277107" y="1039685"/>
                </a:lnTo>
                <a:lnTo>
                  <a:pt x="321439" y="1043899"/>
                </a:lnTo>
                <a:lnTo>
                  <a:pt x="373136" y="1046063"/>
                </a:lnTo>
                <a:lnTo>
                  <a:pt x="433018" y="1046860"/>
                </a:lnTo>
                <a:lnTo>
                  <a:pt x="6268120" y="1046860"/>
                </a:lnTo>
                <a:lnTo>
                  <a:pt x="6328002" y="1046063"/>
                </a:lnTo>
                <a:lnTo>
                  <a:pt x="6379699" y="1043899"/>
                </a:lnTo>
                <a:lnTo>
                  <a:pt x="6424031" y="1039685"/>
                </a:lnTo>
                <a:lnTo>
                  <a:pt x="6461813" y="1032737"/>
                </a:lnTo>
                <a:lnTo>
                  <a:pt x="6542529" y="999646"/>
                </a:lnTo>
                <a:lnTo>
                  <a:pt x="6586001" y="969142"/>
                </a:lnTo>
                <a:lnTo>
                  <a:pt x="6623422" y="931723"/>
                </a:lnTo>
                <a:lnTo>
                  <a:pt x="6653928" y="888251"/>
                </a:lnTo>
                <a:lnTo>
                  <a:pt x="6676656" y="839590"/>
                </a:lnTo>
                <a:lnTo>
                  <a:pt x="6693965" y="769751"/>
                </a:lnTo>
                <a:lnTo>
                  <a:pt x="6698178" y="725420"/>
                </a:lnTo>
                <a:lnTo>
                  <a:pt x="6700341" y="673723"/>
                </a:lnTo>
                <a:lnTo>
                  <a:pt x="6701138" y="613841"/>
                </a:lnTo>
                <a:lnTo>
                  <a:pt x="6701138" y="433018"/>
                </a:lnTo>
                <a:lnTo>
                  <a:pt x="6700341" y="373137"/>
                </a:lnTo>
                <a:lnTo>
                  <a:pt x="6698178" y="321439"/>
                </a:lnTo>
                <a:lnTo>
                  <a:pt x="6693965" y="277108"/>
                </a:lnTo>
                <a:lnTo>
                  <a:pt x="6687018" y="239324"/>
                </a:lnTo>
                <a:lnTo>
                  <a:pt x="6653928" y="158608"/>
                </a:lnTo>
                <a:lnTo>
                  <a:pt x="6623422" y="115137"/>
                </a:lnTo>
                <a:lnTo>
                  <a:pt x="6586001" y="77717"/>
                </a:lnTo>
                <a:lnTo>
                  <a:pt x="6542529" y="47213"/>
                </a:lnTo>
                <a:lnTo>
                  <a:pt x="6493866" y="24486"/>
                </a:lnTo>
                <a:lnTo>
                  <a:pt x="6424031" y="7175"/>
                </a:lnTo>
                <a:lnTo>
                  <a:pt x="6379699" y="2961"/>
                </a:lnTo>
                <a:lnTo>
                  <a:pt x="6328002" y="797"/>
                </a:lnTo>
                <a:lnTo>
                  <a:pt x="626812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356525" y="7628694"/>
            <a:ext cx="4699635" cy="2054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2200"/>
              </a:lnSpc>
              <a:spcBef>
                <a:spcPts val="95"/>
              </a:spcBef>
            </a:pPr>
            <a:r>
              <a:rPr sz="2450" spc="90" dirty="0">
                <a:latin typeface="Arial MT"/>
                <a:cs typeface="Arial MT"/>
              </a:rPr>
              <a:t>Create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a</a:t>
            </a:r>
            <a:r>
              <a:rPr sz="2450" spc="-80" dirty="0">
                <a:latin typeface="Arial MT"/>
                <a:cs typeface="Arial MT"/>
              </a:rPr>
              <a:t> </a:t>
            </a:r>
            <a:r>
              <a:rPr sz="2450" spc="120" dirty="0">
                <a:latin typeface="Arial MT"/>
                <a:cs typeface="Arial MT"/>
              </a:rPr>
              <a:t>landing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160" dirty="0">
                <a:latin typeface="Arial MT"/>
                <a:cs typeface="Arial MT"/>
              </a:rPr>
              <a:t>outcome</a:t>
            </a:r>
            <a:r>
              <a:rPr sz="2450" spc="-80" dirty="0">
                <a:latin typeface="Arial MT"/>
                <a:cs typeface="Arial MT"/>
              </a:rPr>
              <a:t> </a:t>
            </a:r>
            <a:r>
              <a:rPr sz="2450" spc="90" dirty="0">
                <a:latin typeface="Arial MT"/>
                <a:cs typeface="Arial MT"/>
              </a:rPr>
              <a:t>label </a:t>
            </a:r>
            <a:r>
              <a:rPr sz="2450" spc="180" dirty="0">
                <a:latin typeface="Arial MT"/>
                <a:cs typeface="Arial MT"/>
              </a:rPr>
              <a:t>from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155" dirty="0">
                <a:latin typeface="Arial MT"/>
                <a:cs typeface="Arial MT"/>
              </a:rPr>
              <a:t>Outcome</a:t>
            </a:r>
            <a:r>
              <a:rPr sz="2450" spc="-85" dirty="0">
                <a:latin typeface="Arial MT"/>
                <a:cs typeface="Arial MT"/>
              </a:rPr>
              <a:t> </a:t>
            </a:r>
            <a:r>
              <a:rPr sz="2450" spc="145" dirty="0">
                <a:latin typeface="Arial MT"/>
                <a:cs typeface="Arial MT"/>
              </a:rPr>
              <a:t>column</a:t>
            </a:r>
            <a:endParaRPr sz="2450">
              <a:latin typeface="Arial MT"/>
              <a:cs typeface="Arial MT"/>
            </a:endParaRPr>
          </a:p>
          <a:p>
            <a:pPr marL="963930" marR="956310" algn="ctr">
              <a:lnSpc>
                <a:spcPct val="112200"/>
              </a:lnSpc>
              <a:spcBef>
                <a:spcPts val="2780"/>
              </a:spcBef>
            </a:pPr>
            <a:r>
              <a:rPr sz="2450" spc="125" dirty="0">
                <a:latin typeface="Arial MT"/>
                <a:cs typeface="Arial MT"/>
              </a:rPr>
              <a:t>Exporting</a:t>
            </a:r>
            <a:r>
              <a:rPr sz="2450" spc="-80" dirty="0">
                <a:latin typeface="Arial MT"/>
                <a:cs typeface="Arial MT"/>
              </a:rPr>
              <a:t> </a:t>
            </a:r>
            <a:r>
              <a:rPr sz="2450" spc="145" dirty="0">
                <a:latin typeface="Arial MT"/>
                <a:cs typeface="Arial MT"/>
              </a:rPr>
              <a:t>the</a:t>
            </a:r>
            <a:r>
              <a:rPr sz="2450" spc="-75" dirty="0">
                <a:latin typeface="Arial MT"/>
                <a:cs typeface="Arial MT"/>
              </a:rPr>
              <a:t> </a:t>
            </a:r>
            <a:r>
              <a:rPr sz="2450" spc="85" dirty="0">
                <a:latin typeface="Arial MT"/>
                <a:cs typeface="Arial MT"/>
              </a:rPr>
              <a:t>data </a:t>
            </a:r>
            <a:r>
              <a:rPr sz="2450" spc="180" dirty="0">
                <a:latin typeface="Arial MT"/>
                <a:cs typeface="Arial MT"/>
              </a:rPr>
              <a:t>to</a:t>
            </a:r>
            <a:r>
              <a:rPr sz="2450" spc="-90" dirty="0">
                <a:latin typeface="Arial MT"/>
                <a:cs typeface="Arial MT"/>
              </a:rPr>
              <a:t> </a:t>
            </a:r>
            <a:r>
              <a:rPr sz="2450" spc="-25" dirty="0">
                <a:latin typeface="Arial MT"/>
                <a:cs typeface="Arial MT"/>
              </a:rPr>
              <a:t>CSV</a:t>
            </a:r>
            <a:endParaRPr sz="245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388882" y="3401765"/>
            <a:ext cx="635000" cy="535940"/>
            <a:chOff x="15388882" y="3401765"/>
            <a:chExt cx="635000" cy="535940"/>
          </a:xfrm>
        </p:grpSpPr>
        <p:sp>
          <p:nvSpPr>
            <p:cNvPr id="14" name="object 14"/>
            <p:cNvSpPr/>
            <p:nvPr/>
          </p:nvSpPr>
          <p:spPr>
            <a:xfrm>
              <a:off x="15415059" y="3427942"/>
              <a:ext cx="582930" cy="483234"/>
            </a:xfrm>
            <a:custGeom>
              <a:avLst/>
              <a:gdLst/>
              <a:ahLst/>
              <a:cxnLst/>
              <a:rect l="l" t="t" r="r" b="b"/>
              <a:pathLst>
                <a:path w="582930" h="483235">
                  <a:moveTo>
                    <a:pt x="384469" y="0"/>
                  </a:moveTo>
                  <a:lnTo>
                    <a:pt x="198067" y="0"/>
                  </a:lnTo>
                  <a:lnTo>
                    <a:pt x="198067" y="214777"/>
                  </a:lnTo>
                  <a:lnTo>
                    <a:pt x="0" y="214777"/>
                  </a:lnTo>
                  <a:lnTo>
                    <a:pt x="291268" y="483237"/>
                  </a:lnTo>
                  <a:lnTo>
                    <a:pt x="582537" y="214777"/>
                  </a:lnTo>
                  <a:lnTo>
                    <a:pt x="384469" y="214777"/>
                  </a:lnTo>
                  <a:lnTo>
                    <a:pt x="38446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415059" y="3427942"/>
              <a:ext cx="582930" cy="483234"/>
            </a:xfrm>
            <a:custGeom>
              <a:avLst/>
              <a:gdLst/>
              <a:ahLst/>
              <a:cxnLst/>
              <a:rect l="l" t="t" r="r" b="b"/>
              <a:pathLst>
                <a:path w="582930" h="483235">
                  <a:moveTo>
                    <a:pt x="384475" y="214777"/>
                  </a:moveTo>
                  <a:lnTo>
                    <a:pt x="582538" y="214777"/>
                  </a:lnTo>
                  <a:lnTo>
                    <a:pt x="291269" y="483237"/>
                  </a:lnTo>
                  <a:lnTo>
                    <a:pt x="0" y="214777"/>
                  </a:lnTo>
                  <a:lnTo>
                    <a:pt x="198063" y="214777"/>
                  </a:lnTo>
                  <a:lnTo>
                    <a:pt x="198063" y="0"/>
                  </a:lnTo>
                  <a:lnTo>
                    <a:pt x="384475" y="0"/>
                  </a:lnTo>
                  <a:lnTo>
                    <a:pt x="384475" y="214777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8242" y="1055883"/>
            <a:ext cx="10588955" cy="67813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50" spc="145" dirty="0"/>
              <a:t>Charts</a:t>
            </a:r>
            <a:r>
              <a:rPr sz="4050" spc="-155" dirty="0"/>
              <a:t> </a:t>
            </a:r>
            <a:r>
              <a:rPr sz="4050" spc="160" dirty="0"/>
              <a:t>were</a:t>
            </a:r>
            <a:r>
              <a:rPr sz="4050" spc="-155" dirty="0"/>
              <a:t> </a:t>
            </a:r>
            <a:r>
              <a:rPr sz="4050" spc="220" dirty="0"/>
              <a:t>plotted:</a:t>
            </a:r>
            <a:endParaRPr sz="4050"/>
          </a:p>
        </p:txBody>
      </p:sp>
      <p:sp>
        <p:nvSpPr>
          <p:cNvPr id="4" name="object 4"/>
          <p:cNvSpPr txBox="1"/>
          <p:nvPr/>
        </p:nvSpPr>
        <p:spPr>
          <a:xfrm>
            <a:off x="1308125" y="3086658"/>
            <a:ext cx="17350740" cy="781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6445" marR="17145">
              <a:lnSpc>
                <a:spcPct val="110700"/>
              </a:lnSpc>
              <a:spcBef>
                <a:spcPts val="100"/>
              </a:spcBef>
            </a:pPr>
            <a:r>
              <a:rPr sz="3600" spc="100" dirty="0">
                <a:solidFill>
                  <a:srgbClr val="FFFFFF"/>
                </a:solidFill>
                <a:latin typeface="Arial MT"/>
                <a:cs typeface="Arial MT"/>
              </a:rPr>
              <a:t>Flight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25" dirty="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vs. Payload Mass,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0" dirty="0">
                <a:solidFill>
                  <a:srgbClr val="FFFFFF"/>
                </a:solidFill>
                <a:latin typeface="Arial MT"/>
                <a:cs typeface="Arial MT"/>
              </a:rPr>
              <a:t>Flight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25" dirty="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vs. </a:t>
            </a:r>
            <a:r>
              <a:rPr sz="3600" spc="7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 Site,</a:t>
            </a:r>
            <a:r>
              <a:rPr sz="36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Payload 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Mass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vs.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7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Site,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70" dirty="0">
                <a:solidFill>
                  <a:srgbClr val="FFFFFF"/>
                </a:solidFill>
                <a:latin typeface="Arial MT"/>
                <a:cs typeface="Arial MT"/>
              </a:rPr>
              <a:t>Orbit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Type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vs.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5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Rate,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0" dirty="0">
                <a:solidFill>
                  <a:srgbClr val="FFFFFF"/>
                </a:solidFill>
                <a:latin typeface="Arial MT"/>
                <a:cs typeface="Arial MT"/>
              </a:rPr>
              <a:t>Flight</a:t>
            </a:r>
            <a:r>
              <a:rPr sz="36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25" dirty="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vs.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70" dirty="0">
                <a:solidFill>
                  <a:srgbClr val="FFFFFF"/>
                </a:solidFill>
                <a:latin typeface="Arial MT"/>
                <a:cs typeface="Arial MT"/>
              </a:rPr>
              <a:t>Orbit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FFFFFF"/>
                </a:solidFill>
                <a:latin typeface="Arial MT"/>
                <a:cs typeface="Arial MT"/>
              </a:rPr>
              <a:t>Type,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36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Mass</a:t>
            </a:r>
            <a:r>
              <a:rPr sz="36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vs</a:t>
            </a:r>
            <a:r>
              <a:rPr sz="36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70" dirty="0">
                <a:solidFill>
                  <a:srgbClr val="FFFFFF"/>
                </a:solidFill>
                <a:latin typeface="Arial MT"/>
                <a:cs typeface="Arial MT"/>
              </a:rPr>
              <a:t>Orbit</a:t>
            </a:r>
            <a:r>
              <a:rPr sz="36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Type</a:t>
            </a:r>
            <a:r>
              <a:rPr sz="36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6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5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6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Rate</a:t>
            </a:r>
            <a:r>
              <a:rPr sz="36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Yearly</a:t>
            </a:r>
            <a:r>
              <a:rPr sz="36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Trend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3600" dirty="0">
              <a:latin typeface="Arial MT"/>
              <a:cs typeface="Arial MT"/>
            </a:endParaRPr>
          </a:p>
          <a:p>
            <a:pPr marL="12700" marR="880110">
              <a:lnSpc>
                <a:spcPct val="110700"/>
              </a:lnSpc>
              <a:spcBef>
                <a:spcPts val="5"/>
              </a:spcBef>
            </a:pPr>
            <a:r>
              <a:rPr sz="3600" spc="110" dirty="0">
                <a:solidFill>
                  <a:srgbClr val="FFFFFF"/>
                </a:solidFill>
                <a:latin typeface="Arial MT"/>
                <a:cs typeface="Arial MT"/>
              </a:rPr>
              <a:t>Scatter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50" dirty="0">
                <a:solidFill>
                  <a:srgbClr val="FFFFFF"/>
                </a:solidFill>
                <a:latin typeface="Arial MT"/>
                <a:cs typeface="Arial MT"/>
              </a:rPr>
              <a:t>plots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relationship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45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55" dirty="0">
                <a:solidFill>
                  <a:srgbClr val="FFFFFF"/>
                </a:solidFill>
                <a:latin typeface="Arial MT"/>
                <a:cs typeface="Arial MT"/>
              </a:rPr>
              <a:t>variables.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2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relationship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exists, </a:t>
            </a:r>
            <a:r>
              <a:rPr sz="3600" spc="130" dirty="0">
                <a:solidFill>
                  <a:srgbClr val="FFFFFF"/>
                </a:solidFill>
                <a:latin typeface="Arial MT"/>
                <a:cs typeface="Arial MT"/>
              </a:rPr>
              <a:t>they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85" dirty="0">
                <a:solidFill>
                  <a:srgbClr val="FFFFFF"/>
                </a:solidFill>
                <a:latin typeface="Arial MT"/>
                <a:cs typeface="Arial MT"/>
              </a:rPr>
              <a:t>could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4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75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2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14" dirty="0">
                <a:solidFill>
                  <a:srgbClr val="FFFFFF"/>
                </a:solidFill>
                <a:latin typeface="Arial MT"/>
                <a:cs typeface="Arial MT"/>
              </a:rPr>
              <a:t>machine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30" dirty="0">
                <a:solidFill>
                  <a:srgbClr val="FFFFFF"/>
                </a:solidFill>
                <a:latin typeface="Arial MT"/>
                <a:cs typeface="Arial MT"/>
              </a:rPr>
              <a:t>model.</a:t>
            </a:r>
            <a:endParaRPr sz="3600" dirty="0">
              <a:latin typeface="Arial MT"/>
              <a:cs typeface="Arial MT"/>
            </a:endParaRPr>
          </a:p>
          <a:p>
            <a:pPr marL="12700" marR="5080">
              <a:lnSpc>
                <a:spcPct val="110700"/>
              </a:lnSpc>
              <a:spcBef>
                <a:spcPts val="18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Bar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14" dirty="0">
                <a:solidFill>
                  <a:srgbClr val="FFFFFF"/>
                </a:solidFill>
                <a:latin typeface="Arial MT"/>
                <a:cs typeface="Arial MT"/>
              </a:rPr>
              <a:t>charts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10" dirty="0">
                <a:solidFill>
                  <a:srgbClr val="FFFFFF"/>
                </a:solidFill>
                <a:latin typeface="Arial MT"/>
                <a:cs typeface="Arial MT"/>
              </a:rPr>
              <a:t>comparisons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50" dirty="0">
                <a:solidFill>
                  <a:srgbClr val="FFFFFF"/>
                </a:solidFill>
                <a:latin typeface="Arial MT"/>
                <a:cs typeface="Arial MT"/>
              </a:rPr>
              <a:t>among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20" dirty="0">
                <a:solidFill>
                  <a:srgbClr val="FFFFFF"/>
                </a:solidFill>
                <a:latin typeface="Arial MT"/>
                <a:cs typeface="Arial MT"/>
              </a:rPr>
              <a:t>discrete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0" dirty="0">
                <a:solidFill>
                  <a:srgbClr val="FFFFFF"/>
                </a:solidFill>
                <a:latin typeface="Arial MT"/>
                <a:cs typeface="Arial MT"/>
              </a:rPr>
              <a:t>categories.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14" dirty="0">
                <a:solidFill>
                  <a:srgbClr val="FFFFFF"/>
                </a:solidFill>
                <a:latin typeface="Arial MT"/>
                <a:cs typeface="Arial MT"/>
              </a:rPr>
              <a:t>goal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22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6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2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relationship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45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40" dirty="0">
                <a:solidFill>
                  <a:srgbClr val="FFFFFF"/>
                </a:solidFill>
                <a:latin typeface="Arial MT"/>
                <a:cs typeface="Arial MT"/>
              </a:rPr>
              <a:t>specific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10" dirty="0">
                <a:solidFill>
                  <a:srgbClr val="FFFFFF"/>
                </a:solidFill>
                <a:latin typeface="Arial MT"/>
                <a:cs typeface="Arial MT"/>
              </a:rPr>
              <a:t>categories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55" dirty="0">
                <a:solidFill>
                  <a:srgbClr val="FFFFFF"/>
                </a:solidFill>
                <a:latin typeface="Arial MT"/>
                <a:cs typeface="Arial MT"/>
              </a:rPr>
              <a:t>being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45" dirty="0">
                <a:solidFill>
                  <a:srgbClr val="FFFFFF"/>
                </a:solidFill>
                <a:latin typeface="Arial MT"/>
                <a:cs typeface="Arial MT"/>
              </a:rPr>
              <a:t>compared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75" dirty="0">
                <a:solidFill>
                  <a:srgbClr val="FFFFFF"/>
                </a:solidFill>
                <a:latin typeface="Arial MT"/>
                <a:cs typeface="Arial MT"/>
              </a:rPr>
              <a:t>measured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value.</a:t>
            </a:r>
            <a:endParaRPr sz="3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260"/>
              </a:spcBef>
            </a:pPr>
            <a:r>
              <a:rPr sz="3600" spc="50" dirty="0">
                <a:solidFill>
                  <a:srgbClr val="FFFFFF"/>
                </a:solidFill>
                <a:latin typeface="Arial MT"/>
                <a:cs typeface="Arial MT"/>
              </a:rPr>
              <a:t>Line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14" dirty="0">
                <a:solidFill>
                  <a:srgbClr val="FFFFFF"/>
                </a:solidFill>
                <a:latin typeface="Arial MT"/>
                <a:cs typeface="Arial MT"/>
              </a:rPr>
              <a:t>charts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10" dirty="0">
                <a:solidFill>
                  <a:srgbClr val="FFFFFF"/>
                </a:solidFill>
                <a:latin typeface="Arial MT"/>
                <a:cs typeface="Arial MT"/>
              </a:rPr>
              <a:t>trends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2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85" dirty="0">
                <a:solidFill>
                  <a:srgbClr val="FFFFFF"/>
                </a:solidFill>
                <a:latin typeface="Arial MT"/>
                <a:cs typeface="Arial MT"/>
              </a:rPr>
              <a:t>over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70" dirty="0">
                <a:solidFill>
                  <a:srgbClr val="FFFFFF"/>
                </a:solidFill>
                <a:latin typeface="Arial MT"/>
                <a:cs typeface="Arial MT"/>
              </a:rPr>
              <a:t>time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25" dirty="0">
                <a:solidFill>
                  <a:srgbClr val="FFFFFF"/>
                </a:solidFill>
                <a:latin typeface="Arial MT"/>
                <a:cs typeface="Arial MT"/>
              </a:rPr>
              <a:t>(time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Arial MT"/>
                <a:cs typeface="Arial MT"/>
              </a:rPr>
              <a:t>series).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3600" dirty="0">
              <a:latin typeface="Arial MT"/>
              <a:cs typeface="Arial MT"/>
            </a:endParaRPr>
          </a:p>
          <a:p>
            <a:pPr marL="137160" algn="ctr">
              <a:lnSpc>
                <a:spcPct val="100000"/>
              </a:lnSpc>
            </a:pPr>
            <a:r>
              <a:rPr sz="2950" u="sng" spc="11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GitHub</a:t>
            </a:r>
            <a:r>
              <a:rPr sz="2950" u="sng" spc="-45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spc="-7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URL:</a:t>
            </a:r>
            <a:r>
              <a:rPr sz="2950" u="sng" spc="-45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950" u="sng" spc="-145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EDA with Data </a:t>
            </a:r>
            <a:r>
              <a:rPr lang="en-US" sz="2950" u="sng" spc="-145" dirty="0" err="1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Visualization.ipynb</a:t>
            </a:r>
            <a:endParaRPr sz="2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3597" y="1055884"/>
            <a:ext cx="5384632" cy="7502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70068" y="2032369"/>
            <a:ext cx="18003520" cy="8756650"/>
          </a:xfrm>
          <a:prstGeom prst="rect">
            <a:avLst/>
          </a:prstGeom>
        </p:spPr>
        <p:txBody>
          <a:bodyPr vert="horz" wrap="square" lIns="0" tIns="236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2800" spc="110" dirty="0">
                <a:solidFill>
                  <a:srgbClr val="D5D5D5"/>
                </a:solidFill>
                <a:latin typeface="Arial MT"/>
                <a:cs typeface="Arial MT"/>
              </a:rPr>
              <a:t>Performed</a:t>
            </a:r>
            <a:r>
              <a:rPr sz="28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D5D5D5"/>
                </a:solidFill>
                <a:latin typeface="Arial MT"/>
                <a:cs typeface="Arial MT"/>
              </a:rPr>
              <a:t>SQL</a:t>
            </a:r>
            <a:r>
              <a:rPr sz="280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2800" spc="90" dirty="0">
                <a:solidFill>
                  <a:srgbClr val="D5D5D5"/>
                </a:solidFill>
                <a:latin typeface="Arial MT"/>
                <a:cs typeface="Arial MT"/>
              </a:rPr>
              <a:t>queries:</a:t>
            </a:r>
            <a:endParaRPr sz="2800" dirty="0">
              <a:latin typeface="Arial MT"/>
              <a:cs typeface="Arial MT"/>
            </a:endParaRPr>
          </a:p>
          <a:p>
            <a:pPr marL="1057275" indent="-290830">
              <a:lnSpc>
                <a:spcPct val="100000"/>
              </a:lnSpc>
              <a:spcBef>
                <a:spcPts val="1555"/>
              </a:spcBef>
              <a:buChar char="•"/>
              <a:tabLst>
                <a:tab pos="1057275" algn="l"/>
              </a:tabLst>
            </a:pPr>
            <a:r>
              <a:rPr sz="2500" spc="50" dirty="0">
                <a:solidFill>
                  <a:srgbClr val="FFFFFF"/>
                </a:solidFill>
                <a:latin typeface="Arial MT"/>
                <a:cs typeface="Arial MT"/>
              </a:rPr>
              <a:t>Displaying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names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unique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Arial MT"/>
                <a:cs typeface="Arial MT"/>
              </a:rPr>
              <a:t>space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Arial MT"/>
                <a:cs typeface="Arial MT"/>
              </a:rPr>
              <a:t>mission</a:t>
            </a:r>
            <a:endParaRPr sz="2500" dirty="0">
              <a:latin typeface="Arial MT"/>
              <a:cs typeface="Arial MT"/>
            </a:endParaRPr>
          </a:p>
          <a:p>
            <a:pPr marL="1057275" indent="-290830">
              <a:lnSpc>
                <a:spcPct val="100000"/>
              </a:lnSpc>
              <a:spcBef>
                <a:spcPts val="1545"/>
              </a:spcBef>
              <a:buChar char="•"/>
              <a:tabLst>
                <a:tab pos="1057275" algn="l"/>
              </a:tabLst>
            </a:pPr>
            <a:r>
              <a:rPr sz="2500" spc="50" dirty="0">
                <a:solidFill>
                  <a:srgbClr val="FFFFFF"/>
                </a:solidFill>
                <a:latin typeface="Arial MT"/>
                <a:cs typeface="Arial MT"/>
              </a:rPr>
              <a:t>Displaying</a:t>
            </a: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25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records</a:t>
            </a:r>
            <a:r>
              <a:rPr sz="25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where</a:t>
            </a:r>
            <a:r>
              <a:rPr sz="25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25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r>
              <a:rPr sz="25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5" dirty="0">
                <a:solidFill>
                  <a:srgbClr val="FFFFFF"/>
                </a:solidFill>
                <a:latin typeface="Arial MT"/>
                <a:cs typeface="Arial MT"/>
              </a:rPr>
              <a:t>begin</a:t>
            </a: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3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5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Arial MT"/>
                <a:cs typeface="Arial MT"/>
              </a:rPr>
              <a:t>string</a:t>
            </a:r>
            <a:r>
              <a:rPr sz="25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‘CCA'</a:t>
            </a:r>
            <a:endParaRPr sz="2500" dirty="0">
              <a:latin typeface="Arial MT"/>
              <a:cs typeface="Arial MT"/>
            </a:endParaRPr>
          </a:p>
          <a:p>
            <a:pPr marL="1057275" indent="-290830">
              <a:lnSpc>
                <a:spcPct val="100000"/>
              </a:lnSpc>
              <a:spcBef>
                <a:spcPts val="1545"/>
              </a:spcBef>
              <a:buChar char="•"/>
              <a:tabLst>
                <a:tab pos="1057275" algn="l"/>
              </a:tabLst>
            </a:pPr>
            <a:r>
              <a:rPr sz="2500" spc="50" dirty="0">
                <a:solidFill>
                  <a:srgbClr val="FFFFFF"/>
                </a:solidFill>
                <a:latin typeface="Arial MT"/>
                <a:cs typeface="Arial MT"/>
              </a:rPr>
              <a:t>Displaying</a:t>
            </a:r>
            <a:r>
              <a:rPr sz="2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2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2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mass</a:t>
            </a:r>
            <a:r>
              <a:rPr sz="2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carried</a:t>
            </a:r>
            <a:r>
              <a:rPr sz="2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boosters</a:t>
            </a:r>
            <a:r>
              <a:rPr sz="2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launched</a:t>
            </a:r>
            <a:r>
              <a:rPr sz="2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5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NASA</a:t>
            </a:r>
            <a:r>
              <a:rPr sz="2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(CRS)</a:t>
            </a:r>
            <a:endParaRPr sz="2500" dirty="0">
              <a:latin typeface="Arial MT"/>
              <a:cs typeface="Arial MT"/>
            </a:endParaRPr>
          </a:p>
          <a:p>
            <a:pPr marL="1057275" indent="-290830">
              <a:lnSpc>
                <a:spcPct val="100000"/>
              </a:lnSpc>
              <a:spcBef>
                <a:spcPts val="1545"/>
              </a:spcBef>
              <a:buChar char="•"/>
              <a:tabLst>
                <a:tab pos="1057275" algn="l"/>
              </a:tabLst>
            </a:pPr>
            <a:r>
              <a:rPr sz="2500" spc="50" dirty="0">
                <a:solidFill>
                  <a:srgbClr val="FFFFFF"/>
                </a:solidFill>
                <a:latin typeface="Arial MT"/>
                <a:cs typeface="Arial MT"/>
              </a:rPr>
              <a:t>Displaying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average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mass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carried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Arial MT"/>
                <a:cs typeface="Arial MT"/>
              </a:rPr>
              <a:t>booster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Arial MT"/>
                <a:cs typeface="Arial MT"/>
              </a:rPr>
              <a:t>version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F9</a:t>
            </a: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v1.1</a:t>
            </a:r>
            <a:endParaRPr sz="2500" dirty="0">
              <a:latin typeface="Arial MT"/>
              <a:cs typeface="Arial MT"/>
            </a:endParaRPr>
          </a:p>
          <a:p>
            <a:pPr marL="1057275" indent="-290830">
              <a:lnSpc>
                <a:spcPct val="100000"/>
              </a:lnSpc>
              <a:spcBef>
                <a:spcPts val="1545"/>
              </a:spcBef>
              <a:buChar char="•"/>
              <a:tabLst>
                <a:tab pos="1057275" algn="l"/>
              </a:tabLst>
            </a:pP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Listing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date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0" dirty="0">
                <a:solidFill>
                  <a:srgbClr val="FFFFFF"/>
                </a:solidFill>
                <a:latin typeface="Arial MT"/>
                <a:cs typeface="Arial MT"/>
              </a:rPr>
              <a:t>first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Arial MT"/>
                <a:cs typeface="Arial MT"/>
              </a:rPr>
              <a:t>successful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Arial MT"/>
                <a:cs typeface="Arial MT"/>
              </a:rPr>
              <a:t>landing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20" dirty="0">
                <a:solidFill>
                  <a:srgbClr val="FFFFFF"/>
                </a:solidFill>
                <a:latin typeface="Arial MT"/>
                <a:cs typeface="Arial MT"/>
              </a:rPr>
              <a:t>outcome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Arial MT"/>
                <a:cs typeface="Arial MT"/>
              </a:rPr>
              <a:t>ground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Arial MT"/>
                <a:cs typeface="Arial MT"/>
              </a:rPr>
              <a:t>pad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Arial MT"/>
                <a:cs typeface="Arial MT"/>
              </a:rPr>
              <a:t>achieved</a:t>
            </a:r>
            <a:endParaRPr sz="2500" dirty="0">
              <a:latin typeface="Arial MT"/>
              <a:cs typeface="Arial MT"/>
            </a:endParaRPr>
          </a:p>
          <a:p>
            <a:pPr marL="1056640" marR="5080" indent="-290830">
              <a:lnSpc>
                <a:spcPct val="109900"/>
              </a:lnSpc>
              <a:spcBef>
                <a:spcPts val="1245"/>
              </a:spcBef>
              <a:buChar char="•"/>
              <a:tabLst>
                <a:tab pos="1056640" algn="l"/>
              </a:tabLst>
            </a:pP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Listing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names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boosters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25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Arial MT"/>
                <a:cs typeface="Arial MT"/>
              </a:rPr>
              <a:t>drone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ship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mass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greater</a:t>
            </a:r>
            <a:r>
              <a:rPr sz="25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254" dirty="0">
                <a:solidFill>
                  <a:srgbClr val="FFFFFF"/>
                </a:solidFill>
                <a:latin typeface="Arial MT"/>
                <a:cs typeface="Arial MT"/>
              </a:rPr>
              <a:t>4000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Arial MT"/>
                <a:cs typeface="Arial MT"/>
              </a:rPr>
              <a:t>but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less</a:t>
            </a:r>
            <a:r>
              <a:rPr sz="2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sz="25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240" dirty="0">
                <a:solidFill>
                  <a:srgbClr val="FFFFFF"/>
                </a:solidFill>
                <a:latin typeface="Arial MT"/>
                <a:cs typeface="Arial MT"/>
              </a:rPr>
              <a:t>6000</a:t>
            </a:r>
            <a:endParaRPr sz="2500" dirty="0">
              <a:latin typeface="Arial MT"/>
              <a:cs typeface="Arial MT"/>
            </a:endParaRPr>
          </a:p>
          <a:p>
            <a:pPr marL="1057275" indent="-290830">
              <a:lnSpc>
                <a:spcPct val="100000"/>
              </a:lnSpc>
              <a:spcBef>
                <a:spcPts val="1545"/>
              </a:spcBef>
              <a:buChar char="•"/>
              <a:tabLst>
                <a:tab pos="1057275" algn="l"/>
              </a:tabLst>
            </a:pP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Listing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10" dirty="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Arial MT"/>
                <a:cs typeface="Arial MT"/>
              </a:rPr>
              <a:t>successful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Arial MT"/>
                <a:cs typeface="Arial MT"/>
              </a:rPr>
              <a:t>failure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Arial MT"/>
                <a:cs typeface="Arial MT"/>
              </a:rPr>
              <a:t>mission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Arial MT"/>
                <a:cs typeface="Arial MT"/>
              </a:rPr>
              <a:t>outcomes</a:t>
            </a:r>
            <a:endParaRPr sz="2500" dirty="0">
              <a:latin typeface="Arial MT"/>
              <a:cs typeface="Arial MT"/>
            </a:endParaRPr>
          </a:p>
          <a:p>
            <a:pPr marL="1057275" indent="-290830">
              <a:lnSpc>
                <a:spcPct val="100000"/>
              </a:lnSpc>
              <a:spcBef>
                <a:spcPts val="1545"/>
              </a:spcBef>
              <a:buChar char="•"/>
              <a:tabLst>
                <a:tab pos="1057275" algn="l"/>
              </a:tabLst>
            </a:pP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Listing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names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Arial MT"/>
                <a:cs typeface="Arial MT"/>
              </a:rPr>
              <a:t>booster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versions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25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carried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Arial MT"/>
                <a:cs typeface="Arial MT"/>
              </a:rPr>
              <a:t>maximum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mass</a:t>
            </a:r>
            <a:endParaRPr sz="2500" dirty="0">
              <a:latin typeface="Arial MT"/>
              <a:cs typeface="Arial MT"/>
            </a:endParaRPr>
          </a:p>
          <a:p>
            <a:pPr marL="1056640" marR="301625" indent="-290830">
              <a:lnSpc>
                <a:spcPct val="109900"/>
              </a:lnSpc>
              <a:spcBef>
                <a:spcPts val="1250"/>
              </a:spcBef>
              <a:buChar char="•"/>
              <a:tabLst>
                <a:tab pos="1056640" algn="l"/>
              </a:tabLst>
            </a:pP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Listing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Arial MT"/>
                <a:cs typeface="Arial MT"/>
              </a:rPr>
              <a:t>failed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Arial MT"/>
                <a:cs typeface="Arial MT"/>
              </a:rPr>
              <a:t>landing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outcomes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Arial MT"/>
                <a:cs typeface="Arial MT"/>
              </a:rPr>
              <a:t>drone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ship,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Arial MT"/>
                <a:cs typeface="Arial MT"/>
              </a:rPr>
              <a:t>booster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versions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55" dirty="0">
                <a:solidFill>
                  <a:srgbClr val="FFFFFF"/>
                </a:solidFill>
                <a:latin typeface="Arial MT"/>
                <a:cs typeface="Arial MT"/>
              </a:rPr>
              <a:t>site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names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Arial MT"/>
                <a:cs typeface="Arial MT"/>
              </a:rPr>
              <a:t>months</a:t>
            </a:r>
            <a:r>
              <a:rPr sz="25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in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year</a:t>
            </a: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2015</a:t>
            </a:r>
            <a:endParaRPr sz="2500" dirty="0">
              <a:latin typeface="Arial MT"/>
              <a:cs typeface="Arial MT"/>
            </a:endParaRPr>
          </a:p>
          <a:p>
            <a:pPr marL="1056640" marR="345440" indent="-290830">
              <a:lnSpc>
                <a:spcPct val="109900"/>
              </a:lnSpc>
              <a:spcBef>
                <a:spcPts val="1245"/>
              </a:spcBef>
              <a:buChar char="•"/>
              <a:tabLst>
                <a:tab pos="1056640" algn="l"/>
              </a:tabLst>
            </a:pP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Ranking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20" dirty="0">
                <a:solidFill>
                  <a:srgbClr val="FFFFFF"/>
                </a:solidFill>
                <a:latin typeface="Arial MT"/>
                <a:cs typeface="Arial MT"/>
              </a:rPr>
              <a:t>count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3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Arial MT"/>
                <a:cs typeface="Arial MT"/>
              </a:rPr>
              <a:t>landing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outcomes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(such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Failure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(drone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Arial MT"/>
                <a:cs typeface="Arial MT"/>
              </a:rPr>
              <a:t>ship)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(ground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dirty="0">
                <a:solidFill>
                  <a:srgbClr val="FFFFFF"/>
                </a:solidFill>
                <a:latin typeface="Arial MT"/>
                <a:cs typeface="Arial MT"/>
              </a:rPr>
              <a:t>pad))</a:t>
            </a:r>
            <a:r>
              <a:rPr sz="25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5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40" dirty="0">
                <a:solidFill>
                  <a:srgbClr val="FFFFFF"/>
                </a:solidFill>
                <a:latin typeface="Arial MT"/>
                <a:cs typeface="Arial MT"/>
              </a:rPr>
              <a:t>date </a:t>
            </a:r>
            <a:r>
              <a:rPr sz="2500" spc="70" dirty="0">
                <a:solidFill>
                  <a:srgbClr val="FFFFFF"/>
                </a:solidFill>
                <a:latin typeface="Arial MT"/>
                <a:cs typeface="Arial MT"/>
              </a:rPr>
              <a:t>2010-</a:t>
            </a:r>
            <a:r>
              <a:rPr sz="2500" spc="105" dirty="0">
                <a:solidFill>
                  <a:srgbClr val="FFFFFF"/>
                </a:solidFill>
                <a:latin typeface="Arial MT"/>
                <a:cs typeface="Arial MT"/>
              </a:rPr>
              <a:t>06-</a:t>
            </a:r>
            <a:r>
              <a:rPr sz="2500" spc="125" dirty="0">
                <a:solidFill>
                  <a:srgbClr val="FFFFFF"/>
                </a:solidFill>
                <a:latin typeface="Arial MT"/>
                <a:cs typeface="Arial MT"/>
              </a:rPr>
              <a:t>04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-50" dirty="0">
                <a:solidFill>
                  <a:srgbClr val="FFFFFF"/>
                </a:solidFill>
                <a:latin typeface="Arial MT"/>
                <a:cs typeface="Arial MT"/>
              </a:rPr>
              <a:t>2017-</a:t>
            </a:r>
            <a:r>
              <a:rPr sz="2500" spc="95" dirty="0">
                <a:solidFill>
                  <a:srgbClr val="FFFFFF"/>
                </a:solidFill>
                <a:latin typeface="Arial MT"/>
                <a:cs typeface="Arial MT"/>
              </a:rPr>
              <a:t>03-</a:t>
            </a:r>
            <a:r>
              <a:rPr sz="2500" spc="135" dirty="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sz="25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90" dirty="0">
                <a:solidFill>
                  <a:srgbClr val="FFFFFF"/>
                </a:solidFill>
                <a:latin typeface="Arial MT"/>
                <a:cs typeface="Arial MT"/>
              </a:rPr>
              <a:t>descending</a:t>
            </a:r>
            <a:r>
              <a:rPr sz="25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500" spc="75" dirty="0">
                <a:solidFill>
                  <a:srgbClr val="FFFFFF"/>
                </a:solidFill>
                <a:latin typeface="Arial MT"/>
                <a:cs typeface="Arial MT"/>
              </a:rPr>
              <a:t>order</a:t>
            </a:r>
            <a:endParaRPr sz="2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5"/>
              </a:spcBef>
            </a:pPr>
            <a:endParaRPr sz="2500" dirty="0">
              <a:latin typeface="Arial MT"/>
              <a:cs typeface="Arial MT"/>
            </a:endParaRPr>
          </a:p>
          <a:p>
            <a:pPr marL="160020" algn="ctr">
              <a:lnSpc>
                <a:spcPct val="100000"/>
              </a:lnSpc>
              <a:spcBef>
                <a:spcPts val="5"/>
              </a:spcBef>
            </a:pPr>
            <a:r>
              <a:rPr sz="2950" u="sng" spc="11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GitHub</a:t>
            </a:r>
            <a:r>
              <a:rPr sz="2950" u="sng" spc="-6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spc="-7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URL:</a:t>
            </a:r>
            <a:r>
              <a:rPr lang="en-US" sz="2950" u="sng" spc="-6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EDA with </a:t>
            </a:r>
            <a:r>
              <a:rPr lang="en-US" sz="2950" u="sng" spc="-60" dirty="0" err="1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SQL.ipynb</a:t>
            </a:r>
            <a:endParaRPr sz="2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9417" y="1055883"/>
            <a:ext cx="14286601" cy="82502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300" spc="85" dirty="0"/>
              <a:t>Markers</a:t>
            </a:r>
            <a:r>
              <a:rPr sz="3300" spc="-125" dirty="0"/>
              <a:t> </a:t>
            </a:r>
            <a:r>
              <a:rPr sz="3300" spc="220" dirty="0"/>
              <a:t>of</a:t>
            </a:r>
            <a:r>
              <a:rPr sz="3300" spc="-120" dirty="0"/>
              <a:t> </a:t>
            </a:r>
            <a:r>
              <a:rPr sz="3300" spc="95" dirty="0"/>
              <a:t>all</a:t>
            </a:r>
            <a:r>
              <a:rPr sz="3300" spc="-120" dirty="0"/>
              <a:t> </a:t>
            </a:r>
            <a:r>
              <a:rPr sz="3300" spc="105" dirty="0"/>
              <a:t>Launch</a:t>
            </a:r>
            <a:r>
              <a:rPr sz="3300" spc="-120" dirty="0"/>
              <a:t> </a:t>
            </a:r>
            <a:r>
              <a:rPr sz="3300" spc="60" dirty="0"/>
              <a:t>Sites:</a:t>
            </a:r>
            <a:endParaRPr sz="3300"/>
          </a:p>
        </p:txBody>
      </p:sp>
      <p:sp>
        <p:nvSpPr>
          <p:cNvPr id="4" name="object 4"/>
          <p:cNvSpPr txBox="1"/>
          <p:nvPr/>
        </p:nvSpPr>
        <p:spPr>
          <a:xfrm>
            <a:off x="1308125" y="2920850"/>
            <a:ext cx="17264380" cy="798385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66445" marR="273050" indent="221615">
              <a:lnSpc>
                <a:spcPct val="111400"/>
              </a:lnSpc>
              <a:spcBef>
                <a:spcPts val="90"/>
              </a:spcBef>
              <a:buChar char="-"/>
              <a:tabLst>
                <a:tab pos="988060" algn="l"/>
              </a:tabLst>
            </a:pPr>
            <a:r>
              <a:rPr sz="2900" spc="13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2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60" dirty="0">
                <a:solidFill>
                  <a:srgbClr val="FFFFFF"/>
                </a:solidFill>
                <a:latin typeface="Arial MT"/>
                <a:cs typeface="Arial MT"/>
              </a:rPr>
              <a:t>Marker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65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75" dirty="0">
                <a:solidFill>
                  <a:srgbClr val="FFFFFF"/>
                </a:solidFill>
                <a:latin typeface="Arial MT"/>
                <a:cs typeface="Arial MT"/>
              </a:rPr>
              <a:t>Circle,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80" dirty="0">
                <a:solidFill>
                  <a:srgbClr val="FFFFFF"/>
                </a:solidFill>
                <a:latin typeface="Arial MT"/>
                <a:cs typeface="Arial MT"/>
              </a:rPr>
              <a:t>Popup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55" dirty="0">
                <a:solidFill>
                  <a:srgbClr val="FFFFFF"/>
                </a:solidFill>
                <a:latin typeface="Arial MT"/>
                <a:cs typeface="Arial MT"/>
              </a:rPr>
              <a:t>Label</a:t>
            </a:r>
            <a:r>
              <a:rPr sz="2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Text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55" dirty="0">
                <a:solidFill>
                  <a:srgbClr val="FFFFFF"/>
                </a:solidFill>
                <a:latin typeface="Arial MT"/>
                <a:cs typeface="Arial MT"/>
              </a:rPr>
              <a:t>Label</a:t>
            </a:r>
            <a:r>
              <a:rPr sz="2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8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Arial MT"/>
                <a:cs typeface="Arial MT"/>
              </a:rPr>
              <a:t>NASA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60" dirty="0">
                <a:solidFill>
                  <a:srgbClr val="FFFFFF"/>
                </a:solidFill>
                <a:latin typeface="Arial MT"/>
                <a:cs typeface="Arial MT"/>
              </a:rPr>
              <a:t>Johnson</a:t>
            </a:r>
            <a:r>
              <a:rPr sz="2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65" dirty="0">
                <a:solidFill>
                  <a:srgbClr val="FFFFFF"/>
                </a:solidFill>
                <a:latin typeface="Arial MT"/>
                <a:cs typeface="Arial MT"/>
              </a:rPr>
              <a:t>Space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00" dirty="0">
                <a:solidFill>
                  <a:srgbClr val="FFFFFF"/>
                </a:solidFill>
                <a:latin typeface="Arial MT"/>
                <a:cs typeface="Arial MT"/>
              </a:rPr>
              <a:t>Center</a:t>
            </a:r>
            <a:r>
              <a:rPr sz="2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85" dirty="0">
                <a:solidFill>
                  <a:srgbClr val="FFFFFF"/>
                </a:solidFill>
                <a:latin typeface="Arial MT"/>
                <a:cs typeface="Arial MT"/>
              </a:rPr>
              <a:t>using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sz="2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25" dirty="0">
                <a:solidFill>
                  <a:srgbClr val="FFFFFF"/>
                </a:solidFill>
                <a:latin typeface="Arial MT"/>
                <a:cs typeface="Arial MT"/>
              </a:rPr>
              <a:t>latitude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40" dirty="0">
                <a:solidFill>
                  <a:srgbClr val="FFFFFF"/>
                </a:solidFill>
                <a:latin typeface="Arial MT"/>
                <a:cs typeface="Arial MT"/>
              </a:rPr>
              <a:t>longitude</a:t>
            </a:r>
            <a:r>
              <a:rPr sz="2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Arial MT"/>
                <a:cs typeface="Arial MT"/>
              </a:rPr>
              <a:t>coordinates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9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05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Arial MT"/>
                <a:cs typeface="Arial MT"/>
              </a:rPr>
              <a:t>location.</a:t>
            </a:r>
            <a:endParaRPr sz="2900" dirty="0">
              <a:latin typeface="Arial MT"/>
              <a:cs typeface="Arial MT"/>
            </a:endParaRPr>
          </a:p>
          <a:p>
            <a:pPr marL="766445" marR="75565" indent="221615">
              <a:lnSpc>
                <a:spcPct val="111400"/>
              </a:lnSpc>
              <a:spcBef>
                <a:spcPts val="1465"/>
              </a:spcBef>
              <a:buChar char="-"/>
              <a:tabLst>
                <a:tab pos="988060" algn="l"/>
              </a:tabLst>
            </a:pPr>
            <a:r>
              <a:rPr sz="2900" spc="13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Markers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65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75" dirty="0">
                <a:solidFill>
                  <a:srgbClr val="FFFFFF"/>
                </a:solidFill>
                <a:latin typeface="Arial MT"/>
                <a:cs typeface="Arial MT"/>
              </a:rPr>
              <a:t>Circle,</a:t>
            </a:r>
            <a:r>
              <a:rPr sz="29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80" dirty="0">
                <a:solidFill>
                  <a:srgbClr val="FFFFFF"/>
                </a:solidFill>
                <a:latin typeface="Arial MT"/>
                <a:cs typeface="Arial MT"/>
              </a:rPr>
              <a:t>Popup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55" dirty="0">
                <a:solidFill>
                  <a:srgbClr val="FFFFFF"/>
                </a:solidFill>
                <a:latin typeface="Arial MT"/>
                <a:cs typeface="Arial MT"/>
              </a:rPr>
              <a:t>Label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Text</a:t>
            </a:r>
            <a:r>
              <a:rPr sz="29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55" dirty="0">
                <a:solidFill>
                  <a:srgbClr val="FFFFFF"/>
                </a:solidFill>
                <a:latin typeface="Arial MT"/>
                <a:cs typeface="Arial MT"/>
              </a:rPr>
              <a:t>Label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8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29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7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29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20" dirty="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29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14" dirty="0">
                <a:solidFill>
                  <a:srgbClr val="FFFFFF"/>
                </a:solidFill>
                <a:latin typeface="Arial MT"/>
                <a:cs typeface="Arial MT"/>
              </a:rPr>
              <a:t>latitude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40" dirty="0">
                <a:solidFill>
                  <a:srgbClr val="FFFFFF"/>
                </a:solidFill>
                <a:latin typeface="Arial MT"/>
                <a:cs typeface="Arial MT"/>
              </a:rPr>
              <a:t>longitude</a:t>
            </a:r>
            <a:r>
              <a:rPr sz="2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Arial MT"/>
                <a:cs typeface="Arial MT"/>
              </a:rPr>
              <a:t>coordinates</a:t>
            </a:r>
            <a:r>
              <a:rPr sz="2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9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00" dirty="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sz="2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20" dirty="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2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Arial MT"/>
                <a:cs typeface="Arial MT"/>
              </a:rPr>
              <a:t>geographical</a:t>
            </a:r>
            <a:r>
              <a:rPr sz="2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Arial MT"/>
                <a:cs typeface="Arial MT"/>
              </a:rPr>
              <a:t>locations</a:t>
            </a:r>
            <a:r>
              <a:rPr sz="2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30" dirty="0">
                <a:solidFill>
                  <a:srgbClr val="FFFFFF"/>
                </a:solidFill>
                <a:latin typeface="Arial MT"/>
                <a:cs typeface="Arial MT"/>
              </a:rPr>
              <a:t>proximity</a:t>
            </a:r>
            <a:r>
              <a:rPr sz="29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9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70" dirty="0">
                <a:solidFill>
                  <a:srgbClr val="FFFFFF"/>
                </a:solidFill>
                <a:latin typeface="Arial MT"/>
                <a:cs typeface="Arial MT"/>
              </a:rPr>
              <a:t>Equator</a:t>
            </a:r>
            <a:r>
              <a:rPr sz="29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70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2900" spc="55" dirty="0">
                <a:solidFill>
                  <a:srgbClr val="FFFFFF"/>
                </a:solidFill>
                <a:latin typeface="Arial MT"/>
                <a:cs typeface="Arial MT"/>
              </a:rPr>
              <a:t>coasts.</a:t>
            </a:r>
            <a:endParaRPr sz="2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Arial MT"/>
              <a:buChar char="-"/>
            </a:pPr>
            <a:endParaRPr sz="2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300" spc="135" dirty="0">
                <a:solidFill>
                  <a:srgbClr val="D5D5D5"/>
                </a:solidFill>
                <a:latin typeface="Arial MT"/>
                <a:cs typeface="Arial MT"/>
              </a:rPr>
              <a:t>Coloured</a:t>
            </a:r>
            <a:r>
              <a:rPr sz="33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85" dirty="0">
                <a:solidFill>
                  <a:srgbClr val="D5D5D5"/>
                </a:solidFill>
                <a:latin typeface="Arial MT"/>
                <a:cs typeface="Arial MT"/>
              </a:rPr>
              <a:t>Markers</a:t>
            </a:r>
            <a:r>
              <a:rPr sz="330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220" dirty="0">
                <a:solidFill>
                  <a:srgbClr val="D5D5D5"/>
                </a:solidFill>
                <a:latin typeface="Arial MT"/>
                <a:cs typeface="Arial MT"/>
              </a:rPr>
              <a:t>of</a:t>
            </a:r>
            <a:r>
              <a:rPr sz="33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165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30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145" dirty="0">
                <a:solidFill>
                  <a:srgbClr val="D5D5D5"/>
                </a:solidFill>
                <a:latin typeface="Arial MT"/>
                <a:cs typeface="Arial MT"/>
              </a:rPr>
              <a:t>launch</a:t>
            </a:r>
            <a:r>
              <a:rPr sz="330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170" dirty="0">
                <a:solidFill>
                  <a:srgbClr val="D5D5D5"/>
                </a:solidFill>
                <a:latin typeface="Arial MT"/>
                <a:cs typeface="Arial MT"/>
              </a:rPr>
              <a:t>outcomes</a:t>
            </a:r>
            <a:r>
              <a:rPr sz="33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190" dirty="0">
                <a:solidFill>
                  <a:srgbClr val="D5D5D5"/>
                </a:solidFill>
                <a:latin typeface="Arial MT"/>
                <a:cs typeface="Arial MT"/>
              </a:rPr>
              <a:t>for</a:t>
            </a:r>
            <a:r>
              <a:rPr sz="330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110" dirty="0">
                <a:solidFill>
                  <a:srgbClr val="D5D5D5"/>
                </a:solidFill>
                <a:latin typeface="Arial MT"/>
                <a:cs typeface="Arial MT"/>
              </a:rPr>
              <a:t>each</a:t>
            </a:r>
            <a:r>
              <a:rPr sz="33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105" dirty="0">
                <a:solidFill>
                  <a:srgbClr val="D5D5D5"/>
                </a:solidFill>
                <a:latin typeface="Arial MT"/>
                <a:cs typeface="Arial MT"/>
              </a:rPr>
              <a:t>Launch</a:t>
            </a:r>
            <a:r>
              <a:rPr sz="330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80" dirty="0">
                <a:solidFill>
                  <a:srgbClr val="D5D5D5"/>
                </a:solidFill>
                <a:latin typeface="Arial MT"/>
                <a:cs typeface="Arial MT"/>
              </a:rPr>
              <a:t>Site:</a:t>
            </a:r>
            <a:endParaRPr sz="3300" dirty="0">
              <a:latin typeface="Arial MT"/>
              <a:cs typeface="Arial MT"/>
            </a:endParaRPr>
          </a:p>
          <a:p>
            <a:pPr marL="766445" marR="5080" indent="221615">
              <a:lnSpc>
                <a:spcPct val="111400"/>
              </a:lnSpc>
              <a:spcBef>
                <a:spcPts val="1465"/>
              </a:spcBef>
              <a:buChar char="-"/>
              <a:tabLst>
                <a:tab pos="988060" algn="l"/>
              </a:tabLst>
            </a:pPr>
            <a:r>
              <a:rPr sz="2900" spc="13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35" dirty="0">
                <a:solidFill>
                  <a:srgbClr val="FFFFFF"/>
                </a:solidFill>
                <a:latin typeface="Arial MT"/>
                <a:cs typeface="Arial MT"/>
              </a:rPr>
              <a:t>coloured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Markers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8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60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(Green)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00" dirty="0">
                <a:solidFill>
                  <a:srgbClr val="FFFFFF"/>
                </a:solidFill>
                <a:latin typeface="Arial MT"/>
                <a:cs typeface="Arial MT"/>
              </a:rPr>
              <a:t>failed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(Red)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80" dirty="0">
                <a:solidFill>
                  <a:srgbClr val="FFFFFF"/>
                </a:solidFill>
                <a:latin typeface="Arial MT"/>
                <a:cs typeface="Arial MT"/>
              </a:rPr>
              <a:t>launches</a:t>
            </a:r>
            <a:r>
              <a:rPr sz="29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60" dirty="0">
                <a:solidFill>
                  <a:srgbClr val="FFFFFF"/>
                </a:solidFill>
                <a:latin typeface="Arial MT"/>
                <a:cs typeface="Arial MT"/>
              </a:rPr>
              <a:t>Marker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Arial MT"/>
                <a:cs typeface="Arial MT"/>
              </a:rPr>
              <a:t>Cluster</a:t>
            </a:r>
            <a:r>
              <a:rPr sz="2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65" dirty="0">
                <a:solidFill>
                  <a:srgbClr val="FFFFFF"/>
                </a:solidFill>
                <a:latin typeface="Arial MT"/>
                <a:cs typeface="Arial MT"/>
              </a:rPr>
              <a:t>to </a:t>
            </a:r>
            <a:r>
              <a:rPr sz="2900" spc="135" dirty="0">
                <a:solidFill>
                  <a:srgbClr val="FFFFFF"/>
                </a:solidFill>
                <a:latin typeface="Arial MT"/>
                <a:cs typeface="Arial MT"/>
              </a:rPr>
              <a:t>identify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6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2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50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r>
              <a:rPr sz="2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2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80" dirty="0">
                <a:solidFill>
                  <a:srgbClr val="FFFFFF"/>
                </a:solidFill>
                <a:latin typeface="Arial MT"/>
                <a:cs typeface="Arial MT"/>
              </a:rPr>
              <a:t>relatively</a:t>
            </a:r>
            <a:r>
              <a:rPr sz="2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35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2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60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29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45" dirty="0">
                <a:solidFill>
                  <a:srgbClr val="FFFFFF"/>
                </a:solidFill>
                <a:latin typeface="Arial MT"/>
                <a:cs typeface="Arial MT"/>
              </a:rPr>
              <a:t>rates.</a:t>
            </a:r>
            <a:endParaRPr sz="2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Clr>
                <a:srgbClr val="FFFFFF"/>
              </a:buClr>
              <a:buFont typeface="Arial MT"/>
              <a:buChar char="-"/>
            </a:pPr>
            <a:endParaRPr sz="2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300" spc="90" dirty="0">
                <a:solidFill>
                  <a:srgbClr val="D5D5D5"/>
                </a:solidFill>
                <a:latin typeface="Arial MT"/>
                <a:cs typeface="Arial MT"/>
              </a:rPr>
              <a:t>Distances</a:t>
            </a:r>
            <a:r>
              <a:rPr sz="3300" spc="-13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160" dirty="0">
                <a:solidFill>
                  <a:srgbClr val="D5D5D5"/>
                </a:solidFill>
                <a:latin typeface="Arial MT"/>
                <a:cs typeface="Arial MT"/>
              </a:rPr>
              <a:t>between</a:t>
            </a:r>
            <a:r>
              <a:rPr sz="33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dirty="0">
                <a:solidFill>
                  <a:srgbClr val="D5D5D5"/>
                </a:solidFill>
                <a:latin typeface="Arial MT"/>
                <a:cs typeface="Arial MT"/>
              </a:rPr>
              <a:t>a</a:t>
            </a:r>
            <a:r>
              <a:rPr sz="33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105" dirty="0">
                <a:solidFill>
                  <a:srgbClr val="D5D5D5"/>
                </a:solidFill>
                <a:latin typeface="Arial MT"/>
                <a:cs typeface="Arial MT"/>
              </a:rPr>
              <a:t>Launch</a:t>
            </a:r>
            <a:r>
              <a:rPr sz="33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95" dirty="0">
                <a:solidFill>
                  <a:srgbClr val="D5D5D5"/>
                </a:solidFill>
                <a:latin typeface="Arial MT"/>
                <a:cs typeface="Arial MT"/>
              </a:rPr>
              <a:t>Site</a:t>
            </a:r>
            <a:r>
              <a:rPr sz="3300" spc="-13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229" dirty="0">
                <a:solidFill>
                  <a:srgbClr val="D5D5D5"/>
                </a:solidFill>
                <a:latin typeface="Arial MT"/>
                <a:cs typeface="Arial MT"/>
              </a:rPr>
              <a:t>to</a:t>
            </a:r>
            <a:r>
              <a:rPr sz="33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135" dirty="0">
                <a:solidFill>
                  <a:srgbClr val="D5D5D5"/>
                </a:solidFill>
                <a:latin typeface="Arial MT"/>
                <a:cs typeface="Arial MT"/>
              </a:rPr>
              <a:t>its</a:t>
            </a:r>
            <a:r>
              <a:rPr sz="33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300" spc="135" dirty="0">
                <a:solidFill>
                  <a:srgbClr val="D5D5D5"/>
                </a:solidFill>
                <a:latin typeface="Arial MT"/>
                <a:cs typeface="Arial MT"/>
              </a:rPr>
              <a:t>proximities:</a:t>
            </a:r>
            <a:endParaRPr sz="3300" dirty="0">
              <a:latin typeface="Arial MT"/>
              <a:cs typeface="Arial MT"/>
            </a:endParaRPr>
          </a:p>
          <a:p>
            <a:pPr marL="766445" marR="1466215" indent="221615">
              <a:lnSpc>
                <a:spcPct val="111400"/>
              </a:lnSpc>
              <a:spcBef>
                <a:spcPts val="1465"/>
              </a:spcBef>
              <a:buChar char="-"/>
              <a:tabLst>
                <a:tab pos="988060" algn="l"/>
              </a:tabLst>
            </a:pPr>
            <a:r>
              <a:rPr sz="2900" spc="13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2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35" dirty="0">
                <a:solidFill>
                  <a:srgbClr val="FFFFFF"/>
                </a:solidFill>
                <a:latin typeface="Arial MT"/>
                <a:cs typeface="Arial MT"/>
              </a:rPr>
              <a:t>coloured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Lines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9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00" dirty="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0" dirty="0">
                <a:solidFill>
                  <a:srgbClr val="FFFFFF"/>
                </a:solidFill>
                <a:latin typeface="Arial MT"/>
                <a:cs typeface="Arial MT"/>
              </a:rPr>
              <a:t>distances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25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3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7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60" dirty="0">
                <a:solidFill>
                  <a:srgbClr val="FFFFFF"/>
                </a:solidFill>
                <a:latin typeface="Arial MT"/>
                <a:cs typeface="Arial MT"/>
              </a:rPr>
              <a:t>Site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-70" dirty="0">
                <a:solidFill>
                  <a:srgbClr val="FFFFFF"/>
                </a:solidFill>
                <a:latin typeface="Arial MT"/>
                <a:cs typeface="Arial MT"/>
              </a:rPr>
              <a:t>KSC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-65" dirty="0">
                <a:solidFill>
                  <a:srgbClr val="FFFFFF"/>
                </a:solidFill>
                <a:latin typeface="Arial MT"/>
                <a:cs typeface="Arial MT"/>
              </a:rPr>
              <a:t>LC-</a:t>
            </a:r>
            <a:r>
              <a:rPr sz="2900" spc="120" dirty="0">
                <a:solidFill>
                  <a:srgbClr val="FFFFFF"/>
                </a:solidFill>
                <a:latin typeface="Arial MT"/>
                <a:cs typeface="Arial MT"/>
              </a:rPr>
              <a:t>39A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(as</a:t>
            </a:r>
            <a:r>
              <a:rPr sz="29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-25" dirty="0">
                <a:solidFill>
                  <a:srgbClr val="FFFFFF"/>
                </a:solidFill>
                <a:latin typeface="Arial MT"/>
                <a:cs typeface="Arial MT"/>
              </a:rPr>
              <a:t>an </a:t>
            </a:r>
            <a:r>
              <a:rPr sz="2900" spc="70" dirty="0">
                <a:solidFill>
                  <a:srgbClr val="FFFFFF"/>
                </a:solidFill>
                <a:latin typeface="Arial MT"/>
                <a:cs typeface="Arial MT"/>
              </a:rPr>
              <a:t>example)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110" dirty="0">
                <a:solidFill>
                  <a:srgbClr val="FFFFFF"/>
                </a:solidFill>
                <a:latin typeface="Arial MT"/>
                <a:cs typeface="Arial MT"/>
              </a:rPr>
              <a:t>proximities</a:t>
            </a:r>
            <a:r>
              <a:rPr sz="2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55" dirty="0">
                <a:solidFill>
                  <a:srgbClr val="FFFFFF"/>
                </a:solidFill>
                <a:latin typeface="Arial MT"/>
                <a:cs typeface="Arial MT"/>
              </a:rPr>
              <a:t>like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dirty="0">
                <a:solidFill>
                  <a:srgbClr val="FFFFFF"/>
                </a:solidFill>
                <a:latin typeface="Arial MT"/>
                <a:cs typeface="Arial MT"/>
              </a:rPr>
              <a:t>Railway,</a:t>
            </a:r>
            <a:r>
              <a:rPr sz="2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55" dirty="0">
                <a:solidFill>
                  <a:srgbClr val="FFFFFF"/>
                </a:solidFill>
                <a:latin typeface="Arial MT"/>
                <a:cs typeface="Arial MT"/>
              </a:rPr>
              <a:t>Highway,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80" dirty="0">
                <a:solidFill>
                  <a:srgbClr val="FFFFFF"/>
                </a:solidFill>
                <a:latin typeface="Arial MT"/>
                <a:cs typeface="Arial MT"/>
              </a:rPr>
              <a:t>Coastline</a:t>
            </a:r>
            <a:r>
              <a:rPr sz="2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9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9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65" dirty="0">
                <a:solidFill>
                  <a:srgbClr val="FFFFFF"/>
                </a:solidFill>
                <a:latin typeface="Arial MT"/>
                <a:cs typeface="Arial MT"/>
              </a:rPr>
              <a:t>Closest</a:t>
            </a:r>
            <a:r>
              <a:rPr sz="29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900" spc="40" dirty="0">
                <a:solidFill>
                  <a:srgbClr val="FFFFFF"/>
                </a:solidFill>
                <a:latin typeface="Arial MT"/>
                <a:cs typeface="Arial MT"/>
              </a:rPr>
              <a:t>City.</a:t>
            </a:r>
            <a:endParaRPr sz="2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2900" dirty="0">
              <a:latin typeface="Arial MT"/>
              <a:cs typeface="Arial MT"/>
            </a:endParaRPr>
          </a:p>
          <a:p>
            <a:pPr marL="223520" algn="ctr">
              <a:lnSpc>
                <a:spcPct val="100000"/>
              </a:lnSpc>
            </a:pPr>
            <a:r>
              <a:rPr sz="2950" u="sng" spc="11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GitHub</a:t>
            </a:r>
            <a:r>
              <a:rPr sz="2950" u="sng" spc="-2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spc="-7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URL:</a:t>
            </a:r>
            <a:r>
              <a:rPr sz="2950" u="sng" spc="-15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lang="en-US" sz="2950" u="sng" spc="10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Interactive Visual Analytics with </a:t>
            </a:r>
            <a:r>
              <a:rPr lang="en-US" sz="2950" u="sng" spc="100" dirty="0" err="1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Folium.ipynb</a:t>
            </a:r>
            <a:endParaRPr sz="29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057" y="1055883"/>
            <a:ext cx="13653323" cy="82502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30" dirty="0"/>
              <a:t>Launch</a:t>
            </a:r>
            <a:r>
              <a:rPr spc="-130" dirty="0"/>
              <a:t> </a:t>
            </a:r>
            <a:r>
              <a:rPr spc="95" dirty="0"/>
              <a:t>Sites</a:t>
            </a:r>
            <a:r>
              <a:rPr spc="-130" dirty="0"/>
              <a:t> </a:t>
            </a:r>
            <a:r>
              <a:rPr spc="190" dirty="0"/>
              <a:t>Dropdown</a:t>
            </a:r>
            <a:r>
              <a:rPr spc="-130" dirty="0"/>
              <a:t> </a:t>
            </a:r>
            <a:r>
              <a:rPr spc="90" dirty="0"/>
              <a:t>List: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8125" y="3057514"/>
            <a:ext cx="17306925" cy="773175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03935" indent="-237490">
              <a:lnSpc>
                <a:spcPct val="100000"/>
              </a:lnSpc>
              <a:spcBef>
                <a:spcPts val="125"/>
              </a:spcBef>
              <a:buChar char="-"/>
              <a:tabLst>
                <a:tab pos="1003935" algn="l"/>
              </a:tabLst>
            </a:pPr>
            <a:r>
              <a:rPr sz="3100" spc="13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3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70" dirty="0">
                <a:solidFill>
                  <a:srgbClr val="FFFFFF"/>
                </a:solidFill>
                <a:latin typeface="Arial MT"/>
                <a:cs typeface="Arial MT"/>
              </a:rPr>
              <a:t>dropdown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00" dirty="0">
                <a:solidFill>
                  <a:srgbClr val="FFFFFF"/>
                </a:solidFill>
                <a:latin typeface="Arial MT"/>
                <a:cs typeface="Arial MT"/>
              </a:rPr>
              <a:t>list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9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75" dirty="0">
                <a:solidFill>
                  <a:srgbClr val="FFFFFF"/>
                </a:solidFill>
                <a:latin typeface="Arial MT"/>
                <a:cs typeface="Arial MT"/>
              </a:rPr>
              <a:t>enable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80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65" dirty="0">
                <a:solidFill>
                  <a:srgbClr val="FFFFFF"/>
                </a:solidFill>
                <a:latin typeface="Arial MT"/>
                <a:cs typeface="Arial MT"/>
              </a:rPr>
              <a:t>Site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90" dirty="0">
                <a:solidFill>
                  <a:srgbClr val="FFFFFF"/>
                </a:solidFill>
                <a:latin typeface="Arial MT"/>
                <a:cs typeface="Arial MT"/>
              </a:rPr>
              <a:t>selection.</a:t>
            </a: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FFFFF"/>
              </a:buClr>
              <a:buFont typeface="Arial MT"/>
              <a:buChar char="-"/>
            </a:pPr>
            <a:endParaRPr sz="3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500" dirty="0">
                <a:solidFill>
                  <a:srgbClr val="D5D5D5"/>
                </a:solidFill>
                <a:latin typeface="Arial MT"/>
                <a:cs typeface="Arial MT"/>
              </a:rPr>
              <a:t>Pie</a:t>
            </a:r>
            <a:r>
              <a:rPr sz="35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155" dirty="0">
                <a:solidFill>
                  <a:srgbClr val="D5D5D5"/>
                </a:solidFill>
                <a:latin typeface="Arial MT"/>
                <a:cs typeface="Arial MT"/>
              </a:rPr>
              <a:t>Chart</a:t>
            </a:r>
            <a:r>
              <a:rPr sz="35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175" dirty="0">
                <a:solidFill>
                  <a:srgbClr val="D5D5D5"/>
                </a:solidFill>
                <a:latin typeface="Arial MT"/>
                <a:cs typeface="Arial MT"/>
              </a:rPr>
              <a:t>showing</a:t>
            </a:r>
            <a:r>
              <a:rPr sz="35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80" dirty="0">
                <a:solidFill>
                  <a:srgbClr val="D5D5D5"/>
                </a:solidFill>
                <a:latin typeface="Arial MT"/>
                <a:cs typeface="Arial MT"/>
              </a:rPr>
              <a:t>Success</a:t>
            </a:r>
            <a:r>
              <a:rPr sz="350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100" dirty="0">
                <a:solidFill>
                  <a:srgbClr val="D5D5D5"/>
                </a:solidFill>
                <a:latin typeface="Arial MT"/>
                <a:cs typeface="Arial MT"/>
              </a:rPr>
              <a:t>Launches</a:t>
            </a:r>
            <a:r>
              <a:rPr sz="35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125" dirty="0">
                <a:solidFill>
                  <a:srgbClr val="D5D5D5"/>
                </a:solidFill>
                <a:latin typeface="Arial MT"/>
                <a:cs typeface="Arial MT"/>
              </a:rPr>
              <a:t>(All</a:t>
            </a:r>
            <a:r>
              <a:rPr sz="35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145" dirty="0">
                <a:solidFill>
                  <a:srgbClr val="D5D5D5"/>
                </a:solidFill>
                <a:latin typeface="Arial MT"/>
                <a:cs typeface="Arial MT"/>
              </a:rPr>
              <a:t>Sites/Certain</a:t>
            </a:r>
            <a:r>
              <a:rPr sz="350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70" dirty="0">
                <a:solidFill>
                  <a:srgbClr val="D5D5D5"/>
                </a:solidFill>
                <a:latin typeface="Arial MT"/>
                <a:cs typeface="Arial MT"/>
              </a:rPr>
              <a:t>Site):</a:t>
            </a:r>
            <a:endParaRPr sz="3500">
              <a:latin typeface="Arial MT"/>
              <a:cs typeface="Arial MT"/>
            </a:endParaRPr>
          </a:p>
          <a:p>
            <a:pPr marL="766445" marR="1111250" indent="237490">
              <a:lnSpc>
                <a:spcPct val="110800"/>
              </a:lnSpc>
              <a:spcBef>
                <a:spcPts val="1575"/>
              </a:spcBef>
              <a:buChar char="-"/>
              <a:tabLst>
                <a:tab pos="1003935" algn="l"/>
              </a:tabLst>
            </a:pPr>
            <a:r>
              <a:rPr sz="3100" spc="13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3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20" dirty="0">
                <a:solidFill>
                  <a:srgbClr val="FFFFFF"/>
                </a:solidFill>
                <a:latin typeface="Arial MT"/>
                <a:cs typeface="Arial MT"/>
              </a:rPr>
              <a:t>pie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35" dirty="0">
                <a:solidFill>
                  <a:srgbClr val="FFFFFF"/>
                </a:solidFill>
                <a:latin typeface="Arial MT"/>
                <a:cs typeface="Arial MT"/>
              </a:rPr>
              <a:t>chart</a:t>
            </a:r>
            <a:r>
              <a:rPr sz="3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9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05" dirty="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45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90" dirty="0">
                <a:solidFill>
                  <a:srgbClr val="FFFFFF"/>
                </a:solidFill>
                <a:latin typeface="Arial MT"/>
                <a:cs typeface="Arial MT"/>
              </a:rPr>
              <a:t>successful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85" dirty="0">
                <a:solidFill>
                  <a:srgbClr val="FFFFFF"/>
                </a:solidFill>
                <a:latin typeface="Arial MT"/>
                <a:cs typeface="Arial MT"/>
              </a:rPr>
              <a:t>launches</a:t>
            </a:r>
            <a:r>
              <a:rPr sz="3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80" dirty="0">
                <a:solidFill>
                  <a:srgbClr val="FFFFFF"/>
                </a:solidFill>
                <a:latin typeface="Arial MT"/>
                <a:cs typeface="Arial MT"/>
              </a:rPr>
              <a:t>count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3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6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31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55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1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14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3100" spc="50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vs.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Failed </a:t>
            </a:r>
            <a:r>
              <a:rPr sz="3100" spc="135" dirty="0">
                <a:solidFill>
                  <a:srgbClr val="FFFFFF"/>
                </a:solidFill>
                <a:latin typeface="Arial MT"/>
                <a:cs typeface="Arial MT"/>
              </a:rPr>
              <a:t>counts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3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65" dirty="0">
                <a:solidFill>
                  <a:srgbClr val="FFFFFF"/>
                </a:solidFill>
                <a:latin typeface="Arial MT"/>
                <a:cs typeface="Arial MT"/>
              </a:rPr>
              <a:t>site,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60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25" dirty="0">
                <a:solidFill>
                  <a:srgbClr val="FFFFFF"/>
                </a:solidFill>
                <a:latin typeface="Arial MT"/>
                <a:cs typeface="Arial MT"/>
              </a:rPr>
              <a:t>specific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80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65" dirty="0">
                <a:solidFill>
                  <a:srgbClr val="FFFFFF"/>
                </a:solidFill>
                <a:latin typeface="Arial MT"/>
                <a:cs typeface="Arial MT"/>
              </a:rPr>
              <a:t>Site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was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85" dirty="0">
                <a:solidFill>
                  <a:srgbClr val="FFFFFF"/>
                </a:solidFill>
                <a:latin typeface="Arial MT"/>
                <a:cs typeface="Arial MT"/>
              </a:rPr>
              <a:t>selected.</a:t>
            </a: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FFFF"/>
              </a:buClr>
              <a:buFont typeface="Arial MT"/>
              <a:buChar char="-"/>
            </a:pPr>
            <a:endParaRPr sz="3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500" spc="130" dirty="0">
                <a:solidFill>
                  <a:srgbClr val="D5D5D5"/>
                </a:solidFill>
                <a:latin typeface="Arial MT"/>
                <a:cs typeface="Arial MT"/>
              </a:rPr>
              <a:t>Slider</a:t>
            </a:r>
            <a:r>
              <a:rPr sz="35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245" dirty="0">
                <a:solidFill>
                  <a:srgbClr val="D5D5D5"/>
                </a:solidFill>
                <a:latin typeface="Arial MT"/>
                <a:cs typeface="Arial MT"/>
              </a:rPr>
              <a:t>of</a:t>
            </a:r>
            <a:r>
              <a:rPr sz="35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75" dirty="0">
                <a:solidFill>
                  <a:srgbClr val="D5D5D5"/>
                </a:solidFill>
                <a:latin typeface="Arial MT"/>
                <a:cs typeface="Arial MT"/>
              </a:rPr>
              <a:t>Payload</a:t>
            </a:r>
            <a:r>
              <a:rPr sz="3500" spc="-9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D5D5D5"/>
                </a:solidFill>
                <a:latin typeface="Arial MT"/>
                <a:cs typeface="Arial MT"/>
              </a:rPr>
              <a:t>Mass</a:t>
            </a:r>
            <a:r>
              <a:rPr sz="35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50" dirty="0">
                <a:solidFill>
                  <a:srgbClr val="D5D5D5"/>
                </a:solidFill>
                <a:latin typeface="Arial MT"/>
                <a:cs typeface="Arial MT"/>
              </a:rPr>
              <a:t>Range:</a:t>
            </a:r>
            <a:endParaRPr sz="3500">
              <a:latin typeface="Arial MT"/>
              <a:cs typeface="Arial MT"/>
            </a:endParaRPr>
          </a:p>
          <a:p>
            <a:pPr marL="1003935" indent="-237490">
              <a:lnSpc>
                <a:spcPct val="100000"/>
              </a:lnSpc>
              <a:spcBef>
                <a:spcPts val="1975"/>
              </a:spcBef>
              <a:buChar char="-"/>
              <a:tabLst>
                <a:tab pos="1003935" algn="l"/>
              </a:tabLst>
            </a:pPr>
            <a:r>
              <a:rPr sz="3100" spc="13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95" dirty="0">
                <a:solidFill>
                  <a:srgbClr val="FFFFFF"/>
                </a:solidFill>
                <a:latin typeface="Arial MT"/>
                <a:cs typeface="Arial MT"/>
              </a:rPr>
              <a:t>slider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9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90" dirty="0">
                <a:solidFill>
                  <a:srgbClr val="FFFFFF"/>
                </a:solidFill>
                <a:latin typeface="Arial MT"/>
                <a:cs typeface="Arial MT"/>
              </a:rPr>
              <a:t>select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65" dirty="0">
                <a:solidFill>
                  <a:srgbClr val="FFFFFF"/>
                </a:solidFill>
                <a:latin typeface="Arial MT"/>
                <a:cs typeface="Arial MT"/>
              </a:rPr>
              <a:t>range.</a:t>
            </a: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FFFF"/>
              </a:buClr>
              <a:buFont typeface="Arial MT"/>
              <a:buChar char="-"/>
            </a:pPr>
            <a:endParaRPr sz="3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500" spc="155" dirty="0">
                <a:solidFill>
                  <a:srgbClr val="D5D5D5"/>
                </a:solidFill>
                <a:latin typeface="Arial MT"/>
                <a:cs typeface="Arial MT"/>
              </a:rPr>
              <a:t>Scatter</a:t>
            </a:r>
            <a:r>
              <a:rPr sz="35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155" dirty="0">
                <a:solidFill>
                  <a:srgbClr val="D5D5D5"/>
                </a:solidFill>
                <a:latin typeface="Arial MT"/>
                <a:cs typeface="Arial MT"/>
              </a:rPr>
              <a:t>Chart</a:t>
            </a:r>
            <a:r>
              <a:rPr sz="35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245" dirty="0">
                <a:solidFill>
                  <a:srgbClr val="D5D5D5"/>
                </a:solidFill>
                <a:latin typeface="Arial MT"/>
                <a:cs typeface="Arial MT"/>
              </a:rPr>
              <a:t>of</a:t>
            </a:r>
            <a:r>
              <a:rPr sz="35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75" dirty="0">
                <a:solidFill>
                  <a:srgbClr val="D5D5D5"/>
                </a:solidFill>
                <a:latin typeface="Arial MT"/>
                <a:cs typeface="Arial MT"/>
              </a:rPr>
              <a:t>Payload</a:t>
            </a:r>
            <a:r>
              <a:rPr sz="35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D5D5D5"/>
                </a:solidFill>
                <a:latin typeface="Arial MT"/>
                <a:cs typeface="Arial MT"/>
              </a:rPr>
              <a:t>Mass</a:t>
            </a:r>
            <a:r>
              <a:rPr sz="35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70" dirty="0">
                <a:solidFill>
                  <a:srgbClr val="D5D5D5"/>
                </a:solidFill>
                <a:latin typeface="Arial MT"/>
                <a:cs typeface="Arial MT"/>
              </a:rPr>
              <a:t>vs.</a:t>
            </a:r>
            <a:r>
              <a:rPr sz="35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80" dirty="0">
                <a:solidFill>
                  <a:srgbClr val="D5D5D5"/>
                </a:solidFill>
                <a:latin typeface="Arial MT"/>
                <a:cs typeface="Arial MT"/>
              </a:rPr>
              <a:t>Success</a:t>
            </a:r>
            <a:r>
              <a:rPr sz="35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dirty="0">
                <a:solidFill>
                  <a:srgbClr val="D5D5D5"/>
                </a:solidFill>
                <a:latin typeface="Arial MT"/>
                <a:cs typeface="Arial MT"/>
              </a:rPr>
              <a:t>Rate</a:t>
            </a:r>
            <a:r>
              <a:rPr sz="35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204" dirty="0">
                <a:solidFill>
                  <a:srgbClr val="D5D5D5"/>
                </a:solidFill>
                <a:latin typeface="Arial MT"/>
                <a:cs typeface="Arial MT"/>
              </a:rPr>
              <a:t>for</a:t>
            </a:r>
            <a:r>
              <a:rPr sz="35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195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5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175" dirty="0">
                <a:solidFill>
                  <a:srgbClr val="D5D5D5"/>
                </a:solidFill>
                <a:latin typeface="Arial MT"/>
                <a:cs typeface="Arial MT"/>
              </a:rPr>
              <a:t>different</a:t>
            </a:r>
            <a:r>
              <a:rPr sz="3500" spc="-10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125" dirty="0">
                <a:solidFill>
                  <a:srgbClr val="D5D5D5"/>
                </a:solidFill>
                <a:latin typeface="Arial MT"/>
                <a:cs typeface="Arial MT"/>
              </a:rPr>
              <a:t>Booster</a:t>
            </a:r>
            <a:r>
              <a:rPr sz="350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500" spc="60" dirty="0">
                <a:solidFill>
                  <a:srgbClr val="D5D5D5"/>
                </a:solidFill>
                <a:latin typeface="Arial MT"/>
                <a:cs typeface="Arial MT"/>
              </a:rPr>
              <a:t>Versions:</a:t>
            </a:r>
            <a:endParaRPr sz="3500">
              <a:latin typeface="Arial MT"/>
              <a:cs typeface="Arial MT"/>
            </a:endParaRPr>
          </a:p>
          <a:p>
            <a:pPr marL="1003935" indent="-237490">
              <a:lnSpc>
                <a:spcPct val="100000"/>
              </a:lnSpc>
              <a:spcBef>
                <a:spcPts val="1975"/>
              </a:spcBef>
              <a:buChar char="-"/>
              <a:tabLst>
                <a:tab pos="1003935" algn="l"/>
              </a:tabLst>
            </a:pPr>
            <a:r>
              <a:rPr sz="3100" spc="135" dirty="0">
                <a:solidFill>
                  <a:srgbClr val="FFFFFF"/>
                </a:solidFill>
                <a:latin typeface="Arial MT"/>
                <a:cs typeface="Arial MT"/>
              </a:rPr>
              <a:t>Added</a:t>
            </a:r>
            <a:r>
              <a:rPr sz="31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a </a:t>
            </a:r>
            <a:r>
              <a:rPr sz="3100" spc="105" dirty="0">
                <a:solidFill>
                  <a:srgbClr val="FFFFFF"/>
                </a:solidFill>
                <a:latin typeface="Arial MT"/>
                <a:cs typeface="Arial MT"/>
              </a:rPr>
              <a:t>scatter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35" dirty="0">
                <a:solidFill>
                  <a:srgbClr val="FFFFFF"/>
                </a:solidFill>
                <a:latin typeface="Arial MT"/>
                <a:cs typeface="Arial MT"/>
              </a:rPr>
              <a:t>chart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9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05" dirty="0">
                <a:solidFill>
                  <a:srgbClr val="FFFFFF"/>
                </a:solidFill>
                <a:latin typeface="Arial MT"/>
                <a:cs typeface="Arial MT"/>
              </a:rPr>
              <a:t>show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20" dirty="0">
                <a:solidFill>
                  <a:srgbClr val="FFFFFF"/>
                </a:solidFill>
                <a:latin typeface="Arial MT"/>
                <a:cs typeface="Arial MT"/>
              </a:rPr>
              <a:t>correlation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125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Payload </a:t>
            </a:r>
            <a:r>
              <a:rPr sz="3100" spc="1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80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Arial MT"/>
                <a:cs typeface="Arial MT"/>
              </a:rPr>
              <a:t>Success.</a:t>
            </a: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85"/>
              </a:spcBef>
            </a:pPr>
            <a:endParaRPr sz="3100">
              <a:latin typeface="Arial MT"/>
              <a:cs typeface="Arial MT"/>
            </a:endParaRPr>
          </a:p>
          <a:p>
            <a:pPr marL="180975" algn="ctr">
              <a:lnSpc>
                <a:spcPct val="100000"/>
              </a:lnSpc>
              <a:spcBef>
                <a:spcPts val="5"/>
              </a:spcBef>
            </a:pPr>
            <a:r>
              <a:rPr sz="2950" u="sng" spc="11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GitHub</a:t>
            </a:r>
            <a:r>
              <a:rPr sz="2950" u="sng" spc="-6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spc="-7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URL:</a:t>
            </a:r>
            <a:r>
              <a:rPr sz="2950" u="sng" spc="-6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spc="5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SpaceX</a:t>
            </a:r>
            <a:r>
              <a:rPr sz="2950" u="sng" spc="-6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Dash</a:t>
            </a:r>
            <a:r>
              <a:rPr sz="2950" u="sng" spc="-6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spc="13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App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7321" y="1041810"/>
            <a:ext cx="13445748" cy="83909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75793" y="225692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198950" y="0"/>
                </a:moveTo>
                <a:lnTo>
                  <a:pt x="469733" y="0"/>
                </a:lnTo>
                <a:lnTo>
                  <a:pt x="404775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7" y="15320"/>
                </a:lnTo>
                <a:lnTo>
                  <a:pt x="180489" y="46497"/>
                </a:lnTo>
                <a:lnTo>
                  <a:pt x="139935" y="72398"/>
                </a:lnTo>
                <a:lnTo>
                  <a:pt x="103724" y="103725"/>
                </a:lnTo>
                <a:lnTo>
                  <a:pt x="72398" y="139936"/>
                </a:lnTo>
                <a:lnTo>
                  <a:pt x="46497" y="180489"/>
                </a:lnTo>
                <a:lnTo>
                  <a:pt x="26563" y="224844"/>
                </a:lnTo>
                <a:lnTo>
                  <a:pt x="7783" y="300604"/>
                </a:lnTo>
                <a:lnTo>
                  <a:pt x="3212" y="348694"/>
                </a:lnTo>
                <a:lnTo>
                  <a:pt x="864" y="404775"/>
                </a:lnTo>
                <a:lnTo>
                  <a:pt x="0" y="469733"/>
                </a:lnTo>
                <a:lnTo>
                  <a:pt x="0" y="2771567"/>
                </a:lnTo>
                <a:lnTo>
                  <a:pt x="864" y="2836526"/>
                </a:lnTo>
                <a:lnTo>
                  <a:pt x="3212" y="2892606"/>
                </a:lnTo>
                <a:lnTo>
                  <a:pt x="7783" y="2940696"/>
                </a:lnTo>
                <a:lnTo>
                  <a:pt x="15320" y="2981684"/>
                </a:lnTo>
                <a:lnTo>
                  <a:pt x="46497" y="3060811"/>
                </a:lnTo>
                <a:lnTo>
                  <a:pt x="72398" y="3101365"/>
                </a:lnTo>
                <a:lnTo>
                  <a:pt x="103724" y="3137575"/>
                </a:lnTo>
                <a:lnTo>
                  <a:pt x="139935" y="3168902"/>
                </a:lnTo>
                <a:lnTo>
                  <a:pt x="180489" y="3194803"/>
                </a:lnTo>
                <a:lnTo>
                  <a:pt x="224844" y="3214737"/>
                </a:lnTo>
                <a:lnTo>
                  <a:pt x="300604" y="3233517"/>
                </a:lnTo>
                <a:lnTo>
                  <a:pt x="348694" y="3238088"/>
                </a:lnTo>
                <a:lnTo>
                  <a:pt x="404775" y="3240436"/>
                </a:lnTo>
                <a:lnTo>
                  <a:pt x="469733" y="3241301"/>
                </a:lnTo>
                <a:lnTo>
                  <a:pt x="3198950" y="3241301"/>
                </a:lnTo>
                <a:lnTo>
                  <a:pt x="3263908" y="3240436"/>
                </a:lnTo>
                <a:lnTo>
                  <a:pt x="3319989" y="3238088"/>
                </a:lnTo>
                <a:lnTo>
                  <a:pt x="3368079" y="3233517"/>
                </a:lnTo>
                <a:lnTo>
                  <a:pt x="3409066" y="3225980"/>
                </a:lnTo>
                <a:lnTo>
                  <a:pt x="3488194" y="3194803"/>
                </a:lnTo>
                <a:lnTo>
                  <a:pt x="3528747" y="3168902"/>
                </a:lnTo>
                <a:lnTo>
                  <a:pt x="3564958" y="3137575"/>
                </a:lnTo>
                <a:lnTo>
                  <a:pt x="3596285" y="3101365"/>
                </a:lnTo>
                <a:lnTo>
                  <a:pt x="3622186" y="3060811"/>
                </a:lnTo>
                <a:lnTo>
                  <a:pt x="3642120" y="3016456"/>
                </a:lnTo>
                <a:lnTo>
                  <a:pt x="3660900" y="2940696"/>
                </a:lnTo>
                <a:lnTo>
                  <a:pt x="3665471" y="2892606"/>
                </a:lnTo>
                <a:lnTo>
                  <a:pt x="3667819" y="2836526"/>
                </a:lnTo>
                <a:lnTo>
                  <a:pt x="3668684" y="2771567"/>
                </a:lnTo>
                <a:lnTo>
                  <a:pt x="3668684" y="469733"/>
                </a:lnTo>
                <a:lnTo>
                  <a:pt x="3667819" y="404775"/>
                </a:lnTo>
                <a:lnTo>
                  <a:pt x="3665471" y="348694"/>
                </a:lnTo>
                <a:lnTo>
                  <a:pt x="3660900" y="300604"/>
                </a:lnTo>
                <a:lnTo>
                  <a:pt x="3653363" y="259617"/>
                </a:lnTo>
                <a:lnTo>
                  <a:pt x="3622186" y="180489"/>
                </a:lnTo>
                <a:lnTo>
                  <a:pt x="3596285" y="139936"/>
                </a:lnTo>
                <a:lnTo>
                  <a:pt x="3564958" y="103725"/>
                </a:lnTo>
                <a:lnTo>
                  <a:pt x="3528747" y="72398"/>
                </a:lnTo>
                <a:lnTo>
                  <a:pt x="3488194" y="46497"/>
                </a:lnTo>
                <a:lnTo>
                  <a:pt x="3443839" y="26563"/>
                </a:lnTo>
                <a:lnTo>
                  <a:pt x="3368079" y="7783"/>
                </a:lnTo>
                <a:lnTo>
                  <a:pt x="3319989" y="3212"/>
                </a:lnTo>
                <a:lnTo>
                  <a:pt x="3263908" y="864"/>
                </a:lnTo>
                <a:lnTo>
                  <a:pt x="319895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6766" y="3202365"/>
            <a:ext cx="3566795" cy="1344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30" dirty="0">
                <a:latin typeface="Arial MT"/>
                <a:cs typeface="Arial MT"/>
              </a:rPr>
              <a:t>Creating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80" dirty="0">
                <a:latin typeface="Arial MT"/>
                <a:cs typeface="Arial MT"/>
              </a:rPr>
              <a:t>NumPy </a:t>
            </a:r>
            <a:r>
              <a:rPr sz="2600" spc="90" dirty="0">
                <a:latin typeface="Arial MT"/>
                <a:cs typeface="Arial MT"/>
              </a:rPr>
              <a:t>array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95" dirty="0">
                <a:latin typeface="Arial MT"/>
                <a:cs typeface="Arial MT"/>
              </a:rPr>
              <a:t>from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column </a:t>
            </a:r>
            <a:r>
              <a:rPr sz="2600" spc="105" dirty="0">
                <a:latin typeface="Arial MT"/>
                <a:cs typeface="Arial MT"/>
              </a:rPr>
              <a:t>“Class”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40" dirty="0">
                <a:latin typeface="Arial MT"/>
                <a:cs typeface="Arial MT"/>
              </a:rPr>
              <a:t>in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100" dirty="0">
                <a:latin typeface="Arial MT"/>
                <a:cs typeface="Arial MT"/>
              </a:rPr>
              <a:t>data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32023" y="225691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235684" y="0"/>
                </a:moveTo>
                <a:lnTo>
                  <a:pt x="433018" y="0"/>
                </a:lnTo>
                <a:lnTo>
                  <a:pt x="373137" y="797"/>
                </a:lnTo>
                <a:lnTo>
                  <a:pt x="321439" y="2961"/>
                </a:lnTo>
                <a:lnTo>
                  <a:pt x="277108" y="7175"/>
                </a:lnTo>
                <a:lnTo>
                  <a:pt x="239324" y="14122"/>
                </a:lnTo>
                <a:lnTo>
                  <a:pt x="158608" y="47214"/>
                </a:lnTo>
                <a:lnTo>
                  <a:pt x="115137" y="77718"/>
                </a:lnTo>
                <a:lnTo>
                  <a:pt x="77718" y="115137"/>
                </a:lnTo>
                <a:lnTo>
                  <a:pt x="47214" y="158609"/>
                </a:lnTo>
                <a:lnTo>
                  <a:pt x="24487" y="207270"/>
                </a:lnTo>
                <a:lnTo>
                  <a:pt x="7175" y="277108"/>
                </a:lnTo>
                <a:lnTo>
                  <a:pt x="2961" y="321440"/>
                </a:lnTo>
                <a:lnTo>
                  <a:pt x="797" y="373137"/>
                </a:lnTo>
                <a:lnTo>
                  <a:pt x="0" y="433018"/>
                </a:lnTo>
                <a:lnTo>
                  <a:pt x="0" y="2808301"/>
                </a:lnTo>
                <a:lnTo>
                  <a:pt x="797" y="2868183"/>
                </a:lnTo>
                <a:lnTo>
                  <a:pt x="2961" y="2919880"/>
                </a:lnTo>
                <a:lnTo>
                  <a:pt x="7175" y="2964211"/>
                </a:lnTo>
                <a:lnTo>
                  <a:pt x="14122" y="3001995"/>
                </a:lnTo>
                <a:lnTo>
                  <a:pt x="47214" y="3082711"/>
                </a:lnTo>
                <a:lnTo>
                  <a:pt x="77718" y="3126182"/>
                </a:lnTo>
                <a:lnTo>
                  <a:pt x="115137" y="3163601"/>
                </a:lnTo>
                <a:lnTo>
                  <a:pt x="158608" y="3194106"/>
                </a:lnTo>
                <a:lnTo>
                  <a:pt x="207269" y="3216833"/>
                </a:lnTo>
                <a:lnTo>
                  <a:pt x="277108" y="3234145"/>
                </a:lnTo>
                <a:lnTo>
                  <a:pt x="321439" y="3238359"/>
                </a:lnTo>
                <a:lnTo>
                  <a:pt x="373137" y="3240523"/>
                </a:lnTo>
                <a:lnTo>
                  <a:pt x="433018" y="3241320"/>
                </a:lnTo>
                <a:lnTo>
                  <a:pt x="3235684" y="3241320"/>
                </a:lnTo>
                <a:lnTo>
                  <a:pt x="3295566" y="3240523"/>
                </a:lnTo>
                <a:lnTo>
                  <a:pt x="3347263" y="3238359"/>
                </a:lnTo>
                <a:lnTo>
                  <a:pt x="3391594" y="3234145"/>
                </a:lnTo>
                <a:lnTo>
                  <a:pt x="3429378" y="3227197"/>
                </a:lnTo>
                <a:lnTo>
                  <a:pt x="3510094" y="3194106"/>
                </a:lnTo>
                <a:lnTo>
                  <a:pt x="3553565" y="3163601"/>
                </a:lnTo>
                <a:lnTo>
                  <a:pt x="3590984" y="3126182"/>
                </a:lnTo>
                <a:lnTo>
                  <a:pt x="3621488" y="3082711"/>
                </a:lnTo>
                <a:lnTo>
                  <a:pt x="3644215" y="3034050"/>
                </a:lnTo>
                <a:lnTo>
                  <a:pt x="3661528" y="2964211"/>
                </a:lnTo>
                <a:lnTo>
                  <a:pt x="3665742" y="2919880"/>
                </a:lnTo>
                <a:lnTo>
                  <a:pt x="3667906" y="2868183"/>
                </a:lnTo>
                <a:lnTo>
                  <a:pt x="3668703" y="2808301"/>
                </a:lnTo>
                <a:lnTo>
                  <a:pt x="3668703" y="433018"/>
                </a:lnTo>
                <a:lnTo>
                  <a:pt x="3667906" y="373137"/>
                </a:lnTo>
                <a:lnTo>
                  <a:pt x="3665742" y="321440"/>
                </a:lnTo>
                <a:lnTo>
                  <a:pt x="3661528" y="277108"/>
                </a:lnTo>
                <a:lnTo>
                  <a:pt x="3654580" y="239325"/>
                </a:lnTo>
                <a:lnTo>
                  <a:pt x="3621488" y="158609"/>
                </a:lnTo>
                <a:lnTo>
                  <a:pt x="3590984" y="115137"/>
                </a:lnTo>
                <a:lnTo>
                  <a:pt x="3553565" y="77718"/>
                </a:lnTo>
                <a:lnTo>
                  <a:pt x="3510094" y="47214"/>
                </a:lnTo>
                <a:lnTo>
                  <a:pt x="3461433" y="24487"/>
                </a:lnTo>
                <a:lnTo>
                  <a:pt x="3391594" y="7175"/>
                </a:lnTo>
                <a:lnTo>
                  <a:pt x="3347263" y="2961"/>
                </a:lnTo>
                <a:lnTo>
                  <a:pt x="3295566" y="797"/>
                </a:lnTo>
                <a:lnTo>
                  <a:pt x="3235684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73809" y="2757679"/>
            <a:ext cx="3385185" cy="222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14" dirty="0">
                <a:latin typeface="Arial MT"/>
                <a:cs typeface="Arial MT"/>
              </a:rPr>
              <a:t>Standardizing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30" dirty="0">
                <a:latin typeface="Arial MT"/>
                <a:cs typeface="Arial MT"/>
              </a:rPr>
              <a:t>the </a:t>
            </a:r>
            <a:r>
              <a:rPr sz="2600" spc="120" dirty="0">
                <a:latin typeface="Arial MT"/>
                <a:cs typeface="Arial MT"/>
              </a:rPr>
              <a:t>data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75" dirty="0">
                <a:latin typeface="Arial MT"/>
                <a:cs typeface="Arial MT"/>
              </a:rPr>
              <a:t>with </a:t>
            </a:r>
            <a:r>
              <a:rPr sz="2600" spc="85" dirty="0">
                <a:latin typeface="Arial MT"/>
                <a:cs typeface="Arial MT"/>
              </a:rPr>
              <a:t>StandardScaler,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30" dirty="0">
                <a:latin typeface="Arial MT"/>
                <a:cs typeface="Arial MT"/>
              </a:rPr>
              <a:t>then </a:t>
            </a:r>
            <a:r>
              <a:rPr sz="2600" spc="185" dirty="0">
                <a:latin typeface="Arial MT"/>
                <a:cs typeface="Arial MT"/>
              </a:rPr>
              <a:t>fitting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90" dirty="0">
                <a:latin typeface="Arial MT"/>
                <a:cs typeface="Arial MT"/>
              </a:rPr>
              <a:t>and </a:t>
            </a:r>
            <a:r>
              <a:rPr sz="2600" spc="150" dirty="0">
                <a:latin typeface="Arial MT"/>
                <a:cs typeface="Arial MT"/>
              </a:rPr>
              <a:t>transforming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160" dirty="0">
                <a:latin typeface="Arial MT"/>
                <a:cs typeface="Arial MT"/>
              </a:rPr>
              <a:t>it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588263" y="225691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235688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9" y="2961"/>
                </a:lnTo>
                <a:lnTo>
                  <a:pt x="277107" y="7175"/>
                </a:lnTo>
                <a:lnTo>
                  <a:pt x="239324" y="14122"/>
                </a:lnTo>
                <a:lnTo>
                  <a:pt x="158609" y="47214"/>
                </a:lnTo>
                <a:lnTo>
                  <a:pt x="115136" y="77718"/>
                </a:lnTo>
                <a:lnTo>
                  <a:pt x="77716" y="115137"/>
                </a:lnTo>
                <a:lnTo>
                  <a:pt x="47210" y="158609"/>
                </a:lnTo>
                <a:lnTo>
                  <a:pt x="24482" y="207270"/>
                </a:lnTo>
                <a:lnTo>
                  <a:pt x="7173" y="277108"/>
                </a:lnTo>
                <a:lnTo>
                  <a:pt x="2960" y="321440"/>
                </a:lnTo>
                <a:lnTo>
                  <a:pt x="797" y="373137"/>
                </a:lnTo>
                <a:lnTo>
                  <a:pt x="0" y="433018"/>
                </a:lnTo>
                <a:lnTo>
                  <a:pt x="0" y="2808301"/>
                </a:lnTo>
                <a:lnTo>
                  <a:pt x="797" y="2868183"/>
                </a:lnTo>
                <a:lnTo>
                  <a:pt x="2960" y="2919880"/>
                </a:lnTo>
                <a:lnTo>
                  <a:pt x="7173" y="2964211"/>
                </a:lnTo>
                <a:lnTo>
                  <a:pt x="14119" y="3001995"/>
                </a:lnTo>
                <a:lnTo>
                  <a:pt x="47210" y="3082711"/>
                </a:lnTo>
                <a:lnTo>
                  <a:pt x="77716" y="3126182"/>
                </a:lnTo>
                <a:lnTo>
                  <a:pt x="115136" y="3163601"/>
                </a:lnTo>
                <a:lnTo>
                  <a:pt x="158609" y="3194106"/>
                </a:lnTo>
                <a:lnTo>
                  <a:pt x="207272" y="3216833"/>
                </a:lnTo>
                <a:lnTo>
                  <a:pt x="277107" y="3234145"/>
                </a:lnTo>
                <a:lnTo>
                  <a:pt x="321439" y="3238359"/>
                </a:lnTo>
                <a:lnTo>
                  <a:pt x="373136" y="3240523"/>
                </a:lnTo>
                <a:lnTo>
                  <a:pt x="433018" y="3241320"/>
                </a:lnTo>
                <a:lnTo>
                  <a:pt x="3235688" y="3241320"/>
                </a:lnTo>
                <a:lnTo>
                  <a:pt x="3295568" y="3240523"/>
                </a:lnTo>
                <a:lnTo>
                  <a:pt x="3347264" y="3238359"/>
                </a:lnTo>
                <a:lnTo>
                  <a:pt x="3391595" y="3234145"/>
                </a:lnTo>
                <a:lnTo>
                  <a:pt x="3429379" y="3227197"/>
                </a:lnTo>
                <a:lnTo>
                  <a:pt x="3510096" y="3194106"/>
                </a:lnTo>
                <a:lnTo>
                  <a:pt x="3553567" y="3163601"/>
                </a:lnTo>
                <a:lnTo>
                  <a:pt x="3590984" y="3126182"/>
                </a:lnTo>
                <a:lnTo>
                  <a:pt x="3621487" y="3082711"/>
                </a:lnTo>
                <a:lnTo>
                  <a:pt x="3644214" y="3034050"/>
                </a:lnTo>
                <a:lnTo>
                  <a:pt x="3661530" y="2964211"/>
                </a:lnTo>
                <a:lnTo>
                  <a:pt x="3665745" y="2919880"/>
                </a:lnTo>
                <a:lnTo>
                  <a:pt x="3667910" y="2868183"/>
                </a:lnTo>
                <a:lnTo>
                  <a:pt x="3668707" y="2808301"/>
                </a:lnTo>
                <a:lnTo>
                  <a:pt x="3668707" y="433018"/>
                </a:lnTo>
                <a:lnTo>
                  <a:pt x="3667910" y="373137"/>
                </a:lnTo>
                <a:lnTo>
                  <a:pt x="3665745" y="321440"/>
                </a:lnTo>
                <a:lnTo>
                  <a:pt x="3661530" y="277108"/>
                </a:lnTo>
                <a:lnTo>
                  <a:pt x="3654581" y="239325"/>
                </a:lnTo>
                <a:lnTo>
                  <a:pt x="3621487" y="158609"/>
                </a:lnTo>
                <a:lnTo>
                  <a:pt x="3590984" y="115137"/>
                </a:lnTo>
                <a:lnTo>
                  <a:pt x="3553567" y="77718"/>
                </a:lnTo>
                <a:lnTo>
                  <a:pt x="3510096" y="47214"/>
                </a:lnTo>
                <a:lnTo>
                  <a:pt x="3461435" y="24487"/>
                </a:lnTo>
                <a:lnTo>
                  <a:pt x="3391595" y="7175"/>
                </a:lnTo>
                <a:lnTo>
                  <a:pt x="3347264" y="2961"/>
                </a:lnTo>
                <a:lnTo>
                  <a:pt x="3295568" y="797"/>
                </a:lnTo>
                <a:lnTo>
                  <a:pt x="323568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83477" y="2757679"/>
            <a:ext cx="3478529" cy="222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50" dirty="0">
                <a:latin typeface="Arial MT"/>
                <a:cs typeface="Arial MT"/>
              </a:rPr>
              <a:t>Splitting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20" dirty="0">
                <a:latin typeface="Arial MT"/>
                <a:cs typeface="Arial MT"/>
              </a:rPr>
              <a:t>data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45" dirty="0">
                <a:latin typeface="Arial MT"/>
                <a:cs typeface="Arial MT"/>
              </a:rPr>
              <a:t>into training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14" dirty="0">
                <a:latin typeface="Arial MT"/>
                <a:cs typeface="Arial MT"/>
              </a:rPr>
              <a:t>and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40" dirty="0">
                <a:latin typeface="Arial MT"/>
                <a:cs typeface="Arial MT"/>
              </a:rPr>
              <a:t>testing </a:t>
            </a:r>
            <a:r>
              <a:rPr sz="2600" spc="80" dirty="0">
                <a:latin typeface="Arial MT"/>
                <a:cs typeface="Arial MT"/>
              </a:rPr>
              <a:t>sets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75" dirty="0">
                <a:latin typeface="Arial MT"/>
                <a:cs typeface="Arial MT"/>
              </a:rPr>
              <a:t>with </a:t>
            </a:r>
            <a:r>
              <a:rPr sz="2600" spc="60" dirty="0">
                <a:latin typeface="Arial MT"/>
                <a:cs typeface="Arial MT"/>
              </a:rPr>
              <a:t>train_test_split </a:t>
            </a:r>
            <a:r>
              <a:rPr sz="2600" spc="160" dirty="0">
                <a:latin typeface="Arial MT"/>
                <a:cs typeface="Arial MT"/>
              </a:rPr>
              <a:t>function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344505" y="2256919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235678" y="0"/>
                </a:moveTo>
                <a:lnTo>
                  <a:pt x="433018" y="0"/>
                </a:lnTo>
                <a:lnTo>
                  <a:pt x="373136" y="797"/>
                </a:lnTo>
                <a:lnTo>
                  <a:pt x="321437" y="2961"/>
                </a:lnTo>
                <a:lnTo>
                  <a:pt x="277104" y="7175"/>
                </a:lnTo>
                <a:lnTo>
                  <a:pt x="239318" y="14122"/>
                </a:lnTo>
                <a:lnTo>
                  <a:pt x="158604" y="47214"/>
                </a:lnTo>
                <a:lnTo>
                  <a:pt x="115134" y="77718"/>
                </a:lnTo>
                <a:lnTo>
                  <a:pt x="77715" y="115137"/>
                </a:lnTo>
                <a:lnTo>
                  <a:pt x="47210" y="158609"/>
                </a:lnTo>
                <a:lnTo>
                  <a:pt x="24482" y="207270"/>
                </a:lnTo>
                <a:lnTo>
                  <a:pt x="7173" y="277108"/>
                </a:lnTo>
                <a:lnTo>
                  <a:pt x="2960" y="321440"/>
                </a:lnTo>
                <a:lnTo>
                  <a:pt x="797" y="373137"/>
                </a:lnTo>
                <a:lnTo>
                  <a:pt x="0" y="433018"/>
                </a:lnTo>
                <a:lnTo>
                  <a:pt x="0" y="2808301"/>
                </a:lnTo>
                <a:lnTo>
                  <a:pt x="797" y="2868183"/>
                </a:lnTo>
                <a:lnTo>
                  <a:pt x="2960" y="2919880"/>
                </a:lnTo>
                <a:lnTo>
                  <a:pt x="7173" y="2964211"/>
                </a:lnTo>
                <a:lnTo>
                  <a:pt x="14119" y="3001995"/>
                </a:lnTo>
                <a:lnTo>
                  <a:pt x="47210" y="3082711"/>
                </a:lnTo>
                <a:lnTo>
                  <a:pt x="77715" y="3126182"/>
                </a:lnTo>
                <a:lnTo>
                  <a:pt x="115134" y="3163601"/>
                </a:lnTo>
                <a:lnTo>
                  <a:pt x="158604" y="3194106"/>
                </a:lnTo>
                <a:lnTo>
                  <a:pt x="207262" y="3216833"/>
                </a:lnTo>
                <a:lnTo>
                  <a:pt x="277104" y="3234145"/>
                </a:lnTo>
                <a:lnTo>
                  <a:pt x="321437" y="3238359"/>
                </a:lnTo>
                <a:lnTo>
                  <a:pt x="373136" y="3240523"/>
                </a:lnTo>
                <a:lnTo>
                  <a:pt x="433018" y="3241320"/>
                </a:lnTo>
                <a:lnTo>
                  <a:pt x="3235678" y="3241320"/>
                </a:lnTo>
                <a:lnTo>
                  <a:pt x="3295560" y="3240523"/>
                </a:lnTo>
                <a:lnTo>
                  <a:pt x="3347259" y="3238359"/>
                </a:lnTo>
                <a:lnTo>
                  <a:pt x="3391592" y="3234145"/>
                </a:lnTo>
                <a:lnTo>
                  <a:pt x="3429378" y="3227197"/>
                </a:lnTo>
                <a:lnTo>
                  <a:pt x="3510092" y="3194106"/>
                </a:lnTo>
                <a:lnTo>
                  <a:pt x="3553562" y="3163601"/>
                </a:lnTo>
                <a:lnTo>
                  <a:pt x="3590981" y="3126182"/>
                </a:lnTo>
                <a:lnTo>
                  <a:pt x="3621486" y="3082711"/>
                </a:lnTo>
                <a:lnTo>
                  <a:pt x="3644214" y="3034050"/>
                </a:lnTo>
                <a:lnTo>
                  <a:pt x="3661523" y="2964211"/>
                </a:lnTo>
                <a:lnTo>
                  <a:pt x="3665736" y="2919880"/>
                </a:lnTo>
                <a:lnTo>
                  <a:pt x="3667900" y="2868183"/>
                </a:lnTo>
                <a:lnTo>
                  <a:pt x="3668697" y="2808301"/>
                </a:lnTo>
                <a:lnTo>
                  <a:pt x="3668697" y="433018"/>
                </a:lnTo>
                <a:lnTo>
                  <a:pt x="3667900" y="373137"/>
                </a:lnTo>
                <a:lnTo>
                  <a:pt x="3665736" y="321440"/>
                </a:lnTo>
                <a:lnTo>
                  <a:pt x="3661523" y="277108"/>
                </a:lnTo>
                <a:lnTo>
                  <a:pt x="3654577" y="239325"/>
                </a:lnTo>
                <a:lnTo>
                  <a:pt x="3621486" y="158609"/>
                </a:lnTo>
                <a:lnTo>
                  <a:pt x="3590981" y="115137"/>
                </a:lnTo>
                <a:lnTo>
                  <a:pt x="3553562" y="77718"/>
                </a:lnTo>
                <a:lnTo>
                  <a:pt x="3510092" y="47214"/>
                </a:lnTo>
                <a:lnTo>
                  <a:pt x="3461435" y="24487"/>
                </a:lnTo>
                <a:lnTo>
                  <a:pt x="3391592" y="7175"/>
                </a:lnTo>
                <a:lnTo>
                  <a:pt x="3347259" y="2961"/>
                </a:lnTo>
                <a:lnTo>
                  <a:pt x="3295560" y="797"/>
                </a:lnTo>
                <a:lnTo>
                  <a:pt x="3235678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472723" y="2980022"/>
            <a:ext cx="3412490" cy="1784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30" dirty="0">
                <a:latin typeface="Arial MT"/>
                <a:cs typeface="Arial MT"/>
              </a:rPr>
              <a:t>Creating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a </a:t>
            </a:r>
            <a:r>
              <a:rPr sz="2600" spc="90" dirty="0">
                <a:latin typeface="Arial MT"/>
                <a:cs typeface="Arial MT"/>
              </a:rPr>
              <a:t>GridSearchCV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160" dirty="0">
                <a:latin typeface="Arial MT"/>
                <a:cs typeface="Arial MT"/>
              </a:rPr>
              <a:t>object </a:t>
            </a:r>
            <a:r>
              <a:rPr sz="2600" spc="195" dirty="0">
                <a:latin typeface="Arial MT"/>
                <a:cs typeface="Arial MT"/>
              </a:rPr>
              <a:t>with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75" dirty="0">
                <a:latin typeface="Arial MT"/>
                <a:cs typeface="Arial MT"/>
              </a:rPr>
              <a:t>cv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170" dirty="0">
                <a:latin typeface="Arial MT"/>
                <a:cs typeface="Arial MT"/>
              </a:rPr>
              <a:t>=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10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95" dirty="0">
                <a:latin typeface="Arial MT"/>
                <a:cs typeface="Arial MT"/>
              </a:rPr>
              <a:t>to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50" dirty="0">
                <a:latin typeface="Arial MT"/>
                <a:cs typeface="Arial MT"/>
              </a:rPr>
              <a:t>find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35" dirty="0">
                <a:latin typeface="Arial MT"/>
                <a:cs typeface="Arial MT"/>
              </a:rPr>
              <a:t>best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05" dirty="0">
                <a:latin typeface="Arial MT"/>
                <a:cs typeface="Arial MT"/>
              </a:rPr>
              <a:t>parameters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344514" y="6600304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198945" y="0"/>
                </a:moveTo>
                <a:lnTo>
                  <a:pt x="469732" y="0"/>
                </a:lnTo>
                <a:lnTo>
                  <a:pt x="404774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6" y="15320"/>
                </a:lnTo>
                <a:lnTo>
                  <a:pt x="180487" y="46497"/>
                </a:lnTo>
                <a:lnTo>
                  <a:pt x="139933" y="72398"/>
                </a:lnTo>
                <a:lnTo>
                  <a:pt x="103722" y="103725"/>
                </a:lnTo>
                <a:lnTo>
                  <a:pt x="72395" y="139936"/>
                </a:lnTo>
                <a:lnTo>
                  <a:pt x="46493" y="180489"/>
                </a:lnTo>
                <a:lnTo>
                  <a:pt x="26556" y="224844"/>
                </a:lnTo>
                <a:lnTo>
                  <a:pt x="7781" y="300604"/>
                </a:lnTo>
                <a:lnTo>
                  <a:pt x="3211" y="348695"/>
                </a:lnTo>
                <a:lnTo>
                  <a:pt x="864" y="404775"/>
                </a:lnTo>
                <a:lnTo>
                  <a:pt x="0" y="469734"/>
                </a:lnTo>
                <a:lnTo>
                  <a:pt x="0" y="2771567"/>
                </a:lnTo>
                <a:lnTo>
                  <a:pt x="864" y="2836526"/>
                </a:lnTo>
                <a:lnTo>
                  <a:pt x="3211" y="2892606"/>
                </a:lnTo>
                <a:lnTo>
                  <a:pt x="7781" y="2940696"/>
                </a:lnTo>
                <a:lnTo>
                  <a:pt x="15316" y="2981684"/>
                </a:lnTo>
                <a:lnTo>
                  <a:pt x="46493" y="3060812"/>
                </a:lnTo>
                <a:lnTo>
                  <a:pt x="72395" y="3101365"/>
                </a:lnTo>
                <a:lnTo>
                  <a:pt x="103722" y="3137576"/>
                </a:lnTo>
                <a:lnTo>
                  <a:pt x="139933" y="3168902"/>
                </a:lnTo>
                <a:lnTo>
                  <a:pt x="180487" y="3194803"/>
                </a:lnTo>
                <a:lnTo>
                  <a:pt x="224843" y="3214737"/>
                </a:lnTo>
                <a:lnTo>
                  <a:pt x="300604" y="3233517"/>
                </a:lnTo>
                <a:lnTo>
                  <a:pt x="348694" y="3238088"/>
                </a:lnTo>
                <a:lnTo>
                  <a:pt x="404774" y="3240436"/>
                </a:lnTo>
                <a:lnTo>
                  <a:pt x="469732" y="3241301"/>
                </a:lnTo>
                <a:lnTo>
                  <a:pt x="3198945" y="3241301"/>
                </a:lnTo>
                <a:lnTo>
                  <a:pt x="3263903" y="3240436"/>
                </a:lnTo>
                <a:lnTo>
                  <a:pt x="3319983" y="3238088"/>
                </a:lnTo>
                <a:lnTo>
                  <a:pt x="3368073" y="3233517"/>
                </a:lnTo>
                <a:lnTo>
                  <a:pt x="3409060" y="3225980"/>
                </a:lnTo>
                <a:lnTo>
                  <a:pt x="3488190" y="3194803"/>
                </a:lnTo>
                <a:lnTo>
                  <a:pt x="3528744" y="3168902"/>
                </a:lnTo>
                <a:lnTo>
                  <a:pt x="3564955" y="3137576"/>
                </a:lnTo>
                <a:lnTo>
                  <a:pt x="3596282" y="3101365"/>
                </a:lnTo>
                <a:lnTo>
                  <a:pt x="3622184" y="3060812"/>
                </a:lnTo>
                <a:lnTo>
                  <a:pt x="3642121" y="3016456"/>
                </a:lnTo>
                <a:lnTo>
                  <a:pt x="3660896" y="2940696"/>
                </a:lnTo>
                <a:lnTo>
                  <a:pt x="3665466" y="2892606"/>
                </a:lnTo>
                <a:lnTo>
                  <a:pt x="3667813" y="2836526"/>
                </a:lnTo>
                <a:lnTo>
                  <a:pt x="3668677" y="2771567"/>
                </a:lnTo>
                <a:lnTo>
                  <a:pt x="3668677" y="469734"/>
                </a:lnTo>
                <a:lnTo>
                  <a:pt x="3667813" y="404775"/>
                </a:lnTo>
                <a:lnTo>
                  <a:pt x="3665466" y="348695"/>
                </a:lnTo>
                <a:lnTo>
                  <a:pt x="3660896" y="300604"/>
                </a:lnTo>
                <a:lnTo>
                  <a:pt x="3653361" y="259617"/>
                </a:lnTo>
                <a:lnTo>
                  <a:pt x="3622184" y="180489"/>
                </a:lnTo>
                <a:lnTo>
                  <a:pt x="3596282" y="139936"/>
                </a:lnTo>
                <a:lnTo>
                  <a:pt x="3564955" y="103725"/>
                </a:lnTo>
                <a:lnTo>
                  <a:pt x="3528744" y="72398"/>
                </a:lnTo>
                <a:lnTo>
                  <a:pt x="3488190" y="46497"/>
                </a:lnTo>
                <a:lnTo>
                  <a:pt x="3443834" y="26563"/>
                </a:lnTo>
                <a:lnTo>
                  <a:pt x="3368073" y="7783"/>
                </a:lnTo>
                <a:lnTo>
                  <a:pt x="3319983" y="3212"/>
                </a:lnTo>
                <a:lnTo>
                  <a:pt x="3263903" y="864"/>
                </a:lnTo>
                <a:lnTo>
                  <a:pt x="3198945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5695879" y="7101054"/>
            <a:ext cx="2966085" cy="222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5730" marR="118110" algn="ctr">
              <a:lnSpc>
                <a:spcPct val="111000"/>
              </a:lnSpc>
              <a:spcBef>
                <a:spcPts val="90"/>
              </a:spcBef>
            </a:pPr>
            <a:r>
              <a:rPr sz="2600" spc="150" dirty="0">
                <a:latin typeface="Arial MT"/>
                <a:cs typeface="Arial MT"/>
              </a:rPr>
              <a:t>Applying </a:t>
            </a:r>
            <a:r>
              <a:rPr sz="2600" spc="80" dirty="0">
                <a:latin typeface="Arial MT"/>
                <a:cs typeface="Arial MT"/>
              </a:rPr>
              <a:t>GridSearchCV </a:t>
            </a:r>
            <a:r>
              <a:rPr sz="2600" spc="145" dirty="0">
                <a:latin typeface="Arial MT"/>
                <a:cs typeface="Arial MT"/>
              </a:rPr>
              <a:t>on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60" dirty="0">
                <a:latin typeface="Arial MT"/>
                <a:cs typeface="Arial MT"/>
              </a:rPr>
              <a:t>LogReg,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SVM,</a:t>
            </a:r>
            <a:endParaRPr sz="2600">
              <a:latin typeface="Arial MT"/>
              <a:cs typeface="Arial MT"/>
            </a:endParaRPr>
          </a:p>
          <a:p>
            <a:pPr marL="12700" marR="5080" algn="ctr">
              <a:lnSpc>
                <a:spcPct val="111000"/>
              </a:lnSpc>
            </a:pPr>
            <a:r>
              <a:rPr sz="2600" spc="110" dirty="0">
                <a:latin typeface="Arial MT"/>
                <a:cs typeface="Arial MT"/>
              </a:rPr>
              <a:t>Decision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Tree,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spc="90" dirty="0">
                <a:latin typeface="Arial MT"/>
                <a:cs typeface="Arial MT"/>
              </a:rPr>
              <a:t>and </a:t>
            </a:r>
            <a:r>
              <a:rPr sz="2600" spc="50" dirty="0">
                <a:latin typeface="Arial MT"/>
                <a:cs typeface="Arial MT"/>
              </a:rPr>
              <a:t>KNN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25" dirty="0">
                <a:latin typeface="Arial MT"/>
                <a:cs typeface="Arial MT"/>
              </a:rPr>
              <a:t>models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88272" y="6600304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30" h="3241675">
                <a:moveTo>
                  <a:pt x="3198946" y="0"/>
                </a:moveTo>
                <a:lnTo>
                  <a:pt x="469732" y="0"/>
                </a:lnTo>
                <a:lnTo>
                  <a:pt x="404774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6" y="15320"/>
                </a:lnTo>
                <a:lnTo>
                  <a:pt x="180487" y="46497"/>
                </a:lnTo>
                <a:lnTo>
                  <a:pt x="139933" y="72398"/>
                </a:lnTo>
                <a:lnTo>
                  <a:pt x="103724" y="103725"/>
                </a:lnTo>
                <a:lnTo>
                  <a:pt x="72398" y="139936"/>
                </a:lnTo>
                <a:lnTo>
                  <a:pt x="46499" y="180489"/>
                </a:lnTo>
                <a:lnTo>
                  <a:pt x="26566" y="224844"/>
                </a:lnTo>
                <a:lnTo>
                  <a:pt x="7784" y="300604"/>
                </a:lnTo>
                <a:lnTo>
                  <a:pt x="3212" y="348695"/>
                </a:lnTo>
                <a:lnTo>
                  <a:pt x="864" y="404775"/>
                </a:lnTo>
                <a:lnTo>
                  <a:pt x="0" y="469734"/>
                </a:lnTo>
                <a:lnTo>
                  <a:pt x="0" y="2771567"/>
                </a:lnTo>
                <a:lnTo>
                  <a:pt x="864" y="2836526"/>
                </a:lnTo>
                <a:lnTo>
                  <a:pt x="3212" y="2892606"/>
                </a:lnTo>
                <a:lnTo>
                  <a:pt x="7784" y="2940696"/>
                </a:lnTo>
                <a:lnTo>
                  <a:pt x="15322" y="2981684"/>
                </a:lnTo>
                <a:lnTo>
                  <a:pt x="46499" y="3060812"/>
                </a:lnTo>
                <a:lnTo>
                  <a:pt x="72398" y="3101365"/>
                </a:lnTo>
                <a:lnTo>
                  <a:pt x="103724" y="3137576"/>
                </a:lnTo>
                <a:lnTo>
                  <a:pt x="139933" y="3168902"/>
                </a:lnTo>
                <a:lnTo>
                  <a:pt x="180487" y="3194803"/>
                </a:lnTo>
                <a:lnTo>
                  <a:pt x="224843" y="3214737"/>
                </a:lnTo>
                <a:lnTo>
                  <a:pt x="300604" y="3233517"/>
                </a:lnTo>
                <a:lnTo>
                  <a:pt x="348694" y="3238088"/>
                </a:lnTo>
                <a:lnTo>
                  <a:pt x="404774" y="3240436"/>
                </a:lnTo>
                <a:lnTo>
                  <a:pt x="469732" y="3241301"/>
                </a:lnTo>
                <a:lnTo>
                  <a:pt x="3198946" y="3241301"/>
                </a:lnTo>
                <a:lnTo>
                  <a:pt x="3263905" y="3240436"/>
                </a:lnTo>
                <a:lnTo>
                  <a:pt x="3319987" y="3238088"/>
                </a:lnTo>
                <a:lnTo>
                  <a:pt x="3368077" y="3233517"/>
                </a:lnTo>
                <a:lnTo>
                  <a:pt x="3409064" y="3225980"/>
                </a:lnTo>
                <a:lnTo>
                  <a:pt x="3488191" y="3194803"/>
                </a:lnTo>
                <a:lnTo>
                  <a:pt x="3528746" y="3168902"/>
                </a:lnTo>
                <a:lnTo>
                  <a:pt x="3564958" y="3137576"/>
                </a:lnTo>
                <a:lnTo>
                  <a:pt x="3596286" y="3101365"/>
                </a:lnTo>
                <a:lnTo>
                  <a:pt x="3622187" y="3060812"/>
                </a:lnTo>
                <a:lnTo>
                  <a:pt x="3642121" y="3016456"/>
                </a:lnTo>
                <a:lnTo>
                  <a:pt x="3660903" y="2940696"/>
                </a:lnTo>
                <a:lnTo>
                  <a:pt x="3665475" y="2892606"/>
                </a:lnTo>
                <a:lnTo>
                  <a:pt x="3667823" y="2836526"/>
                </a:lnTo>
                <a:lnTo>
                  <a:pt x="3668688" y="2771567"/>
                </a:lnTo>
                <a:lnTo>
                  <a:pt x="3668688" y="469734"/>
                </a:lnTo>
                <a:lnTo>
                  <a:pt x="3667823" y="404775"/>
                </a:lnTo>
                <a:lnTo>
                  <a:pt x="3665475" y="348695"/>
                </a:lnTo>
                <a:lnTo>
                  <a:pt x="3660903" y="300604"/>
                </a:lnTo>
                <a:lnTo>
                  <a:pt x="3653366" y="259617"/>
                </a:lnTo>
                <a:lnTo>
                  <a:pt x="3622187" y="180489"/>
                </a:lnTo>
                <a:lnTo>
                  <a:pt x="3596286" y="139936"/>
                </a:lnTo>
                <a:lnTo>
                  <a:pt x="3564958" y="103725"/>
                </a:lnTo>
                <a:lnTo>
                  <a:pt x="3528746" y="72398"/>
                </a:lnTo>
                <a:lnTo>
                  <a:pt x="3488191" y="46497"/>
                </a:lnTo>
                <a:lnTo>
                  <a:pt x="3443834" y="26563"/>
                </a:lnTo>
                <a:lnTo>
                  <a:pt x="3368077" y="7783"/>
                </a:lnTo>
                <a:lnTo>
                  <a:pt x="3319987" y="3212"/>
                </a:lnTo>
                <a:lnTo>
                  <a:pt x="3263905" y="864"/>
                </a:lnTo>
                <a:lnTo>
                  <a:pt x="3198946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0788353" y="7101054"/>
            <a:ext cx="3268979" cy="222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30" dirty="0">
                <a:latin typeface="Arial MT"/>
                <a:cs typeface="Arial MT"/>
              </a:rPr>
              <a:t>Calculating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130" dirty="0">
                <a:latin typeface="Arial MT"/>
                <a:cs typeface="Arial MT"/>
              </a:rPr>
              <a:t>the </a:t>
            </a:r>
            <a:r>
              <a:rPr sz="2600" spc="135" dirty="0">
                <a:latin typeface="Arial MT"/>
                <a:cs typeface="Arial MT"/>
              </a:rPr>
              <a:t>accuracy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45" dirty="0">
                <a:latin typeface="Arial MT"/>
                <a:cs typeface="Arial MT"/>
              </a:rPr>
              <a:t>on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20" dirty="0">
                <a:latin typeface="Arial MT"/>
                <a:cs typeface="Arial MT"/>
              </a:rPr>
              <a:t>test data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20" dirty="0">
                <a:latin typeface="Arial MT"/>
                <a:cs typeface="Arial MT"/>
              </a:rPr>
              <a:t>using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130" dirty="0">
                <a:latin typeface="Arial MT"/>
                <a:cs typeface="Arial MT"/>
              </a:rPr>
              <a:t>the </a:t>
            </a:r>
            <a:r>
              <a:rPr sz="2600" spc="170" dirty="0">
                <a:latin typeface="Arial MT"/>
                <a:cs typeface="Arial MT"/>
              </a:rPr>
              <a:t>method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65" dirty="0">
                <a:latin typeface="Arial MT"/>
                <a:cs typeface="Arial MT"/>
              </a:rPr>
              <a:t>.score()</a:t>
            </a:r>
            <a:endParaRPr sz="26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</a:pPr>
            <a:r>
              <a:rPr sz="2600" spc="170" dirty="0">
                <a:latin typeface="Arial MT"/>
                <a:cs typeface="Arial MT"/>
              </a:rPr>
              <a:t>for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95" dirty="0">
                <a:latin typeface="Arial MT"/>
                <a:cs typeface="Arial MT"/>
              </a:rPr>
              <a:t>all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25" dirty="0">
                <a:latin typeface="Arial MT"/>
                <a:cs typeface="Arial MT"/>
              </a:rPr>
              <a:t>models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32032" y="6600304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198950" y="0"/>
                </a:moveTo>
                <a:lnTo>
                  <a:pt x="469733" y="0"/>
                </a:lnTo>
                <a:lnTo>
                  <a:pt x="404775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7" y="15320"/>
                </a:lnTo>
                <a:lnTo>
                  <a:pt x="180489" y="46497"/>
                </a:lnTo>
                <a:lnTo>
                  <a:pt x="139935" y="72398"/>
                </a:lnTo>
                <a:lnTo>
                  <a:pt x="103724" y="103725"/>
                </a:lnTo>
                <a:lnTo>
                  <a:pt x="72398" y="139936"/>
                </a:lnTo>
                <a:lnTo>
                  <a:pt x="46497" y="180489"/>
                </a:lnTo>
                <a:lnTo>
                  <a:pt x="26563" y="224844"/>
                </a:lnTo>
                <a:lnTo>
                  <a:pt x="7783" y="300604"/>
                </a:lnTo>
                <a:lnTo>
                  <a:pt x="3212" y="348695"/>
                </a:lnTo>
                <a:lnTo>
                  <a:pt x="864" y="404775"/>
                </a:lnTo>
                <a:lnTo>
                  <a:pt x="0" y="469734"/>
                </a:lnTo>
                <a:lnTo>
                  <a:pt x="0" y="2771567"/>
                </a:lnTo>
                <a:lnTo>
                  <a:pt x="864" y="2836526"/>
                </a:lnTo>
                <a:lnTo>
                  <a:pt x="3212" y="2892606"/>
                </a:lnTo>
                <a:lnTo>
                  <a:pt x="7783" y="2940696"/>
                </a:lnTo>
                <a:lnTo>
                  <a:pt x="15320" y="2981684"/>
                </a:lnTo>
                <a:lnTo>
                  <a:pt x="46497" y="3060812"/>
                </a:lnTo>
                <a:lnTo>
                  <a:pt x="72398" y="3101365"/>
                </a:lnTo>
                <a:lnTo>
                  <a:pt x="103724" y="3137576"/>
                </a:lnTo>
                <a:lnTo>
                  <a:pt x="139935" y="3168902"/>
                </a:lnTo>
                <a:lnTo>
                  <a:pt x="180489" y="3194803"/>
                </a:lnTo>
                <a:lnTo>
                  <a:pt x="224844" y="3214737"/>
                </a:lnTo>
                <a:lnTo>
                  <a:pt x="300604" y="3233517"/>
                </a:lnTo>
                <a:lnTo>
                  <a:pt x="348694" y="3238088"/>
                </a:lnTo>
                <a:lnTo>
                  <a:pt x="404775" y="3240436"/>
                </a:lnTo>
                <a:lnTo>
                  <a:pt x="469733" y="3241301"/>
                </a:lnTo>
                <a:lnTo>
                  <a:pt x="3198950" y="3241301"/>
                </a:lnTo>
                <a:lnTo>
                  <a:pt x="3263908" y="3240436"/>
                </a:lnTo>
                <a:lnTo>
                  <a:pt x="3319989" y="3238088"/>
                </a:lnTo>
                <a:lnTo>
                  <a:pt x="3368079" y="3233517"/>
                </a:lnTo>
                <a:lnTo>
                  <a:pt x="3409066" y="3225980"/>
                </a:lnTo>
                <a:lnTo>
                  <a:pt x="3488194" y="3194803"/>
                </a:lnTo>
                <a:lnTo>
                  <a:pt x="3528747" y="3168902"/>
                </a:lnTo>
                <a:lnTo>
                  <a:pt x="3564958" y="3137576"/>
                </a:lnTo>
                <a:lnTo>
                  <a:pt x="3596285" y="3101365"/>
                </a:lnTo>
                <a:lnTo>
                  <a:pt x="3622186" y="3060812"/>
                </a:lnTo>
                <a:lnTo>
                  <a:pt x="3642120" y="3016456"/>
                </a:lnTo>
                <a:lnTo>
                  <a:pt x="3660900" y="2940696"/>
                </a:lnTo>
                <a:lnTo>
                  <a:pt x="3665471" y="2892606"/>
                </a:lnTo>
                <a:lnTo>
                  <a:pt x="3667819" y="2836526"/>
                </a:lnTo>
                <a:lnTo>
                  <a:pt x="3668684" y="2771567"/>
                </a:lnTo>
                <a:lnTo>
                  <a:pt x="3668684" y="469734"/>
                </a:lnTo>
                <a:lnTo>
                  <a:pt x="3667819" y="404775"/>
                </a:lnTo>
                <a:lnTo>
                  <a:pt x="3665471" y="348695"/>
                </a:lnTo>
                <a:lnTo>
                  <a:pt x="3660900" y="300604"/>
                </a:lnTo>
                <a:lnTo>
                  <a:pt x="3653363" y="259617"/>
                </a:lnTo>
                <a:lnTo>
                  <a:pt x="3622186" y="180489"/>
                </a:lnTo>
                <a:lnTo>
                  <a:pt x="3596285" y="139936"/>
                </a:lnTo>
                <a:lnTo>
                  <a:pt x="3564958" y="103725"/>
                </a:lnTo>
                <a:lnTo>
                  <a:pt x="3528747" y="72398"/>
                </a:lnTo>
                <a:lnTo>
                  <a:pt x="3488194" y="46497"/>
                </a:lnTo>
                <a:lnTo>
                  <a:pt x="3443839" y="26563"/>
                </a:lnTo>
                <a:lnTo>
                  <a:pt x="3368079" y="7783"/>
                </a:lnTo>
                <a:lnTo>
                  <a:pt x="3319989" y="3212"/>
                </a:lnTo>
                <a:lnTo>
                  <a:pt x="3263908" y="864"/>
                </a:lnTo>
                <a:lnTo>
                  <a:pt x="319895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305360" y="7545740"/>
            <a:ext cx="2722245" cy="1344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05" dirty="0">
                <a:latin typeface="Arial MT"/>
                <a:cs typeface="Arial MT"/>
              </a:rPr>
              <a:t>Examining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30" dirty="0">
                <a:latin typeface="Arial MT"/>
                <a:cs typeface="Arial MT"/>
              </a:rPr>
              <a:t>the </a:t>
            </a:r>
            <a:r>
              <a:rPr sz="2600" spc="145" dirty="0">
                <a:latin typeface="Arial MT"/>
                <a:cs typeface="Arial MT"/>
              </a:rPr>
              <a:t>confusion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150" dirty="0">
                <a:latin typeface="Arial MT"/>
                <a:cs typeface="Arial MT"/>
              </a:rPr>
              <a:t>matrix </a:t>
            </a:r>
            <a:r>
              <a:rPr sz="2600" spc="170" dirty="0">
                <a:latin typeface="Arial MT"/>
                <a:cs typeface="Arial MT"/>
              </a:rPr>
              <a:t>for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95" dirty="0">
                <a:latin typeface="Arial MT"/>
                <a:cs typeface="Arial MT"/>
              </a:rPr>
              <a:t>all</a:t>
            </a:r>
            <a:r>
              <a:rPr sz="2600" spc="-95" dirty="0">
                <a:latin typeface="Arial MT"/>
                <a:cs typeface="Arial MT"/>
              </a:rPr>
              <a:t> </a:t>
            </a:r>
            <a:r>
              <a:rPr sz="2600" spc="125" dirty="0">
                <a:latin typeface="Arial MT"/>
                <a:cs typeface="Arial MT"/>
              </a:rPr>
              <a:t>models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75793" y="6600304"/>
            <a:ext cx="3669029" cy="3241675"/>
          </a:xfrm>
          <a:custGeom>
            <a:avLst/>
            <a:gdLst/>
            <a:ahLst/>
            <a:cxnLst/>
            <a:rect l="l" t="t" r="r" b="b"/>
            <a:pathLst>
              <a:path w="3669029" h="3241675">
                <a:moveTo>
                  <a:pt x="3198950" y="0"/>
                </a:moveTo>
                <a:lnTo>
                  <a:pt x="469733" y="0"/>
                </a:lnTo>
                <a:lnTo>
                  <a:pt x="404775" y="864"/>
                </a:lnTo>
                <a:lnTo>
                  <a:pt x="348694" y="3212"/>
                </a:lnTo>
                <a:lnTo>
                  <a:pt x="300604" y="7783"/>
                </a:lnTo>
                <a:lnTo>
                  <a:pt x="259617" y="15320"/>
                </a:lnTo>
                <a:lnTo>
                  <a:pt x="180489" y="46497"/>
                </a:lnTo>
                <a:lnTo>
                  <a:pt x="139935" y="72398"/>
                </a:lnTo>
                <a:lnTo>
                  <a:pt x="103724" y="103725"/>
                </a:lnTo>
                <a:lnTo>
                  <a:pt x="72398" y="139936"/>
                </a:lnTo>
                <a:lnTo>
                  <a:pt x="46497" y="180489"/>
                </a:lnTo>
                <a:lnTo>
                  <a:pt x="26563" y="224844"/>
                </a:lnTo>
                <a:lnTo>
                  <a:pt x="7783" y="300604"/>
                </a:lnTo>
                <a:lnTo>
                  <a:pt x="3212" y="348695"/>
                </a:lnTo>
                <a:lnTo>
                  <a:pt x="864" y="404775"/>
                </a:lnTo>
                <a:lnTo>
                  <a:pt x="0" y="469734"/>
                </a:lnTo>
                <a:lnTo>
                  <a:pt x="0" y="2771567"/>
                </a:lnTo>
                <a:lnTo>
                  <a:pt x="864" y="2836526"/>
                </a:lnTo>
                <a:lnTo>
                  <a:pt x="3212" y="2892606"/>
                </a:lnTo>
                <a:lnTo>
                  <a:pt x="7783" y="2940696"/>
                </a:lnTo>
                <a:lnTo>
                  <a:pt x="15320" y="2981684"/>
                </a:lnTo>
                <a:lnTo>
                  <a:pt x="46497" y="3060812"/>
                </a:lnTo>
                <a:lnTo>
                  <a:pt x="72398" y="3101365"/>
                </a:lnTo>
                <a:lnTo>
                  <a:pt x="103724" y="3137576"/>
                </a:lnTo>
                <a:lnTo>
                  <a:pt x="139935" y="3168902"/>
                </a:lnTo>
                <a:lnTo>
                  <a:pt x="180489" y="3194803"/>
                </a:lnTo>
                <a:lnTo>
                  <a:pt x="224844" y="3214737"/>
                </a:lnTo>
                <a:lnTo>
                  <a:pt x="300604" y="3233517"/>
                </a:lnTo>
                <a:lnTo>
                  <a:pt x="348694" y="3238088"/>
                </a:lnTo>
                <a:lnTo>
                  <a:pt x="404775" y="3240436"/>
                </a:lnTo>
                <a:lnTo>
                  <a:pt x="469733" y="3241301"/>
                </a:lnTo>
                <a:lnTo>
                  <a:pt x="3198950" y="3241301"/>
                </a:lnTo>
                <a:lnTo>
                  <a:pt x="3263908" y="3240436"/>
                </a:lnTo>
                <a:lnTo>
                  <a:pt x="3319989" y="3238088"/>
                </a:lnTo>
                <a:lnTo>
                  <a:pt x="3368079" y="3233517"/>
                </a:lnTo>
                <a:lnTo>
                  <a:pt x="3409066" y="3225980"/>
                </a:lnTo>
                <a:lnTo>
                  <a:pt x="3488194" y="3194803"/>
                </a:lnTo>
                <a:lnTo>
                  <a:pt x="3528747" y="3168902"/>
                </a:lnTo>
                <a:lnTo>
                  <a:pt x="3564958" y="3137576"/>
                </a:lnTo>
                <a:lnTo>
                  <a:pt x="3596285" y="3101365"/>
                </a:lnTo>
                <a:lnTo>
                  <a:pt x="3622186" y="3060812"/>
                </a:lnTo>
                <a:lnTo>
                  <a:pt x="3642120" y="3016456"/>
                </a:lnTo>
                <a:lnTo>
                  <a:pt x="3660900" y="2940696"/>
                </a:lnTo>
                <a:lnTo>
                  <a:pt x="3665471" y="2892606"/>
                </a:lnTo>
                <a:lnTo>
                  <a:pt x="3667819" y="2836526"/>
                </a:lnTo>
                <a:lnTo>
                  <a:pt x="3668684" y="2771567"/>
                </a:lnTo>
                <a:lnTo>
                  <a:pt x="3668684" y="469734"/>
                </a:lnTo>
                <a:lnTo>
                  <a:pt x="3667819" y="404775"/>
                </a:lnTo>
                <a:lnTo>
                  <a:pt x="3665471" y="348695"/>
                </a:lnTo>
                <a:lnTo>
                  <a:pt x="3660900" y="300604"/>
                </a:lnTo>
                <a:lnTo>
                  <a:pt x="3653363" y="259617"/>
                </a:lnTo>
                <a:lnTo>
                  <a:pt x="3622186" y="180489"/>
                </a:lnTo>
                <a:lnTo>
                  <a:pt x="3596285" y="139936"/>
                </a:lnTo>
                <a:lnTo>
                  <a:pt x="3564958" y="103725"/>
                </a:lnTo>
                <a:lnTo>
                  <a:pt x="3528747" y="72398"/>
                </a:lnTo>
                <a:lnTo>
                  <a:pt x="3488194" y="46497"/>
                </a:lnTo>
                <a:lnTo>
                  <a:pt x="3443839" y="26563"/>
                </a:lnTo>
                <a:lnTo>
                  <a:pt x="3368079" y="7783"/>
                </a:lnTo>
                <a:lnTo>
                  <a:pt x="3319989" y="3212"/>
                </a:lnTo>
                <a:lnTo>
                  <a:pt x="3263908" y="864"/>
                </a:lnTo>
                <a:lnTo>
                  <a:pt x="3198950" y="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335221" y="7101054"/>
            <a:ext cx="3150235" cy="222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065" marR="5080" algn="ctr">
              <a:lnSpc>
                <a:spcPct val="111000"/>
              </a:lnSpc>
              <a:spcBef>
                <a:spcPts val="90"/>
              </a:spcBef>
            </a:pPr>
            <a:r>
              <a:rPr sz="2600" spc="114" dirty="0">
                <a:latin typeface="Arial MT"/>
                <a:cs typeface="Arial MT"/>
              </a:rPr>
              <a:t>Finding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155" dirty="0">
                <a:latin typeface="Arial MT"/>
                <a:cs typeface="Arial MT"/>
              </a:rPr>
              <a:t>the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60" dirty="0">
                <a:latin typeface="Arial MT"/>
                <a:cs typeface="Arial MT"/>
              </a:rPr>
              <a:t>method </a:t>
            </a:r>
            <a:r>
              <a:rPr sz="2600" spc="150" dirty="0">
                <a:latin typeface="Arial MT"/>
                <a:cs typeface="Arial MT"/>
              </a:rPr>
              <a:t>performs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35" dirty="0">
                <a:latin typeface="Arial MT"/>
                <a:cs typeface="Arial MT"/>
              </a:rPr>
              <a:t>best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140" dirty="0">
                <a:latin typeface="Arial MT"/>
                <a:cs typeface="Arial MT"/>
              </a:rPr>
              <a:t>by </a:t>
            </a:r>
            <a:r>
              <a:rPr sz="2600" spc="125" dirty="0">
                <a:latin typeface="Arial MT"/>
                <a:cs typeface="Arial MT"/>
              </a:rPr>
              <a:t>examining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130" dirty="0">
                <a:latin typeface="Arial MT"/>
                <a:cs typeface="Arial MT"/>
              </a:rPr>
              <a:t>the </a:t>
            </a:r>
            <a:r>
              <a:rPr sz="2600" spc="65" dirty="0">
                <a:latin typeface="Arial MT"/>
                <a:cs typeface="Arial MT"/>
              </a:rPr>
              <a:t>Jaccard_score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90" dirty="0">
                <a:latin typeface="Arial MT"/>
                <a:cs typeface="Arial MT"/>
              </a:rPr>
              <a:t>and </a:t>
            </a:r>
            <a:r>
              <a:rPr sz="2600" spc="-30" dirty="0">
                <a:latin typeface="Arial MT"/>
                <a:cs typeface="Arial MT"/>
              </a:rPr>
              <a:t>F1_score</a:t>
            </a:r>
            <a:r>
              <a:rPr sz="2600" spc="-140" dirty="0">
                <a:latin typeface="Arial MT"/>
                <a:cs typeface="Arial MT"/>
              </a:rPr>
              <a:t> </a:t>
            </a:r>
            <a:r>
              <a:rPr sz="2600" spc="140" dirty="0">
                <a:latin typeface="Arial MT"/>
                <a:cs typeface="Arial MT"/>
              </a:rPr>
              <a:t>metrics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384800" y="10310983"/>
            <a:ext cx="8620249" cy="46871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u="sng" spc="11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GitHub</a:t>
            </a:r>
            <a:r>
              <a:rPr sz="2950" u="sng" spc="-5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sz="2950" u="sng" spc="-7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URL:</a:t>
            </a:r>
            <a:r>
              <a:rPr sz="2950" u="sng" spc="-5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 </a:t>
            </a:r>
            <a:r>
              <a:rPr lang="en-IN" sz="2950" u="sng" spc="85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Machine Learning </a:t>
            </a:r>
            <a:r>
              <a:rPr lang="en-IN" sz="2950" u="sng" spc="85" dirty="0" err="1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  <a:latin typeface="Arial MT"/>
                <a:cs typeface="Arial MT"/>
              </a:rPr>
              <a:t>Prediction.ipynb</a:t>
            </a:r>
            <a:endParaRPr sz="2950" dirty="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596148" y="3454547"/>
            <a:ext cx="887730" cy="846455"/>
            <a:chOff x="9596148" y="3454547"/>
            <a:chExt cx="887730" cy="846455"/>
          </a:xfrm>
        </p:grpSpPr>
        <p:sp>
          <p:nvSpPr>
            <p:cNvPr id="21" name="object 21"/>
            <p:cNvSpPr/>
            <p:nvPr/>
          </p:nvSpPr>
          <p:spPr>
            <a:xfrm>
              <a:off x="9622325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4" y="0"/>
                  </a:moveTo>
                  <a:lnTo>
                    <a:pt x="469134" y="269861"/>
                  </a:lnTo>
                  <a:lnTo>
                    <a:pt x="0" y="269861"/>
                  </a:lnTo>
                  <a:lnTo>
                    <a:pt x="0" y="523848"/>
                  </a:lnTo>
                  <a:lnTo>
                    <a:pt x="469134" y="523848"/>
                  </a:lnTo>
                  <a:lnTo>
                    <a:pt x="469134" y="793710"/>
                  </a:lnTo>
                  <a:lnTo>
                    <a:pt x="834912" y="396855"/>
                  </a:lnTo>
                  <a:lnTo>
                    <a:pt x="469134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22325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523849"/>
                  </a:moveTo>
                  <a:lnTo>
                    <a:pt x="469133" y="793711"/>
                  </a:lnTo>
                  <a:lnTo>
                    <a:pt x="834912" y="396855"/>
                  </a:lnTo>
                  <a:lnTo>
                    <a:pt x="469133" y="0"/>
                  </a:lnTo>
                  <a:lnTo>
                    <a:pt x="469133" y="269861"/>
                  </a:lnTo>
                  <a:lnTo>
                    <a:pt x="0" y="269861"/>
                  </a:lnTo>
                  <a:lnTo>
                    <a:pt x="0" y="523849"/>
                  </a:lnTo>
                  <a:lnTo>
                    <a:pt x="469133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4839910" y="3454547"/>
            <a:ext cx="887730" cy="846455"/>
            <a:chOff x="4839910" y="3454547"/>
            <a:chExt cx="887730" cy="846455"/>
          </a:xfrm>
        </p:grpSpPr>
        <p:sp>
          <p:nvSpPr>
            <p:cNvPr id="24" name="object 24"/>
            <p:cNvSpPr/>
            <p:nvPr/>
          </p:nvSpPr>
          <p:spPr>
            <a:xfrm>
              <a:off x="486608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0"/>
                  </a:moveTo>
                  <a:lnTo>
                    <a:pt x="469133" y="269860"/>
                  </a:lnTo>
                  <a:lnTo>
                    <a:pt x="0" y="269860"/>
                  </a:lnTo>
                  <a:lnTo>
                    <a:pt x="0" y="523848"/>
                  </a:lnTo>
                  <a:lnTo>
                    <a:pt x="469133" y="523848"/>
                  </a:lnTo>
                  <a:lnTo>
                    <a:pt x="469133" y="793710"/>
                  </a:lnTo>
                  <a:lnTo>
                    <a:pt x="834912" y="396854"/>
                  </a:lnTo>
                  <a:lnTo>
                    <a:pt x="469133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6608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523849"/>
                  </a:moveTo>
                  <a:lnTo>
                    <a:pt x="469133" y="793711"/>
                  </a:lnTo>
                  <a:lnTo>
                    <a:pt x="834912" y="396855"/>
                  </a:lnTo>
                  <a:lnTo>
                    <a:pt x="469133" y="0"/>
                  </a:lnTo>
                  <a:lnTo>
                    <a:pt x="469133" y="269861"/>
                  </a:lnTo>
                  <a:lnTo>
                    <a:pt x="0" y="269861"/>
                  </a:lnTo>
                  <a:lnTo>
                    <a:pt x="0" y="523849"/>
                  </a:lnTo>
                  <a:lnTo>
                    <a:pt x="469133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4352390" y="3454547"/>
            <a:ext cx="887730" cy="846455"/>
            <a:chOff x="14352390" y="3454547"/>
            <a:chExt cx="887730" cy="846455"/>
          </a:xfrm>
        </p:grpSpPr>
        <p:sp>
          <p:nvSpPr>
            <p:cNvPr id="27" name="object 27"/>
            <p:cNvSpPr/>
            <p:nvPr/>
          </p:nvSpPr>
          <p:spPr>
            <a:xfrm>
              <a:off x="1437856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27" y="0"/>
                  </a:moveTo>
                  <a:lnTo>
                    <a:pt x="469127" y="269860"/>
                  </a:lnTo>
                  <a:lnTo>
                    <a:pt x="0" y="269860"/>
                  </a:lnTo>
                  <a:lnTo>
                    <a:pt x="0" y="523848"/>
                  </a:lnTo>
                  <a:lnTo>
                    <a:pt x="469127" y="523848"/>
                  </a:lnTo>
                  <a:lnTo>
                    <a:pt x="469127" y="793710"/>
                  </a:lnTo>
                  <a:lnTo>
                    <a:pt x="834906" y="396854"/>
                  </a:lnTo>
                  <a:lnTo>
                    <a:pt x="46912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378567" y="3480724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469133" y="523849"/>
                  </a:moveTo>
                  <a:lnTo>
                    <a:pt x="469133" y="793711"/>
                  </a:lnTo>
                  <a:lnTo>
                    <a:pt x="834912" y="396855"/>
                  </a:lnTo>
                  <a:lnTo>
                    <a:pt x="469133" y="0"/>
                  </a:lnTo>
                  <a:lnTo>
                    <a:pt x="469133" y="269861"/>
                  </a:lnTo>
                  <a:lnTo>
                    <a:pt x="0" y="269861"/>
                  </a:lnTo>
                  <a:lnTo>
                    <a:pt x="0" y="523849"/>
                  </a:lnTo>
                  <a:lnTo>
                    <a:pt x="469133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839910" y="7797922"/>
            <a:ext cx="887730" cy="846455"/>
            <a:chOff x="4839910" y="7797922"/>
            <a:chExt cx="887730" cy="846455"/>
          </a:xfrm>
        </p:grpSpPr>
        <p:sp>
          <p:nvSpPr>
            <p:cNvPr id="30" name="object 30"/>
            <p:cNvSpPr/>
            <p:nvPr/>
          </p:nvSpPr>
          <p:spPr>
            <a:xfrm>
              <a:off x="4866087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0"/>
                  </a:moveTo>
                  <a:lnTo>
                    <a:pt x="0" y="396855"/>
                  </a:lnTo>
                  <a:lnTo>
                    <a:pt x="365778" y="793711"/>
                  </a:lnTo>
                  <a:lnTo>
                    <a:pt x="365778" y="523850"/>
                  </a:lnTo>
                  <a:lnTo>
                    <a:pt x="834912" y="523850"/>
                  </a:lnTo>
                  <a:lnTo>
                    <a:pt x="834912" y="269861"/>
                  </a:lnTo>
                  <a:lnTo>
                    <a:pt x="365778" y="269861"/>
                  </a:lnTo>
                  <a:lnTo>
                    <a:pt x="36577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866087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523849"/>
                  </a:moveTo>
                  <a:lnTo>
                    <a:pt x="365778" y="793711"/>
                  </a:lnTo>
                  <a:lnTo>
                    <a:pt x="0" y="396855"/>
                  </a:lnTo>
                  <a:lnTo>
                    <a:pt x="365778" y="0"/>
                  </a:lnTo>
                  <a:lnTo>
                    <a:pt x="365778" y="269861"/>
                  </a:lnTo>
                  <a:lnTo>
                    <a:pt x="834912" y="269861"/>
                  </a:lnTo>
                  <a:lnTo>
                    <a:pt x="834912" y="523849"/>
                  </a:lnTo>
                  <a:lnTo>
                    <a:pt x="365778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9605572" y="7797922"/>
            <a:ext cx="887730" cy="846455"/>
            <a:chOff x="9605572" y="7797922"/>
            <a:chExt cx="887730" cy="846455"/>
          </a:xfrm>
        </p:grpSpPr>
        <p:sp>
          <p:nvSpPr>
            <p:cNvPr id="33" name="object 33"/>
            <p:cNvSpPr/>
            <p:nvPr/>
          </p:nvSpPr>
          <p:spPr>
            <a:xfrm>
              <a:off x="9631749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9" y="0"/>
                  </a:moveTo>
                  <a:lnTo>
                    <a:pt x="0" y="396855"/>
                  </a:lnTo>
                  <a:lnTo>
                    <a:pt x="365779" y="793711"/>
                  </a:lnTo>
                  <a:lnTo>
                    <a:pt x="365779" y="523850"/>
                  </a:lnTo>
                  <a:lnTo>
                    <a:pt x="834912" y="523850"/>
                  </a:lnTo>
                  <a:lnTo>
                    <a:pt x="834912" y="269861"/>
                  </a:lnTo>
                  <a:lnTo>
                    <a:pt x="365779" y="269861"/>
                  </a:lnTo>
                  <a:lnTo>
                    <a:pt x="36577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631749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523849"/>
                  </a:moveTo>
                  <a:lnTo>
                    <a:pt x="365778" y="793711"/>
                  </a:lnTo>
                  <a:lnTo>
                    <a:pt x="0" y="396855"/>
                  </a:lnTo>
                  <a:lnTo>
                    <a:pt x="365778" y="0"/>
                  </a:lnTo>
                  <a:lnTo>
                    <a:pt x="365778" y="269861"/>
                  </a:lnTo>
                  <a:lnTo>
                    <a:pt x="834912" y="269861"/>
                  </a:lnTo>
                  <a:lnTo>
                    <a:pt x="834912" y="523849"/>
                  </a:lnTo>
                  <a:lnTo>
                    <a:pt x="365778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14361807" y="7797922"/>
            <a:ext cx="887730" cy="846455"/>
            <a:chOff x="14361807" y="7797922"/>
            <a:chExt cx="887730" cy="846455"/>
          </a:xfrm>
        </p:grpSpPr>
        <p:sp>
          <p:nvSpPr>
            <p:cNvPr id="36" name="object 36"/>
            <p:cNvSpPr/>
            <p:nvPr/>
          </p:nvSpPr>
          <p:spPr>
            <a:xfrm>
              <a:off x="14387990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9" y="0"/>
                  </a:moveTo>
                  <a:lnTo>
                    <a:pt x="0" y="396855"/>
                  </a:lnTo>
                  <a:lnTo>
                    <a:pt x="365779" y="793711"/>
                  </a:lnTo>
                  <a:lnTo>
                    <a:pt x="365779" y="523850"/>
                  </a:lnTo>
                  <a:lnTo>
                    <a:pt x="834906" y="523850"/>
                  </a:lnTo>
                  <a:lnTo>
                    <a:pt x="834906" y="269861"/>
                  </a:lnTo>
                  <a:lnTo>
                    <a:pt x="365779" y="269861"/>
                  </a:lnTo>
                  <a:lnTo>
                    <a:pt x="36577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387984" y="7824099"/>
              <a:ext cx="835025" cy="793750"/>
            </a:xfrm>
            <a:custGeom>
              <a:avLst/>
              <a:gdLst/>
              <a:ahLst/>
              <a:cxnLst/>
              <a:rect l="l" t="t" r="r" b="b"/>
              <a:pathLst>
                <a:path w="835025" h="793750">
                  <a:moveTo>
                    <a:pt x="365778" y="523849"/>
                  </a:moveTo>
                  <a:lnTo>
                    <a:pt x="365778" y="793711"/>
                  </a:lnTo>
                  <a:lnTo>
                    <a:pt x="0" y="396855"/>
                  </a:lnTo>
                  <a:lnTo>
                    <a:pt x="365778" y="0"/>
                  </a:lnTo>
                  <a:lnTo>
                    <a:pt x="365778" y="269861"/>
                  </a:lnTo>
                  <a:lnTo>
                    <a:pt x="834912" y="269861"/>
                  </a:lnTo>
                  <a:lnTo>
                    <a:pt x="834912" y="523849"/>
                  </a:lnTo>
                  <a:lnTo>
                    <a:pt x="365778" y="523849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16755825" y="5608614"/>
            <a:ext cx="846455" cy="887730"/>
            <a:chOff x="16755825" y="5608614"/>
            <a:chExt cx="846455" cy="887730"/>
          </a:xfrm>
        </p:grpSpPr>
        <p:sp>
          <p:nvSpPr>
            <p:cNvPr id="39" name="object 39"/>
            <p:cNvSpPr/>
            <p:nvPr/>
          </p:nvSpPr>
          <p:spPr>
            <a:xfrm>
              <a:off x="16782002" y="5634791"/>
              <a:ext cx="793750" cy="835025"/>
            </a:xfrm>
            <a:custGeom>
              <a:avLst/>
              <a:gdLst/>
              <a:ahLst/>
              <a:cxnLst/>
              <a:rect l="l" t="t" r="r" b="b"/>
              <a:pathLst>
                <a:path w="793750" h="835025">
                  <a:moveTo>
                    <a:pt x="523847" y="0"/>
                  </a:moveTo>
                  <a:lnTo>
                    <a:pt x="269855" y="0"/>
                  </a:lnTo>
                  <a:lnTo>
                    <a:pt x="269855" y="469134"/>
                  </a:lnTo>
                  <a:lnTo>
                    <a:pt x="0" y="469134"/>
                  </a:lnTo>
                  <a:lnTo>
                    <a:pt x="396857" y="834912"/>
                  </a:lnTo>
                  <a:lnTo>
                    <a:pt x="793703" y="469134"/>
                  </a:lnTo>
                  <a:lnTo>
                    <a:pt x="523847" y="469134"/>
                  </a:lnTo>
                  <a:lnTo>
                    <a:pt x="52384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6782002" y="5634791"/>
              <a:ext cx="793750" cy="835025"/>
            </a:xfrm>
            <a:custGeom>
              <a:avLst/>
              <a:gdLst/>
              <a:ahLst/>
              <a:cxnLst/>
              <a:rect l="l" t="t" r="r" b="b"/>
              <a:pathLst>
                <a:path w="793750" h="835025">
                  <a:moveTo>
                    <a:pt x="523849" y="469133"/>
                  </a:moveTo>
                  <a:lnTo>
                    <a:pt x="793711" y="469133"/>
                  </a:lnTo>
                  <a:lnTo>
                    <a:pt x="396855" y="834912"/>
                  </a:lnTo>
                  <a:lnTo>
                    <a:pt x="0" y="469133"/>
                  </a:lnTo>
                  <a:lnTo>
                    <a:pt x="269861" y="469133"/>
                  </a:lnTo>
                  <a:lnTo>
                    <a:pt x="269861" y="0"/>
                  </a:lnTo>
                  <a:lnTo>
                    <a:pt x="523849" y="0"/>
                  </a:lnTo>
                  <a:lnTo>
                    <a:pt x="523849" y="469133"/>
                  </a:lnTo>
                  <a:close/>
                </a:path>
              </a:pathLst>
            </a:custGeom>
            <a:ln w="52354">
              <a:solidFill>
                <a:srgbClr val="D5D5D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64113" y="1055883"/>
            <a:ext cx="2845358" cy="6781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3153" y="2891921"/>
            <a:ext cx="5713188" cy="57131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800873" y="3444214"/>
            <a:ext cx="245745" cy="4539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spc="-50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4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929"/>
              </a:spcBef>
            </a:pPr>
            <a:r>
              <a:rPr sz="4950" spc="-50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49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4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10"/>
              </a:spcBef>
            </a:pPr>
            <a:endParaRPr sz="4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950" spc="-50" dirty="0">
                <a:solidFill>
                  <a:srgbClr val="FFFFFF"/>
                </a:solidFill>
                <a:latin typeface="Arial MT"/>
                <a:cs typeface="Arial MT"/>
              </a:rPr>
              <a:t>•</a:t>
            </a:r>
            <a:endParaRPr sz="49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93496" y="3664199"/>
            <a:ext cx="9144857" cy="43531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2096" y="4671689"/>
            <a:ext cx="12076993" cy="9364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7182" y="1055883"/>
            <a:ext cx="11796582" cy="83821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9638" y="2511299"/>
            <a:ext cx="17804819" cy="36687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8821" y="6288434"/>
            <a:ext cx="15688310" cy="4114165"/>
          </a:xfrm>
          <a:prstGeom prst="rect">
            <a:avLst/>
          </a:prstGeom>
        </p:spPr>
        <p:txBody>
          <a:bodyPr vert="horz" wrap="square" lIns="0" tIns="316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90"/>
              </a:spcBef>
            </a:pPr>
            <a:r>
              <a:rPr sz="3900" spc="125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3900">
              <a:latin typeface="Arial MT"/>
              <a:cs typeface="Arial MT"/>
            </a:endParaRPr>
          </a:p>
          <a:p>
            <a:pPr marL="1339850" indent="-405765">
              <a:lnSpc>
                <a:spcPct val="100000"/>
              </a:lnSpc>
              <a:spcBef>
                <a:spcPts val="2145"/>
              </a:spcBef>
              <a:buChar char="•"/>
              <a:tabLst>
                <a:tab pos="1339850" algn="l"/>
              </a:tabLst>
            </a:pP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85" dirty="0">
                <a:solidFill>
                  <a:srgbClr val="FFFFFF"/>
                </a:solidFill>
                <a:latin typeface="Arial MT"/>
                <a:cs typeface="Arial MT"/>
              </a:rPr>
              <a:t>earliest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50" dirty="0">
                <a:solidFill>
                  <a:srgbClr val="FFFFFF"/>
                </a:solidFill>
                <a:latin typeface="Arial MT"/>
                <a:cs typeface="Arial MT"/>
              </a:rPr>
              <a:t>flights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65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14" dirty="0">
                <a:solidFill>
                  <a:srgbClr val="FFFFFF"/>
                </a:solidFill>
                <a:latin typeface="Arial MT"/>
                <a:cs typeface="Arial MT"/>
              </a:rPr>
              <a:t>failed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40" dirty="0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5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00" dirty="0">
                <a:solidFill>
                  <a:srgbClr val="FFFFFF"/>
                </a:solidFill>
                <a:latin typeface="Arial MT"/>
                <a:cs typeface="Arial MT"/>
              </a:rPr>
              <a:t>latest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50" dirty="0">
                <a:solidFill>
                  <a:srgbClr val="FFFFFF"/>
                </a:solidFill>
                <a:latin typeface="Arial MT"/>
                <a:cs typeface="Arial MT"/>
              </a:rPr>
              <a:t>flights</a:t>
            </a:r>
            <a:r>
              <a:rPr sz="34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65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10" dirty="0">
                <a:solidFill>
                  <a:srgbClr val="FFFFFF"/>
                </a:solidFill>
                <a:latin typeface="Arial MT"/>
                <a:cs typeface="Arial MT"/>
              </a:rPr>
              <a:t>succeeded.</a:t>
            </a:r>
            <a:endParaRPr sz="3450">
              <a:latin typeface="Arial MT"/>
              <a:cs typeface="Arial MT"/>
            </a:endParaRPr>
          </a:p>
          <a:p>
            <a:pPr marL="1339850" indent="-405765">
              <a:lnSpc>
                <a:spcPct val="100000"/>
              </a:lnSpc>
              <a:spcBef>
                <a:spcPts val="2135"/>
              </a:spcBef>
              <a:buChar char="•"/>
              <a:tabLst>
                <a:tab pos="1339850" algn="l"/>
              </a:tabLst>
            </a:pP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-40" dirty="0">
                <a:solidFill>
                  <a:srgbClr val="FFFFFF"/>
                </a:solidFill>
                <a:latin typeface="Arial MT"/>
                <a:cs typeface="Arial MT"/>
              </a:rPr>
              <a:t>CCAFS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SLC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330" dirty="0">
                <a:solidFill>
                  <a:srgbClr val="FFFFFF"/>
                </a:solidFill>
                <a:latin typeface="Arial MT"/>
                <a:cs typeface="Arial MT"/>
              </a:rPr>
              <a:t>40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3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90" dirty="0">
                <a:solidFill>
                  <a:srgbClr val="FFFFFF"/>
                </a:solidFill>
                <a:latin typeface="Arial MT"/>
                <a:cs typeface="Arial MT"/>
              </a:rPr>
              <a:t>site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55" dirty="0">
                <a:solidFill>
                  <a:srgbClr val="FFFFFF"/>
                </a:solidFill>
                <a:latin typeface="Arial MT"/>
                <a:cs typeface="Arial MT"/>
              </a:rPr>
              <a:t>about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20" dirty="0">
                <a:solidFill>
                  <a:srgbClr val="FFFFFF"/>
                </a:solidFill>
                <a:latin typeface="Arial MT"/>
                <a:cs typeface="Arial MT"/>
              </a:rPr>
              <a:t>half</a:t>
            </a:r>
            <a:r>
              <a:rPr sz="34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21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65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34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75" dirty="0">
                <a:solidFill>
                  <a:srgbClr val="FFFFFF"/>
                </a:solidFill>
                <a:latin typeface="Arial MT"/>
                <a:cs typeface="Arial MT"/>
              </a:rPr>
              <a:t>launches.</a:t>
            </a:r>
            <a:endParaRPr sz="3450">
              <a:latin typeface="Arial MT"/>
              <a:cs typeface="Arial MT"/>
            </a:endParaRPr>
          </a:p>
          <a:p>
            <a:pPr marL="1339850" indent="-405765">
              <a:lnSpc>
                <a:spcPct val="100000"/>
              </a:lnSpc>
              <a:spcBef>
                <a:spcPts val="2140"/>
              </a:spcBef>
              <a:buChar char="•"/>
              <a:tabLst>
                <a:tab pos="1339850" algn="l"/>
              </a:tabLst>
            </a:pPr>
            <a:r>
              <a:rPr sz="3450" spc="-120" dirty="0">
                <a:solidFill>
                  <a:srgbClr val="FFFFFF"/>
                </a:solidFill>
                <a:latin typeface="Arial MT"/>
                <a:cs typeface="Arial MT"/>
              </a:rPr>
              <a:t>VAFB</a:t>
            </a:r>
            <a:r>
              <a:rPr sz="3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SLC</a:t>
            </a:r>
            <a:r>
              <a:rPr sz="3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4E</a:t>
            </a:r>
            <a:r>
              <a:rPr sz="3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3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-70" dirty="0">
                <a:solidFill>
                  <a:srgbClr val="FFFFFF"/>
                </a:solidFill>
                <a:latin typeface="Arial MT"/>
                <a:cs typeface="Arial MT"/>
              </a:rPr>
              <a:t>KSC</a:t>
            </a:r>
            <a:r>
              <a:rPr sz="3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LC</a:t>
            </a:r>
            <a:r>
              <a:rPr sz="3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40" dirty="0">
                <a:solidFill>
                  <a:srgbClr val="FFFFFF"/>
                </a:solidFill>
                <a:latin typeface="Arial MT"/>
                <a:cs typeface="Arial MT"/>
              </a:rPr>
              <a:t>39A</a:t>
            </a:r>
            <a:r>
              <a:rPr sz="3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3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55" dirty="0">
                <a:solidFill>
                  <a:srgbClr val="FFFFFF"/>
                </a:solidFill>
                <a:latin typeface="Arial MT"/>
                <a:cs typeface="Arial MT"/>
              </a:rPr>
              <a:t>higher</a:t>
            </a:r>
            <a:r>
              <a:rPr sz="345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70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4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50" dirty="0">
                <a:solidFill>
                  <a:srgbClr val="FFFFFF"/>
                </a:solidFill>
                <a:latin typeface="Arial MT"/>
                <a:cs typeface="Arial MT"/>
              </a:rPr>
              <a:t>rates.</a:t>
            </a:r>
            <a:endParaRPr sz="3450">
              <a:latin typeface="Arial MT"/>
              <a:cs typeface="Arial MT"/>
            </a:endParaRPr>
          </a:p>
          <a:p>
            <a:pPr marL="1339850" indent="-405765">
              <a:lnSpc>
                <a:spcPct val="100000"/>
              </a:lnSpc>
              <a:spcBef>
                <a:spcPts val="2135"/>
              </a:spcBef>
              <a:buChar char="•"/>
              <a:tabLst>
                <a:tab pos="1339850" algn="l"/>
              </a:tabLst>
            </a:pPr>
            <a:r>
              <a:rPr sz="3450" spc="13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25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5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75" dirty="0">
                <a:solidFill>
                  <a:srgbClr val="FFFFFF"/>
                </a:solidFill>
                <a:latin typeface="Arial MT"/>
                <a:cs typeface="Arial MT"/>
              </a:rPr>
              <a:t>assumed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55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14" dirty="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60" dirty="0">
                <a:solidFill>
                  <a:srgbClr val="FFFFFF"/>
                </a:solidFill>
                <a:latin typeface="Arial MT"/>
                <a:cs typeface="Arial MT"/>
              </a:rPr>
              <a:t>new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3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55" dirty="0">
                <a:solidFill>
                  <a:srgbClr val="FFFFFF"/>
                </a:solidFill>
                <a:latin typeface="Arial MT"/>
                <a:cs typeface="Arial MT"/>
              </a:rPr>
              <a:t>higher</a:t>
            </a:r>
            <a:r>
              <a:rPr sz="34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100" dirty="0">
                <a:solidFill>
                  <a:srgbClr val="FFFFFF"/>
                </a:solidFill>
                <a:latin typeface="Arial MT"/>
                <a:cs typeface="Arial MT"/>
              </a:rPr>
              <a:t>rate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21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4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50" spc="55" dirty="0">
                <a:solidFill>
                  <a:srgbClr val="FFFFFF"/>
                </a:solidFill>
                <a:latin typeface="Arial MT"/>
                <a:cs typeface="Arial MT"/>
              </a:rPr>
              <a:t>success.</a:t>
            </a:r>
            <a:endParaRPr sz="3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0775" y="1055883"/>
            <a:ext cx="9249393" cy="8250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6257638"/>
            <a:ext cx="17609820" cy="4159885"/>
          </a:xfrm>
          <a:prstGeom prst="rect">
            <a:avLst/>
          </a:prstGeom>
        </p:spPr>
        <p:txBody>
          <a:bodyPr vert="horz" wrap="square" lIns="0" tIns="340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80"/>
              </a:spcBef>
            </a:pPr>
            <a:r>
              <a:rPr sz="4150" spc="114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150">
              <a:latin typeface="Arial MT"/>
              <a:cs typeface="Arial MT"/>
            </a:endParaRPr>
          </a:p>
          <a:p>
            <a:pPr marL="1360805" marR="194310" indent="-427355">
              <a:lnSpc>
                <a:spcPct val="111100"/>
              </a:lnSpc>
              <a:spcBef>
                <a:spcPts val="1845"/>
              </a:spcBef>
              <a:buChar char="•"/>
              <a:tabLst>
                <a:tab pos="1362075" algn="l"/>
              </a:tabLst>
            </a:pPr>
            <a:r>
              <a:rPr sz="365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90" dirty="0">
                <a:solidFill>
                  <a:srgbClr val="FFFFFF"/>
                </a:solidFill>
                <a:latin typeface="Arial MT"/>
                <a:cs typeface="Arial MT"/>
              </a:rPr>
              <a:t>every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40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95" dirty="0">
                <a:solidFill>
                  <a:srgbClr val="FFFFFF"/>
                </a:solidFill>
                <a:latin typeface="Arial MT"/>
                <a:cs typeface="Arial MT"/>
              </a:rPr>
              <a:t>site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50" dirty="0">
                <a:solidFill>
                  <a:srgbClr val="FFFFFF"/>
                </a:solidFill>
                <a:latin typeface="Arial MT"/>
                <a:cs typeface="Arial MT"/>
              </a:rPr>
              <a:t>higher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1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3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dirty="0">
                <a:solidFill>
                  <a:srgbClr val="FFFFFF"/>
                </a:solidFill>
                <a:latin typeface="Arial MT"/>
                <a:cs typeface="Arial MT"/>
              </a:rPr>
              <a:t>mass,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50" dirty="0">
                <a:solidFill>
                  <a:srgbClr val="FFFFFF"/>
                </a:solidFill>
                <a:latin typeface="Arial MT"/>
                <a:cs typeface="Arial MT"/>
              </a:rPr>
              <a:t>higher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65" dirty="0">
                <a:solidFill>
                  <a:srgbClr val="FFFFFF"/>
                </a:solidFill>
                <a:latin typeface="Arial MT"/>
                <a:cs typeface="Arial MT"/>
              </a:rPr>
              <a:t>success 	</a:t>
            </a:r>
            <a:r>
              <a:rPr sz="3650" spc="80" dirty="0">
                <a:solidFill>
                  <a:srgbClr val="FFFFFF"/>
                </a:solidFill>
                <a:latin typeface="Arial MT"/>
                <a:cs typeface="Arial MT"/>
              </a:rPr>
              <a:t>rate.</a:t>
            </a:r>
            <a:endParaRPr sz="3650">
              <a:latin typeface="Arial MT"/>
              <a:cs typeface="Arial MT"/>
            </a:endParaRPr>
          </a:p>
          <a:p>
            <a:pPr marL="1361440" indent="-427355">
              <a:lnSpc>
                <a:spcPct val="100000"/>
              </a:lnSpc>
              <a:spcBef>
                <a:spcPts val="2325"/>
              </a:spcBef>
              <a:buChar char="•"/>
              <a:tabLst>
                <a:tab pos="1361440" algn="l"/>
              </a:tabLst>
            </a:pPr>
            <a:r>
              <a:rPr sz="3650" spc="114" dirty="0">
                <a:solidFill>
                  <a:srgbClr val="FFFFFF"/>
                </a:solidFill>
                <a:latin typeface="Arial MT"/>
                <a:cs typeface="Arial MT"/>
              </a:rPr>
              <a:t>Most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22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00" dirty="0">
                <a:solidFill>
                  <a:srgbClr val="FFFFFF"/>
                </a:solidFill>
                <a:latin typeface="Arial MT"/>
                <a:cs typeface="Arial MT"/>
              </a:rPr>
              <a:t>launches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21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1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36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dirty="0">
                <a:solidFill>
                  <a:srgbClr val="FFFFFF"/>
                </a:solidFill>
                <a:latin typeface="Arial MT"/>
                <a:cs typeface="Arial MT"/>
              </a:rPr>
              <a:t>mass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00" dirty="0">
                <a:solidFill>
                  <a:srgbClr val="FFFFFF"/>
                </a:solidFill>
                <a:latin typeface="Arial MT"/>
                <a:cs typeface="Arial MT"/>
              </a:rPr>
              <a:t>over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305" dirty="0">
                <a:solidFill>
                  <a:srgbClr val="FFFFFF"/>
                </a:solidFill>
                <a:latin typeface="Arial MT"/>
                <a:cs typeface="Arial MT"/>
              </a:rPr>
              <a:t>7000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45" dirty="0">
                <a:solidFill>
                  <a:srgbClr val="FFFFFF"/>
                </a:solidFill>
                <a:latin typeface="Arial MT"/>
                <a:cs typeface="Arial MT"/>
              </a:rPr>
              <a:t>kg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10" dirty="0">
                <a:solidFill>
                  <a:srgbClr val="FFFFFF"/>
                </a:solidFill>
                <a:latin typeface="Arial MT"/>
                <a:cs typeface="Arial MT"/>
              </a:rPr>
              <a:t>were</a:t>
            </a:r>
            <a:r>
              <a:rPr sz="3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90" dirty="0">
                <a:solidFill>
                  <a:srgbClr val="FFFFFF"/>
                </a:solidFill>
                <a:latin typeface="Arial MT"/>
                <a:cs typeface="Arial MT"/>
              </a:rPr>
              <a:t>successful.</a:t>
            </a:r>
            <a:endParaRPr sz="3650">
              <a:latin typeface="Arial MT"/>
              <a:cs typeface="Arial MT"/>
            </a:endParaRPr>
          </a:p>
          <a:p>
            <a:pPr marL="1361440" indent="-427355">
              <a:lnSpc>
                <a:spcPct val="100000"/>
              </a:lnSpc>
              <a:spcBef>
                <a:spcPts val="2320"/>
              </a:spcBef>
              <a:buChar char="•"/>
              <a:tabLst>
                <a:tab pos="1361440" algn="l"/>
              </a:tabLst>
            </a:pPr>
            <a:r>
              <a:rPr sz="3650" spc="-95" dirty="0">
                <a:solidFill>
                  <a:srgbClr val="FFFFFF"/>
                </a:solidFill>
                <a:latin typeface="Arial MT"/>
                <a:cs typeface="Arial MT"/>
              </a:rPr>
              <a:t>KSC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dirty="0">
                <a:solidFill>
                  <a:srgbClr val="FFFFFF"/>
                </a:solidFill>
                <a:latin typeface="Arial MT"/>
                <a:cs typeface="Arial MT"/>
              </a:rPr>
              <a:t>LC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50" dirty="0">
                <a:solidFill>
                  <a:srgbClr val="FFFFFF"/>
                </a:solidFill>
                <a:latin typeface="Arial MT"/>
                <a:cs typeface="Arial MT"/>
              </a:rPr>
              <a:t>39A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6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dirty="0">
                <a:solidFill>
                  <a:srgbClr val="FFFFFF"/>
                </a:solidFill>
                <a:latin typeface="Arial MT"/>
                <a:cs typeface="Arial MT"/>
              </a:rPr>
              <a:t>100%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7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10" dirty="0">
                <a:solidFill>
                  <a:srgbClr val="FFFFFF"/>
                </a:solidFill>
                <a:latin typeface="Arial MT"/>
                <a:cs typeface="Arial MT"/>
              </a:rPr>
              <a:t>rate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7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1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36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dirty="0">
                <a:solidFill>
                  <a:srgbClr val="FFFFFF"/>
                </a:solidFill>
                <a:latin typeface="Arial MT"/>
                <a:cs typeface="Arial MT"/>
              </a:rPr>
              <a:t>mass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65" dirty="0">
                <a:solidFill>
                  <a:srgbClr val="FFFFFF"/>
                </a:solidFill>
                <a:latin typeface="Arial MT"/>
                <a:cs typeface="Arial MT"/>
              </a:rPr>
              <a:t>under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275" dirty="0">
                <a:solidFill>
                  <a:srgbClr val="FFFFFF"/>
                </a:solidFill>
                <a:latin typeface="Arial MT"/>
                <a:cs typeface="Arial MT"/>
              </a:rPr>
              <a:t>5500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45" dirty="0">
                <a:solidFill>
                  <a:srgbClr val="FFFFFF"/>
                </a:solidFill>
                <a:latin typeface="Arial MT"/>
                <a:cs typeface="Arial MT"/>
              </a:rPr>
              <a:t>kg</a:t>
            </a:r>
            <a:r>
              <a:rPr sz="36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50" spc="125" dirty="0">
                <a:solidFill>
                  <a:srgbClr val="FFFFFF"/>
                </a:solidFill>
                <a:latin typeface="Arial MT"/>
                <a:cs typeface="Arial MT"/>
              </a:rPr>
              <a:t>too.</a:t>
            </a:r>
            <a:endParaRPr sz="36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083" y="2513489"/>
            <a:ext cx="17801929" cy="36643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6482" y="1055884"/>
            <a:ext cx="10578399" cy="82502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81222" y="2851924"/>
            <a:ext cx="3373754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130" dirty="0"/>
              <a:t>Explanation: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2102660" y="3532323"/>
            <a:ext cx="7715884" cy="6224270"/>
          </a:xfrm>
          <a:prstGeom prst="rect">
            <a:avLst/>
          </a:prstGeom>
        </p:spPr>
        <p:txBody>
          <a:bodyPr vert="horz" wrap="square" lIns="0" tIns="331470" rIns="0" bIns="0" rtlCol="0">
            <a:spAutoFit/>
          </a:bodyPr>
          <a:lstStyle/>
          <a:p>
            <a:pPr marL="473075" indent="-460375">
              <a:lnSpc>
                <a:spcPct val="100000"/>
              </a:lnSpc>
              <a:spcBef>
                <a:spcPts val="2610"/>
              </a:spcBef>
              <a:buChar char="•"/>
              <a:tabLst>
                <a:tab pos="473075" algn="l"/>
              </a:tabLst>
            </a:pPr>
            <a:r>
              <a:rPr sz="3950" spc="155" dirty="0">
                <a:solidFill>
                  <a:srgbClr val="FFFFFF"/>
                </a:solidFill>
                <a:latin typeface="Arial MT"/>
                <a:cs typeface="Arial MT"/>
              </a:rPr>
              <a:t>Orbits</a:t>
            </a:r>
            <a:r>
              <a:rPr sz="39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1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39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100%</a:t>
            </a:r>
            <a:r>
              <a:rPr sz="39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95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75" dirty="0">
                <a:solidFill>
                  <a:srgbClr val="FFFFFF"/>
                </a:solidFill>
                <a:latin typeface="Arial MT"/>
                <a:cs typeface="Arial MT"/>
              </a:rPr>
              <a:t>rate:</a:t>
            </a:r>
            <a:endParaRPr sz="3950">
              <a:latin typeface="Arial MT"/>
              <a:cs typeface="Arial MT"/>
            </a:endParaRPr>
          </a:p>
          <a:p>
            <a:pPr marL="934085" lvl="1" indent="-461009">
              <a:lnSpc>
                <a:spcPct val="100000"/>
              </a:lnSpc>
              <a:spcBef>
                <a:spcPts val="2520"/>
              </a:spcBef>
              <a:buChar char="-"/>
              <a:tabLst>
                <a:tab pos="934085" algn="l"/>
              </a:tabLst>
            </a:pPr>
            <a:r>
              <a:rPr sz="3950" spc="-265" dirty="0">
                <a:solidFill>
                  <a:srgbClr val="FFFFFF"/>
                </a:solidFill>
                <a:latin typeface="Arial MT"/>
                <a:cs typeface="Arial MT"/>
              </a:rPr>
              <a:t>ES-</a:t>
            </a:r>
            <a:r>
              <a:rPr sz="3950" spc="-195" dirty="0">
                <a:solidFill>
                  <a:srgbClr val="FFFFFF"/>
                </a:solidFill>
                <a:latin typeface="Arial MT"/>
                <a:cs typeface="Arial MT"/>
              </a:rPr>
              <a:t>L1,</a:t>
            </a:r>
            <a:r>
              <a:rPr sz="39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135" dirty="0">
                <a:solidFill>
                  <a:srgbClr val="FFFFFF"/>
                </a:solidFill>
                <a:latin typeface="Arial MT"/>
                <a:cs typeface="Arial MT"/>
              </a:rPr>
              <a:t>GEO,</a:t>
            </a:r>
            <a:r>
              <a:rPr sz="395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105" dirty="0">
                <a:solidFill>
                  <a:srgbClr val="FFFFFF"/>
                </a:solidFill>
                <a:latin typeface="Arial MT"/>
                <a:cs typeface="Arial MT"/>
              </a:rPr>
              <a:t>HEO,</a:t>
            </a:r>
            <a:r>
              <a:rPr sz="39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SSO</a:t>
            </a:r>
            <a:endParaRPr sz="3950">
              <a:latin typeface="Arial MT"/>
              <a:cs typeface="Arial MT"/>
            </a:endParaRPr>
          </a:p>
          <a:p>
            <a:pPr marL="473075" indent="-460375">
              <a:lnSpc>
                <a:spcPct val="100000"/>
              </a:lnSpc>
              <a:spcBef>
                <a:spcPts val="2515"/>
              </a:spcBef>
              <a:buChar char="•"/>
              <a:tabLst>
                <a:tab pos="473075" algn="l"/>
              </a:tabLst>
            </a:pPr>
            <a:r>
              <a:rPr sz="3950" spc="155" dirty="0">
                <a:solidFill>
                  <a:srgbClr val="FFFFFF"/>
                </a:solidFill>
                <a:latin typeface="Arial MT"/>
                <a:cs typeface="Arial MT"/>
              </a:rPr>
              <a:t>Orbits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1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0%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75" dirty="0">
                <a:solidFill>
                  <a:srgbClr val="FFFFFF"/>
                </a:solidFill>
                <a:latin typeface="Arial MT"/>
                <a:cs typeface="Arial MT"/>
              </a:rPr>
              <a:t>rate:</a:t>
            </a:r>
            <a:endParaRPr sz="3950">
              <a:latin typeface="Arial MT"/>
              <a:cs typeface="Arial MT"/>
            </a:endParaRPr>
          </a:p>
          <a:p>
            <a:pPr marL="934085" lvl="1" indent="-461009">
              <a:lnSpc>
                <a:spcPct val="100000"/>
              </a:lnSpc>
              <a:spcBef>
                <a:spcPts val="2515"/>
              </a:spcBef>
              <a:buChar char="-"/>
              <a:tabLst>
                <a:tab pos="934085" algn="l"/>
              </a:tabLst>
            </a:pP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SO</a:t>
            </a:r>
            <a:endParaRPr sz="3950">
              <a:latin typeface="Arial MT"/>
              <a:cs typeface="Arial MT"/>
            </a:endParaRPr>
          </a:p>
          <a:p>
            <a:pPr marL="473075" marR="1564005" indent="-461009">
              <a:lnSpc>
                <a:spcPct val="111300"/>
              </a:lnSpc>
              <a:spcBef>
                <a:spcPts val="1980"/>
              </a:spcBef>
              <a:buChar char="•"/>
              <a:tabLst>
                <a:tab pos="473075" algn="l"/>
              </a:tabLst>
            </a:pPr>
            <a:r>
              <a:rPr sz="3950" spc="155" dirty="0">
                <a:solidFill>
                  <a:srgbClr val="FFFFFF"/>
                </a:solidFill>
                <a:latin typeface="Arial MT"/>
                <a:cs typeface="Arial MT"/>
              </a:rPr>
              <a:t>Orbits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1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85" dirty="0">
                <a:solidFill>
                  <a:srgbClr val="FFFFFF"/>
                </a:solidFill>
                <a:latin typeface="Arial MT"/>
                <a:cs typeface="Arial MT"/>
              </a:rPr>
              <a:t>rate </a:t>
            </a:r>
            <a:r>
              <a:rPr sz="3950" spc="150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39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50%</a:t>
            </a:r>
            <a:r>
              <a:rPr sz="39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9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20" dirty="0">
                <a:solidFill>
                  <a:srgbClr val="FFFFFF"/>
                </a:solidFill>
                <a:latin typeface="Arial MT"/>
                <a:cs typeface="Arial MT"/>
              </a:rPr>
              <a:t>85%:</a:t>
            </a:r>
            <a:endParaRPr sz="3950">
              <a:latin typeface="Arial MT"/>
              <a:cs typeface="Arial MT"/>
            </a:endParaRPr>
          </a:p>
          <a:p>
            <a:pPr marL="934085" lvl="1" indent="-461009">
              <a:lnSpc>
                <a:spcPct val="100000"/>
              </a:lnSpc>
              <a:spcBef>
                <a:spcPts val="2515"/>
              </a:spcBef>
              <a:buChar char="-"/>
              <a:tabLst>
                <a:tab pos="934085" algn="l"/>
              </a:tabLst>
            </a:pPr>
            <a:r>
              <a:rPr sz="3950" spc="-120" dirty="0">
                <a:solidFill>
                  <a:srgbClr val="FFFFFF"/>
                </a:solidFill>
                <a:latin typeface="Arial MT"/>
                <a:cs typeface="Arial MT"/>
              </a:rPr>
              <a:t>GTO,</a:t>
            </a:r>
            <a:r>
              <a:rPr sz="395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105" dirty="0">
                <a:solidFill>
                  <a:srgbClr val="FFFFFF"/>
                </a:solidFill>
                <a:latin typeface="Arial MT"/>
                <a:cs typeface="Arial MT"/>
              </a:rPr>
              <a:t>ISS,</a:t>
            </a:r>
            <a:r>
              <a:rPr sz="3950" spc="-1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135" dirty="0">
                <a:solidFill>
                  <a:srgbClr val="FFFFFF"/>
                </a:solidFill>
                <a:latin typeface="Arial MT"/>
                <a:cs typeface="Arial MT"/>
              </a:rPr>
              <a:t>LEO,</a:t>
            </a:r>
            <a:r>
              <a:rPr sz="395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95" dirty="0">
                <a:solidFill>
                  <a:srgbClr val="FFFFFF"/>
                </a:solidFill>
                <a:latin typeface="Arial MT"/>
                <a:cs typeface="Arial MT"/>
              </a:rPr>
              <a:t>MEO,</a:t>
            </a:r>
            <a:r>
              <a:rPr sz="395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PO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0639" y="2513012"/>
            <a:ext cx="7853119" cy="753395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9861" y="1055884"/>
            <a:ext cx="11171220" cy="8382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6659274"/>
            <a:ext cx="17709515" cy="3328035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4450" spc="13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450">
              <a:latin typeface="Arial MT"/>
              <a:cs typeface="Arial MT"/>
            </a:endParaRPr>
          </a:p>
          <a:p>
            <a:pPr marL="1394460" marR="5080" indent="-461009">
              <a:lnSpc>
                <a:spcPct val="111300"/>
              </a:lnSpc>
              <a:spcBef>
                <a:spcPts val="1995"/>
              </a:spcBef>
              <a:buChar char="•"/>
              <a:tabLst>
                <a:tab pos="1394460" algn="l"/>
              </a:tabLst>
            </a:pP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9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95" dirty="0">
                <a:solidFill>
                  <a:srgbClr val="FFFFFF"/>
                </a:solidFill>
                <a:latin typeface="Arial MT"/>
                <a:cs typeface="Arial MT"/>
              </a:rPr>
              <a:t>LEO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15" dirty="0">
                <a:solidFill>
                  <a:srgbClr val="FFFFFF"/>
                </a:solidFill>
                <a:latin typeface="Arial MT"/>
                <a:cs typeface="Arial MT"/>
              </a:rPr>
              <a:t>orbit</a:t>
            </a:r>
            <a:r>
              <a:rPr sz="39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0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75" dirty="0">
                <a:solidFill>
                  <a:srgbClr val="FFFFFF"/>
                </a:solidFill>
                <a:latin typeface="Arial MT"/>
                <a:cs typeface="Arial MT"/>
              </a:rPr>
              <a:t>appears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20" dirty="0">
                <a:solidFill>
                  <a:srgbClr val="FFFFFF"/>
                </a:solidFill>
                <a:latin typeface="Arial MT"/>
                <a:cs typeface="Arial MT"/>
              </a:rPr>
              <a:t>related</a:t>
            </a:r>
            <a:r>
              <a:rPr sz="39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4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5" dirty="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sz="395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1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0" dirty="0">
                <a:solidFill>
                  <a:srgbClr val="FFFFFF"/>
                </a:solidFill>
                <a:latin typeface="Arial MT"/>
                <a:cs typeface="Arial MT"/>
              </a:rPr>
              <a:t>flights; </a:t>
            </a:r>
            <a:r>
              <a:rPr sz="3950" spc="17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3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0" dirty="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95" dirty="0">
                <a:solidFill>
                  <a:srgbClr val="FFFFFF"/>
                </a:solidFill>
                <a:latin typeface="Arial MT"/>
                <a:cs typeface="Arial MT"/>
              </a:rPr>
              <a:t>hand,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0" dirty="0">
                <a:solidFill>
                  <a:srgbClr val="FFFFFF"/>
                </a:solidFill>
                <a:latin typeface="Arial MT"/>
                <a:cs typeface="Arial MT"/>
              </a:rPr>
              <a:t>there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seems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4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5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5" dirty="0">
                <a:solidFill>
                  <a:srgbClr val="FFFFFF"/>
                </a:solidFill>
                <a:latin typeface="Arial MT"/>
                <a:cs typeface="Arial MT"/>
              </a:rPr>
              <a:t>no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4" dirty="0">
                <a:solidFill>
                  <a:srgbClr val="FFFFFF"/>
                </a:solidFill>
                <a:latin typeface="Arial MT"/>
                <a:cs typeface="Arial MT"/>
              </a:rPr>
              <a:t>relationship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50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90" dirty="0">
                <a:solidFill>
                  <a:srgbClr val="FFFFFF"/>
                </a:solidFill>
                <a:latin typeface="Arial MT"/>
                <a:cs typeface="Arial MT"/>
              </a:rPr>
              <a:t>flight </a:t>
            </a:r>
            <a:r>
              <a:rPr sz="3950" spc="175" dirty="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sz="39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39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95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65" dirty="0">
                <a:solidFill>
                  <a:srgbClr val="FFFFFF"/>
                </a:solidFill>
                <a:latin typeface="Arial MT"/>
                <a:cs typeface="Arial MT"/>
              </a:rPr>
              <a:t>GTO</a:t>
            </a:r>
            <a:r>
              <a:rPr sz="395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orbit.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36648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2466" y="1055884"/>
            <a:ext cx="10866014" cy="8250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6994342"/>
            <a:ext cx="17623155" cy="2658110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4450" spc="13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450">
              <a:latin typeface="Arial MT"/>
              <a:cs typeface="Arial MT"/>
            </a:endParaRPr>
          </a:p>
          <a:p>
            <a:pPr marL="1394460" marR="5080" indent="-461009">
              <a:lnSpc>
                <a:spcPct val="111300"/>
              </a:lnSpc>
              <a:spcBef>
                <a:spcPts val="1995"/>
              </a:spcBef>
              <a:buChar char="•"/>
              <a:tabLst>
                <a:tab pos="1394460" algn="l"/>
              </a:tabLst>
            </a:pP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Heavy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85" dirty="0">
                <a:solidFill>
                  <a:srgbClr val="FFFFFF"/>
                </a:solidFill>
                <a:latin typeface="Arial MT"/>
                <a:cs typeface="Arial MT"/>
              </a:rPr>
              <a:t>payloads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05" dirty="0">
                <a:solidFill>
                  <a:srgbClr val="FFFFFF"/>
                </a:solidFill>
                <a:latin typeface="Arial MT"/>
                <a:cs typeface="Arial MT"/>
              </a:rPr>
              <a:t>negative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40" dirty="0">
                <a:solidFill>
                  <a:srgbClr val="FFFFFF"/>
                </a:solidFill>
                <a:latin typeface="Arial MT"/>
                <a:cs typeface="Arial MT"/>
              </a:rPr>
              <a:t>influence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65" dirty="0">
                <a:solidFill>
                  <a:srgbClr val="FFFFFF"/>
                </a:solidFill>
                <a:latin typeface="Arial MT"/>
                <a:cs typeface="Arial MT"/>
              </a:rPr>
              <a:t>GTO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0" dirty="0">
                <a:solidFill>
                  <a:srgbClr val="FFFFFF"/>
                </a:solidFill>
                <a:latin typeface="Arial MT"/>
                <a:cs typeface="Arial MT"/>
              </a:rPr>
              <a:t>orbits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positive </a:t>
            </a:r>
            <a:r>
              <a:rPr sz="3950" spc="17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39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65" dirty="0">
                <a:solidFill>
                  <a:srgbClr val="FFFFFF"/>
                </a:solidFill>
                <a:latin typeface="Arial MT"/>
                <a:cs typeface="Arial MT"/>
              </a:rPr>
              <a:t>GTO</a:t>
            </a:r>
            <a:r>
              <a:rPr sz="39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9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Polar</a:t>
            </a:r>
            <a:r>
              <a:rPr sz="395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95" dirty="0">
                <a:solidFill>
                  <a:srgbClr val="FFFFFF"/>
                </a:solidFill>
                <a:latin typeface="Arial MT"/>
                <a:cs typeface="Arial MT"/>
              </a:rPr>
              <a:t>LEO</a:t>
            </a:r>
            <a:r>
              <a:rPr sz="39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65" dirty="0">
                <a:solidFill>
                  <a:srgbClr val="FFFFFF"/>
                </a:solidFill>
                <a:latin typeface="Arial MT"/>
                <a:cs typeface="Arial MT"/>
              </a:rPr>
              <a:t>(ISS)</a:t>
            </a:r>
            <a:r>
              <a:rPr sz="395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25" dirty="0">
                <a:solidFill>
                  <a:srgbClr val="FFFFFF"/>
                </a:solidFill>
                <a:latin typeface="Arial MT"/>
                <a:cs typeface="Arial MT"/>
              </a:rPr>
              <a:t>orbits.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36648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73036" y="1055884"/>
            <a:ext cx="11194967" cy="825022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81222" y="4820451"/>
            <a:ext cx="3373754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130" dirty="0"/>
              <a:t>Explanation: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2102660" y="5752150"/>
            <a:ext cx="5111115" cy="203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075" marR="689610" indent="-461009">
              <a:lnSpc>
                <a:spcPct val="111300"/>
              </a:lnSpc>
              <a:spcBef>
                <a:spcPts val="100"/>
              </a:spcBef>
              <a:buChar char="•"/>
              <a:tabLst>
                <a:tab pos="473075" algn="l"/>
              </a:tabLst>
            </a:pP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85" dirty="0">
                <a:solidFill>
                  <a:srgbClr val="FFFFFF"/>
                </a:solidFill>
                <a:latin typeface="Arial MT"/>
                <a:cs typeface="Arial MT"/>
              </a:rPr>
              <a:t>rate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since</a:t>
            </a:r>
            <a:r>
              <a:rPr sz="39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2013</a:t>
            </a:r>
            <a:r>
              <a:rPr sz="395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25" dirty="0">
                <a:solidFill>
                  <a:srgbClr val="FFFFFF"/>
                </a:solidFill>
                <a:latin typeface="Arial MT"/>
                <a:cs typeface="Arial MT"/>
              </a:rPr>
              <a:t>kept</a:t>
            </a:r>
            <a:endParaRPr sz="3950">
              <a:latin typeface="Arial MT"/>
              <a:cs typeface="Arial MT"/>
            </a:endParaRPr>
          </a:p>
          <a:p>
            <a:pPr marL="473075">
              <a:lnSpc>
                <a:spcPct val="100000"/>
              </a:lnSpc>
              <a:spcBef>
                <a:spcPts val="535"/>
              </a:spcBef>
            </a:pPr>
            <a:r>
              <a:rPr sz="3950" spc="105" dirty="0">
                <a:solidFill>
                  <a:srgbClr val="FFFFFF"/>
                </a:solidFill>
                <a:latin typeface="Arial MT"/>
                <a:cs typeface="Arial MT"/>
              </a:rPr>
              <a:t>increasing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5" dirty="0">
                <a:solidFill>
                  <a:srgbClr val="FFFFFF"/>
                </a:solidFill>
                <a:latin typeface="Arial MT"/>
                <a:cs typeface="Arial MT"/>
              </a:rPr>
              <a:t>till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20" dirty="0">
                <a:solidFill>
                  <a:srgbClr val="FFFFFF"/>
                </a:solidFill>
                <a:latin typeface="Arial MT"/>
                <a:cs typeface="Arial MT"/>
              </a:rPr>
              <a:t>2020.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7290" y="2513012"/>
            <a:ext cx="10680303" cy="753903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0852" y="4671689"/>
            <a:ext cx="7435919" cy="10360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2522" y="1055884"/>
            <a:ext cx="8359285" cy="6781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7329411"/>
            <a:ext cx="17699355" cy="1987550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4450" spc="13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450">
              <a:latin typeface="Arial MT"/>
              <a:cs typeface="Arial MT"/>
            </a:endParaRPr>
          </a:p>
          <a:p>
            <a:pPr marL="1394460" indent="-460375">
              <a:lnSpc>
                <a:spcPct val="100000"/>
              </a:lnSpc>
              <a:spcBef>
                <a:spcPts val="2530"/>
              </a:spcBef>
              <a:buChar char="•"/>
              <a:tabLst>
                <a:tab pos="1394460" algn="l"/>
              </a:tabLst>
            </a:pPr>
            <a:r>
              <a:rPr sz="3950" spc="80" dirty="0">
                <a:solidFill>
                  <a:srgbClr val="FFFFFF"/>
                </a:solidFill>
                <a:latin typeface="Arial MT"/>
                <a:cs typeface="Arial MT"/>
              </a:rPr>
              <a:t>Displaying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names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1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unique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0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80" dirty="0">
                <a:solidFill>
                  <a:srgbClr val="FFFFFF"/>
                </a:solidFill>
                <a:latin typeface="Arial MT"/>
                <a:cs typeface="Arial MT"/>
              </a:rPr>
              <a:t>space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80" dirty="0">
                <a:solidFill>
                  <a:srgbClr val="FFFFFF"/>
                </a:solidFill>
                <a:latin typeface="Arial MT"/>
                <a:cs typeface="Arial MT"/>
              </a:rPr>
              <a:t>mission.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37695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2917" y="1055884"/>
            <a:ext cx="14289240" cy="8382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8376302"/>
            <a:ext cx="17158335" cy="1987550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4450" spc="13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450">
              <a:latin typeface="Arial MT"/>
              <a:cs typeface="Arial MT"/>
            </a:endParaRPr>
          </a:p>
          <a:p>
            <a:pPr marL="1394460" indent="-460375">
              <a:lnSpc>
                <a:spcPct val="100000"/>
              </a:lnSpc>
              <a:spcBef>
                <a:spcPts val="2530"/>
              </a:spcBef>
              <a:buChar char="•"/>
              <a:tabLst>
                <a:tab pos="1394460" algn="l"/>
              </a:tabLst>
            </a:pPr>
            <a:r>
              <a:rPr sz="3950" spc="80" dirty="0">
                <a:solidFill>
                  <a:srgbClr val="FFFFFF"/>
                </a:solidFill>
                <a:latin typeface="Arial MT"/>
                <a:cs typeface="Arial MT"/>
              </a:rPr>
              <a:t>Displaying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5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25" dirty="0">
                <a:solidFill>
                  <a:srgbClr val="FFFFFF"/>
                </a:solidFill>
                <a:latin typeface="Arial MT"/>
                <a:cs typeface="Arial MT"/>
              </a:rPr>
              <a:t>records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4" dirty="0">
                <a:solidFill>
                  <a:srgbClr val="FFFFFF"/>
                </a:solidFill>
                <a:latin typeface="Arial MT"/>
                <a:cs typeface="Arial MT"/>
              </a:rPr>
              <a:t>where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0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0" dirty="0">
                <a:solidFill>
                  <a:srgbClr val="FFFFFF"/>
                </a:solidFill>
                <a:latin typeface="Arial MT"/>
                <a:cs typeface="Arial MT"/>
              </a:rPr>
              <a:t>begin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1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0" dirty="0">
                <a:solidFill>
                  <a:srgbClr val="FFFFFF"/>
                </a:solidFill>
                <a:latin typeface="Arial MT"/>
                <a:cs typeface="Arial MT"/>
              </a:rPr>
              <a:t>string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20" dirty="0">
                <a:solidFill>
                  <a:srgbClr val="FFFFFF"/>
                </a:solidFill>
                <a:latin typeface="Arial MT"/>
                <a:cs typeface="Arial MT"/>
              </a:rPr>
              <a:t>'CCA'.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57542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7997" y="1055884"/>
            <a:ext cx="7550974" cy="82502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6994342"/>
            <a:ext cx="17004030" cy="2658110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4450" spc="13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450">
              <a:latin typeface="Arial MT"/>
              <a:cs typeface="Arial MT"/>
            </a:endParaRPr>
          </a:p>
          <a:p>
            <a:pPr marL="1394460" marR="5080" indent="-461009">
              <a:lnSpc>
                <a:spcPct val="111300"/>
              </a:lnSpc>
              <a:spcBef>
                <a:spcPts val="1995"/>
              </a:spcBef>
              <a:buChar char="•"/>
              <a:tabLst>
                <a:tab pos="1394460" algn="l"/>
              </a:tabLst>
            </a:pPr>
            <a:r>
              <a:rPr sz="3950" spc="80" dirty="0">
                <a:solidFill>
                  <a:srgbClr val="FFFFFF"/>
                </a:solidFill>
                <a:latin typeface="Arial MT"/>
                <a:cs typeface="Arial MT"/>
              </a:rPr>
              <a:t>Displaying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mass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carried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4" dirty="0">
                <a:solidFill>
                  <a:srgbClr val="FFFFFF"/>
                </a:solidFill>
                <a:latin typeface="Arial MT"/>
                <a:cs typeface="Arial MT"/>
              </a:rPr>
              <a:t>boosters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40" dirty="0">
                <a:solidFill>
                  <a:srgbClr val="FFFFFF"/>
                </a:solidFill>
                <a:latin typeface="Arial MT"/>
                <a:cs typeface="Arial MT"/>
              </a:rPr>
              <a:t>launched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45" dirty="0">
                <a:solidFill>
                  <a:srgbClr val="FFFFFF"/>
                </a:solidFill>
                <a:latin typeface="Arial MT"/>
                <a:cs typeface="Arial MT"/>
              </a:rPr>
              <a:t>by 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NASA</a:t>
            </a:r>
            <a:r>
              <a:rPr sz="3950" spc="-2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10" dirty="0">
                <a:solidFill>
                  <a:srgbClr val="FFFFFF"/>
                </a:solidFill>
                <a:latin typeface="Arial MT"/>
                <a:cs typeface="Arial MT"/>
              </a:rPr>
              <a:t>(CRS).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26213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69563" y="1055883"/>
            <a:ext cx="12728910" cy="8382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7329411"/>
            <a:ext cx="17236440" cy="1987550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4450" spc="13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450">
              <a:latin typeface="Arial MT"/>
              <a:cs typeface="Arial MT"/>
            </a:endParaRPr>
          </a:p>
          <a:p>
            <a:pPr marL="1394460" indent="-460375">
              <a:lnSpc>
                <a:spcPct val="100000"/>
              </a:lnSpc>
              <a:spcBef>
                <a:spcPts val="2530"/>
              </a:spcBef>
              <a:buChar char="•"/>
              <a:tabLst>
                <a:tab pos="1394460" algn="l"/>
              </a:tabLst>
            </a:pPr>
            <a:r>
              <a:rPr sz="3950" spc="80" dirty="0">
                <a:solidFill>
                  <a:srgbClr val="FFFFFF"/>
                </a:solidFill>
                <a:latin typeface="Arial MT"/>
                <a:cs typeface="Arial MT"/>
              </a:rPr>
              <a:t>Displaying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55" dirty="0">
                <a:solidFill>
                  <a:srgbClr val="FFFFFF"/>
                </a:solidFill>
                <a:latin typeface="Arial MT"/>
                <a:cs typeface="Arial MT"/>
              </a:rPr>
              <a:t>average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mass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carried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0" dirty="0">
                <a:solidFill>
                  <a:srgbClr val="FFFFFF"/>
                </a:solidFill>
                <a:latin typeface="Arial MT"/>
                <a:cs typeface="Arial MT"/>
              </a:rPr>
              <a:t>by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50" dirty="0">
                <a:solidFill>
                  <a:srgbClr val="FFFFFF"/>
                </a:solidFill>
                <a:latin typeface="Arial MT"/>
                <a:cs typeface="Arial MT"/>
              </a:rPr>
              <a:t>booster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90" dirty="0">
                <a:solidFill>
                  <a:srgbClr val="FFFFFF"/>
                </a:solidFill>
                <a:latin typeface="Arial MT"/>
                <a:cs typeface="Arial MT"/>
              </a:rPr>
              <a:t>version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F9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320" dirty="0">
                <a:solidFill>
                  <a:srgbClr val="FFFFFF"/>
                </a:solidFill>
                <a:latin typeface="Arial MT"/>
                <a:cs typeface="Arial MT"/>
              </a:rPr>
              <a:t>v1.1.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261772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0183" y="1050607"/>
            <a:ext cx="14330578" cy="84349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6994342"/>
            <a:ext cx="17566640" cy="2658110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4450" spc="13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450">
              <a:latin typeface="Arial MT"/>
              <a:cs typeface="Arial MT"/>
            </a:endParaRPr>
          </a:p>
          <a:p>
            <a:pPr marL="1394460" marR="5080" indent="-461009">
              <a:lnSpc>
                <a:spcPct val="111300"/>
              </a:lnSpc>
              <a:spcBef>
                <a:spcPts val="1995"/>
              </a:spcBef>
              <a:buChar char="•"/>
              <a:tabLst>
                <a:tab pos="1394460" algn="l"/>
              </a:tabLst>
            </a:pP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Listing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0" dirty="0">
                <a:solidFill>
                  <a:srgbClr val="FFFFFF"/>
                </a:solidFill>
                <a:latin typeface="Arial MT"/>
                <a:cs typeface="Arial MT"/>
              </a:rPr>
              <a:t>date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40" dirty="0">
                <a:solidFill>
                  <a:srgbClr val="FFFFFF"/>
                </a:solidFill>
                <a:latin typeface="Arial MT"/>
                <a:cs typeface="Arial MT"/>
              </a:rPr>
              <a:t>first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00" dirty="0">
                <a:solidFill>
                  <a:srgbClr val="FFFFFF"/>
                </a:solidFill>
                <a:latin typeface="Arial MT"/>
                <a:cs typeface="Arial MT"/>
              </a:rPr>
              <a:t>successful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45" dirty="0">
                <a:solidFill>
                  <a:srgbClr val="FFFFFF"/>
                </a:solidFill>
                <a:latin typeface="Arial MT"/>
                <a:cs typeface="Arial MT"/>
              </a:rPr>
              <a:t>landing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90" dirty="0">
                <a:solidFill>
                  <a:srgbClr val="FFFFFF"/>
                </a:solidFill>
                <a:latin typeface="Arial MT"/>
                <a:cs typeface="Arial MT"/>
              </a:rPr>
              <a:t>outcome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0" dirty="0">
                <a:solidFill>
                  <a:srgbClr val="FFFFFF"/>
                </a:solidFill>
                <a:latin typeface="Arial MT"/>
                <a:cs typeface="Arial MT"/>
              </a:rPr>
              <a:t>ground </a:t>
            </a:r>
            <a:r>
              <a:rPr sz="3950" spc="150" dirty="0">
                <a:solidFill>
                  <a:srgbClr val="FFFFFF"/>
                </a:solidFill>
                <a:latin typeface="Arial MT"/>
                <a:cs typeface="Arial MT"/>
              </a:rPr>
              <a:t>pad</a:t>
            </a:r>
            <a:r>
              <a:rPr sz="39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39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85" dirty="0">
                <a:solidFill>
                  <a:srgbClr val="FFFFFF"/>
                </a:solidFill>
                <a:latin typeface="Arial MT"/>
                <a:cs typeface="Arial MT"/>
              </a:rPr>
              <a:t>achieved.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261772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4726" y="976014"/>
            <a:ext cx="14932354" cy="14086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7465370"/>
            <a:ext cx="17262475" cy="2658110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4450" spc="13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450">
              <a:latin typeface="Arial MT"/>
              <a:cs typeface="Arial MT"/>
            </a:endParaRPr>
          </a:p>
          <a:p>
            <a:pPr marL="1394460" marR="5080" indent="-461009">
              <a:lnSpc>
                <a:spcPct val="111300"/>
              </a:lnSpc>
              <a:spcBef>
                <a:spcPts val="1995"/>
              </a:spcBef>
              <a:buChar char="•"/>
              <a:tabLst>
                <a:tab pos="1394460" algn="l"/>
              </a:tabLst>
            </a:pP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Listing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names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1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4" dirty="0">
                <a:solidFill>
                  <a:srgbClr val="FFFFFF"/>
                </a:solidFill>
                <a:latin typeface="Arial MT"/>
                <a:cs typeface="Arial MT"/>
              </a:rPr>
              <a:t>boosters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0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9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55" dirty="0">
                <a:solidFill>
                  <a:srgbClr val="FFFFFF"/>
                </a:solidFill>
                <a:latin typeface="Arial MT"/>
                <a:cs typeface="Arial MT"/>
              </a:rPr>
              <a:t>drone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85" dirty="0">
                <a:solidFill>
                  <a:srgbClr val="FFFFFF"/>
                </a:solidFill>
                <a:latin typeface="Arial MT"/>
                <a:cs typeface="Arial MT"/>
              </a:rPr>
              <a:t>ship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3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mass</a:t>
            </a:r>
            <a:r>
              <a:rPr sz="3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20" dirty="0">
                <a:solidFill>
                  <a:srgbClr val="FFFFFF"/>
                </a:solidFill>
                <a:latin typeface="Arial MT"/>
                <a:cs typeface="Arial MT"/>
              </a:rPr>
              <a:t>greater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0" dirty="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sz="3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409" dirty="0">
                <a:solidFill>
                  <a:srgbClr val="FFFFFF"/>
                </a:solidFill>
                <a:latin typeface="Arial MT"/>
                <a:cs typeface="Arial MT"/>
              </a:rPr>
              <a:t>4000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35" dirty="0">
                <a:solidFill>
                  <a:srgbClr val="FFFFFF"/>
                </a:solidFill>
                <a:latin typeface="Arial MT"/>
                <a:cs typeface="Arial MT"/>
              </a:rPr>
              <a:t>but</a:t>
            </a:r>
            <a:r>
              <a:rPr sz="3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less</a:t>
            </a:r>
            <a:r>
              <a:rPr sz="39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0" dirty="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sz="39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85" dirty="0">
                <a:solidFill>
                  <a:srgbClr val="FFFFFF"/>
                </a:solidFill>
                <a:latin typeface="Arial MT"/>
                <a:cs typeface="Arial MT"/>
              </a:rPr>
              <a:t>6000.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3141265"/>
            <a:ext cx="17800505" cy="397442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8016" y="1061077"/>
            <a:ext cx="15048295" cy="161498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7800439"/>
            <a:ext cx="17451705" cy="1987550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4450" spc="13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450">
              <a:latin typeface="Arial MT"/>
              <a:cs typeface="Arial MT"/>
            </a:endParaRPr>
          </a:p>
          <a:p>
            <a:pPr marL="1394460" indent="-460375">
              <a:lnSpc>
                <a:spcPct val="100000"/>
              </a:lnSpc>
              <a:spcBef>
                <a:spcPts val="2530"/>
              </a:spcBef>
              <a:buChar char="•"/>
              <a:tabLst>
                <a:tab pos="1394460" algn="l"/>
              </a:tabLst>
            </a:pP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Listing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0" dirty="0">
                <a:solidFill>
                  <a:srgbClr val="FFFFFF"/>
                </a:solidFill>
                <a:latin typeface="Arial MT"/>
                <a:cs typeface="Arial MT"/>
              </a:rPr>
              <a:t>total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5" dirty="0">
                <a:solidFill>
                  <a:srgbClr val="FFFFFF"/>
                </a:solidFill>
                <a:latin typeface="Arial MT"/>
                <a:cs typeface="Arial MT"/>
              </a:rPr>
              <a:t>number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1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00" dirty="0">
                <a:solidFill>
                  <a:srgbClr val="FFFFFF"/>
                </a:solidFill>
                <a:latin typeface="Arial MT"/>
                <a:cs typeface="Arial MT"/>
              </a:rPr>
              <a:t>successful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00" dirty="0">
                <a:solidFill>
                  <a:srgbClr val="FFFFFF"/>
                </a:solidFill>
                <a:latin typeface="Arial MT"/>
                <a:cs typeface="Arial MT"/>
              </a:rPr>
              <a:t>failure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95" dirty="0">
                <a:solidFill>
                  <a:srgbClr val="FFFFFF"/>
                </a:solidFill>
                <a:latin typeface="Arial MT"/>
                <a:cs typeface="Arial MT"/>
              </a:rPr>
              <a:t>mission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outcomes.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3560100"/>
            <a:ext cx="17800505" cy="356041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2881" y="1055883"/>
            <a:ext cx="14055278" cy="82502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8264108"/>
            <a:ext cx="16518255" cy="2255520"/>
          </a:xfrm>
          <a:prstGeom prst="rect">
            <a:avLst/>
          </a:prstGeom>
        </p:spPr>
        <p:txBody>
          <a:bodyPr vert="horz" wrap="square" lIns="0" tIns="313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70"/>
              </a:spcBef>
            </a:pPr>
            <a:r>
              <a:rPr sz="3800" spc="125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3800">
              <a:latin typeface="Arial MT"/>
              <a:cs typeface="Arial MT"/>
            </a:endParaRPr>
          </a:p>
          <a:p>
            <a:pPr marL="1330325" marR="5080" indent="-396240">
              <a:lnSpc>
                <a:spcPct val="109100"/>
              </a:lnSpc>
              <a:spcBef>
                <a:spcPts val="1720"/>
              </a:spcBef>
              <a:buChar char="•"/>
              <a:tabLst>
                <a:tab pos="1330325" algn="l"/>
              </a:tabLst>
            </a:pPr>
            <a:r>
              <a:rPr sz="3400" spc="95" dirty="0">
                <a:solidFill>
                  <a:srgbClr val="FFFFFF"/>
                </a:solidFill>
                <a:latin typeface="Arial MT"/>
                <a:cs typeface="Arial MT"/>
              </a:rPr>
              <a:t>Listing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55" dirty="0">
                <a:solidFill>
                  <a:srgbClr val="FFFFFF"/>
                </a:solidFill>
                <a:latin typeface="Arial MT"/>
                <a:cs typeface="Arial MT"/>
              </a:rPr>
              <a:t>names</a:t>
            </a:r>
            <a:r>
              <a:rPr sz="3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8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25" dirty="0">
                <a:solidFill>
                  <a:srgbClr val="FFFFFF"/>
                </a:solidFill>
                <a:latin typeface="Arial MT"/>
                <a:cs typeface="Arial MT"/>
              </a:rPr>
              <a:t>booster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55" dirty="0">
                <a:solidFill>
                  <a:srgbClr val="FFFFFF"/>
                </a:solidFill>
                <a:latin typeface="Arial MT"/>
                <a:cs typeface="Arial MT"/>
              </a:rPr>
              <a:t>versions</a:t>
            </a:r>
            <a:r>
              <a:rPr sz="3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7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3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14" dirty="0">
                <a:solidFill>
                  <a:srgbClr val="FFFFFF"/>
                </a:solidFill>
                <a:latin typeface="Arial MT"/>
                <a:cs typeface="Arial MT"/>
              </a:rPr>
              <a:t>carried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25" dirty="0">
                <a:solidFill>
                  <a:srgbClr val="FFFFFF"/>
                </a:solidFill>
                <a:latin typeface="Arial MT"/>
                <a:cs typeface="Arial MT"/>
              </a:rPr>
              <a:t>maximum </a:t>
            </a:r>
            <a:r>
              <a:rPr sz="3400" spc="100" dirty="0">
                <a:solidFill>
                  <a:srgbClr val="FFFFFF"/>
                </a:solidFill>
                <a:latin typeface="Arial MT"/>
                <a:cs typeface="Arial MT"/>
              </a:rPr>
              <a:t>payload</a:t>
            </a:r>
            <a:r>
              <a:rPr sz="3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10" dirty="0">
                <a:solidFill>
                  <a:srgbClr val="FFFFFF"/>
                </a:solidFill>
                <a:latin typeface="Arial MT"/>
                <a:cs typeface="Arial MT"/>
              </a:rPr>
              <a:t>mass.</a:t>
            </a:r>
            <a:endParaRPr sz="3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575898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5335" y="1055884"/>
            <a:ext cx="8085742" cy="6781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6994342"/>
            <a:ext cx="16175990" cy="2658110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4450" spc="13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4450">
              <a:latin typeface="Arial MT"/>
              <a:cs typeface="Arial MT"/>
            </a:endParaRPr>
          </a:p>
          <a:p>
            <a:pPr marL="1394460" marR="5080" indent="-461009">
              <a:lnSpc>
                <a:spcPct val="111300"/>
              </a:lnSpc>
              <a:spcBef>
                <a:spcPts val="1995"/>
              </a:spcBef>
              <a:buChar char="•"/>
              <a:tabLst>
                <a:tab pos="1394460" algn="l"/>
              </a:tabLst>
            </a:pP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Listing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20" dirty="0">
                <a:solidFill>
                  <a:srgbClr val="FFFFFF"/>
                </a:solidFill>
                <a:latin typeface="Arial MT"/>
                <a:cs typeface="Arial MT"/>
              </a:rPr>
              <a:t>failed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45" dirty="0">
                <a:solidFill>
                  <a:srgbClr val="FFFFFF"/>
                </a:solidFill>
                <a:latin typeface="Arial MT"/>
                <a:cs typeface="Arial MT"/>
              </a:rPr>
              <a:t>landing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0" dirty="0">
                <a:solidFill>
                  <a:srgbClr val="FFFFFF"/>
                </a:solidFill>
                <a:latin typeface="Arial MT"/>
                <a:cs typeface="Arial MT"/>
              </a:rPr>
              <a:t>outcomes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55" dirty="0">
                <a:solidFill>
                  <a:srgbClr val="FFFFFF"/>
                </a:solidFill>
                <a:latin typeface="Arial MT"/>
                <a:cs typeface="Arial MT"/>
              </a:rPr>
              <a:t>drone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70" dirty="0">
                <a:solidFill>
                  <a:srgbClr val="FFFFFF"/>
                </a:solidFill>
                <a:latin typeface="Arial MT"/>
                <a:cs typeface="Arial MT"/>
              </a:rPr>
              <a:t>ship,</a:t>
            </a:r>
            <a:r>
              <a:rPr sz="39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50" dirty="0">
                <a:solidFill>
                  <a:srgbClr val="FFFFFF"/>
                </a:solidFill>
                <a:latin typeface="Arial MT"/>
                <a:cs typeface="Arial MT"/>
              </a:rPr>
              <a:t>their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40" dirty="0">
                <a:solidFill>
                  <a:srgbClr val="FFFFFF"/>
                </a:solidFill>
                <a:latin typeface="Arial MT"/>
                <a:cs typeface="Arial MT"/>
              </a:rPr>
              <a:t>booster </a:t>
            </a: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versions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90" dirty="0">
                <a:solidFill>
                  <a:srgbClr val="FFFFFF"/>
                </a:solidFill>
                <a:latin typeface="Arial MT"/>
                <a:cs typeface="Arial MT"/>
              </a:rPr>
              <a:t>site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names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70" dirty="0">
                <a:solidFill>
                  <a:srgbClr val="FFFFFF"/>
                </a:solidFill>
                <a:latin typeface="Arial MT"/>
                <a:cs typeface="Arial MT"/>
              </a:rPr>
              <a:t>months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5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55" dirty="0">
                <a:solidFill>
                  <a:srgbClr val="FFFFFF"/>
                </a:solidFill>
                <a:latin typeface="Arial MT"/>
                <a:cs typeface="Arial MT"/>
              </a:rPr>
              <a:t>year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20" dirty="0">
                <a:solidFill>
                  <a:srgbClr val="FFFFFF"/>
                </a:solidFill>
                <a:latin typeface="Arial MT"/>
                <a:cs typeface="Arial MT"/>
              </a:rPr>
              <a:t>2015.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313964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5064" y="1256157"/>
            <a:ext cx="17775960" cy="5221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8267126"/>
            <a:ext cx="17669510" cy="2249805"/>
          </a:xfrm>
          <a:prstGeom prst="rect">
            <a:avLst/>
          </a:prstGeom>
        </p:spPr>
        <p:txBody>
          <a:bodyPr vert="horz" wrap="square" lIns="0" tIns="318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5"/>
              </a:spcBef>
            </a:pPr>
            <a:r>
              <a:rPr sz="3750" spc="125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3750">
              <a:latin typeface="Arial MT"/>
              <a:cs typeface="Arial MT"/>
            </a:endParaRPr>
          </a:p>
          <a:p>
            <a:pPr marL="1323340" marR="5080" indent="-389890">
              <a:lnSpc>
                <a:spcPct val="110800"/>
              </a:lnSpc>
              <a:spcBef>
                <a:spcPts val="1700"/>
              </a:spcBef>
              <a:buChar char="•"/>
              <a:tabLst>
                <a:tab pos="1325245" algn="l"/>
              </a:tabLst>
            </a:pPr>
            <a:r>
              <a:rPr sz="3350" dirty="0">
                <a:solidFill>
                  <a:srgbClr val="FFFFFF"/>
                </a:solidFill>
                <a:latin typeface="Arial MT"/>
                <a:cs typeface="Arial MT"/>
              </a:rPr>
              <a:t>Ranking</a:t>
            </a:r>
            <a:r>
              <a:rPr sz="33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5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3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80" dirty="0">
                <a:solidFill>
                  <a:srgbClr val="FFFFFF"/>
                </a:solidFill>
                <a:latin typeface="Arial MT"/>
                <a:cs typeface="Arial MT"/>
              </a:rPr>
              <a:t>count</a:t>
            </a:r>
            <a:r>
              <a:rPr sz="33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9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3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20" dirty="0">
                <a:solidFill>
                  <a:srgbClr val="FFFFFF"/>
                </a:solidFill>
                <a:latin typeface="Arial MT"/>
                <a:cs typeface="Arial MT"/>
              </a:rPr>
              <a:t>landing</a:t>
            </a:r>
            <a:r>
              <a:rPr sz="33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50" dirty="0">
                <a:solidFill>
                  <a:srgbClr val="FFFFFF"/>
                </a:solidFill>
                <a:latin typeface="Arial MT"/>
                <a:cs typeface="Arial MT"/>
              </a:rPr>
              <a:t>outcomes</a:t>
            </a:r>
            <a:r>
              <a:rPr sz="33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70" dirty="0">
                <a:solidFill>
                  <a:srgbClr val="FFFFFF"/>
                </a:solidFill>
                <a:latin typeface="Arial MT"/>
                <a:cs typeface="Arial MT"/>
              </a:rPr>
              <a:t>(such</a:t>
            </a:r>
            <a:r>
              <a:rPr sz="33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33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dirty="0">
                <a:solidFill>
                  <a:srgbClr val="FFFFFF"/>
                </a:solidFill>
                <a:latin typeface="Arial MT"/>
                <a:cs typeface="Arial MT"/>
              </a:rPr>
              <a:t>Failure</a:t>
            </a:r>
            <a:r>
              <a:rPr sz="33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05" dirty="0">
                <a:solidFill>
                  <a:srgbClr val="FFFFFF"/>
                </a:solidFill>
                <a:latin typeface="Arial MT"/>
                <a:cs typeface="Arial MT"/>
              </a:rPr>
              <a:t>(drone</a:t>
            </a:r>
            <a:r>
              <a:rPr sz="33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70" dirty="0">
                <a:solidFill>
                  <a:srgbClr val="FFFFFF"/>
                </a:solidFill>
                <a:latin typeface="Arial MT"/>
                <a:cs typeface="Arial MT"/>
              </a:rPr>
              <a:t>ship)</a:t>
            </a:r>
            <a:r>
              <a:rPr sz="335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45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335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40" dirty="0">
                <a:solidFill>
                  <a:srgbClr val="FFFFFF"/>
                </a:solidFill>
                <a:latin typeface="Arial MT"/>
                <a:cs typeface="Arial MT"/>
              </a:rPr>
              <a:t>Success 	</a:t>
            </a:r>
            <a:r>
              <a:rPr sz="3350" spc="140" dirty="0">
                <a:solidFill>
                  <a:srgbClr val="FFFFFF"/>
                </a:solidFill>
                <a:latin typeface="Arial MT"/>
                <a:cs typeface="Arial MT"/>
              </a:rPr>
              <a:t>(ground</a:t>
            </a:r>
            <a:r>
              <a:rPr sz="33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60" dirty="0">
                <a:solidFill>
                  <a:srgbClr val="FFFFFF"/>
                </a:solidFill>
                <a:latin typeface="Arial MT"/>
                <a:cs typeface="Arial MT"/>
              </a:rPr>
              <a:t>pad))</a:t>
            </a:r>
            <a:r>
              <a:rPr sz="33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35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33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5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3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10" dirty="0">
                <a:solidFill>
                  <a:srgbClr val="FFFFFF"/>
                </a:solidFill>
                <a:latin typeface="Arial MT"/>
                <a:cs typeface="Arial MT"/>
              </a:rPr>
              <a:t>date</a:t>
            </a:r>
            <a:r>
              <a:rPr sz="33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14" dirty="0">
                <a:solidFill>
                  <a:srgbClr val="FFFFFF"/>
                </a:solidFill>
                <a:latin typeface="Arial MT"/>
                <a:cs typeface="Arial MT"/>
              </a:rPr>
              <a:t>2010-</a:t>
            </a:r>
            <a:r>
              <a:rPr sz="3350" spc="155" dirty="0">
                <a:solidFill>
                  <a:srgbClr val="FFFFFF"/>
                </a:solidFill>
                <a:latin typeface="Arial MT"/>
                <a:cs typeface="Arial MT"/>
              </a:rPr>
              <a:t>06-</a:t>
            </a:r>
            <a:r>
              <a:rPr sz="3350" spc="190" dirty="0">
                <a:solidFill>
                  <a:srgbClr val="FFFFFF"/>
                </a:solidFill>
                <a:latin typeface="Arial MT"/>
                <a:cs typeface="Arial MT"/>
              </a:rPr>
              <a:t>04</a:t>
            </a:r>
            <a:r>
              <a:rPr sz="33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3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-85" dirty="0">
                <a:solidFill>
                  <a:srgbClr val="FFFFFF"/>
                </a:solidFill>
                <a:latin typeface="Arial MT"/>
                <a:cs typeface="Arial MT"/>
              </a:rPr>
              <a:t>2017-</a:t>
            </a:r>
            <a:r>
              <a:rPr sz="3350" spc="175" dirty="0">
                <a:solidFill>
                  <a:srgbClr val="FFFFFF"/>
                </a:solidFill>
                <a:latin typeface="Arial MT"/>
                <a:cs typeface="Arial MT"/>
              </a:rPr>
              <a:t>03-</a:t>
            </a:r>
            <a:r>
              <a:rPr sz="3350" spc="190" dirty="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sz="33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14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3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130" dirty="0">
                <a:solidFill>
                  <a:srgbClr val="FFFFFF"/>
                </a:solidFill>
                <a:latin typeface="Arial MT"/>
                <a:cs typeface="Arial MT"/>
              </a:rPr>
              <a:t>descending</a:t>
            </a:r>
            <a:r>
              <a:rPr sz="33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350" spc="65" dirty="0">
                <a:solidFill>
                  <a:srgbClr val="FFFFFF"/>
                </a:solidFill>
                <a:latin typeface="Arial MT"/>
                <a:cs typeface="Arial MT"/>
              </a:rPr>
              <a:t>order.</a:t>
            </a:r>
            <a:endParaRPr sz="33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575686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5315" y="4671688"/>
            <a:ext cx="15135414" cy="113931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949" y="1125545"/>
            <a:ext cx="17888764" cy="77115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2432374"/>
            <a:ext cx="7457440" cy="7719059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2700" spc="8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2700">
              <a:latin typeface="Arial MT"/>
              <a:cs typeface="Arial MT"/>
            </a:endParaRPr>
          </a:p>
          <a:p>
            <a:pPr marL="1212850" marR="5080" indent="-279400">
              <a:lnSpc>
                <a:spcPct val="108800"/>
              </a:lnSpc>
              <a:spcBef>
                <a:spcPts val="1215"/>
              </a:spcBef>
              <a:buChar char="•"/>
              <a:tabLst>
                <a:tab pos="1214755" algn="l"/>
              </a:tabLst>
            </a:pPr>
            <a:r>
              <a:rPr sz="2400" spc="75" dirty="0">
                <a:solidFill>
                  <a:srgbClr val="FFFFFF"/>
                </a:solidFill>
                <a:latin typeface="Arial MT"/>
                <a:cs typeface="Arial MT"/>
              </a:rPr>
              <a:t>Most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Arial MT"/>
                <a:cs typeface="Arial MT"/>
              </a:rPr>
              <a:t>proximity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Arial MT"/>
                <a:cs typeface="Arial MT"/>
              </a:rPr>
              <a:t>the 	</a:t>
            </a:r>
            <a:r>
              <a:rPr sz="2400" spc="60" dirty="0">
                <a:solidFill>
                  <a:srgbClr val="FFFFFF"/>
                </a:solidFill>
                <a:latin typeface="Arial MT"/>
                <a:cs typeface="Arial MT"/>
              </a:rPr>
              <a:t>Equator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line.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Arial MT"/>
                <a:cs typeface="Arial MT"/>
              </a:rPr>
              <a:t>land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Arial MT"/>
                <a:cs typeface="Arial MT"/>
              </a:rPr>
              <a:t>moving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Arial MT"/>
                <a:cs typeface="Arial MT"/>
              </a:rPr>
              <a:t>faster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Arial MT"/>
                <a:cs typeface="Arial MT"/>
              </a:rPr>
              <a:t>at 	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Arial MT"/>
                <a:cs typeface="Arial MT"/>
              </a:rPr>
              <a:t>equator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than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Arial MT"/>
                <a:cs typeface="Arial MT"/>
              </a:rPr>
              <a:t>other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place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Arial MT"/>
                <a:cs typeface="Arial MT"/>
              </a:rPr>
              <a:t>the 	</a:t>
            </a:r>
            <a:r>
              <a:rPr sz="2400" spc="65" dirty="0">
                <a:solidFill>
                  <a:srgbClr val="FFFFFF"/>
                </a:solidFill>
                <a:latin typeface="Arial MT"/>
                <a:cs typeface="Arial MT"/>
              </a:rPr>
              <a:t>surface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Earth. </a:t>
            </a:r>
            <a:r>
              <a:rPr sz="2400" spc="95" dirty="0">
                <a:solidFill>
                  <a:srgbClr val="FFFFFF"/>
                </a:solidFill>
                <a:latin typeface="Arial MT"/>
                <a:cs typeface="Arial MT"/>
              </a:rPr>
              <a:t>Anything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Arial MT"/>
                <a:cs typeface="Arial MT"/>
              </a:rPr>
              <a:t>the 	</a:t>
            </a:r>
            <a:r>
              <a:rPr sz="2400" spc="65" dirty="0">
                <a:solidFill>
                  <a:srgbClr val="FFFFFF"/>
                </a:solidFill>
                <a:latin typeface="Arial MT"/>
                <a:cs typeface="Arial MT"/>
              </a:rPr>
              <a:t>surface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Earth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Arial MT"/>
                <a:cs typeface="Arial MT"/>
              </a:rPr>
              <a:t>equator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is 	</a:t>
            </a:r>
            <a:r>
              <a:rPr sz="2400" spc="45" dirty="0">
                <a:solidFill>
                  <a:srgbClr val="FFFFFF"/>
                </a:solidFill>
                <a:latin typeface="Arial MT"/>
                <a:cs typeface="Arial MT"/>
              </a:rPr>
              <a:t>already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Arial MT"/>
                <a:cs typeface="Arial MT"/>
              </a:rPr>
              <a:t>moving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1670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Arial MT"/>
                <a:cs typeface="Arial MT"/>
              </a:rPr>
              <a:t>km/hour.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Arial MT"/>
                <a:cs typeface="Arial MT"/>
              </a:rPr>
              <a:t>If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75" dirty="0">
                <a:solidFill>
                  <a:srgbClr val="FFFFFF"/>
                </a:solidFill>
                <a:latin typeface="Arial MT"/>
                <a:cs typeface="Arial MT"/>
              </a:rPr>
              <a:t>ship</a:t>
            </a:r>
            <a:r>
              <a:rPr sz="24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is 	</a:t>
            </a:r>
            <a:r>
              <a:rPr sz="2400" spc="85" dirty="0">
                <a:solidFill>
                  <a:srgbClr val="FFFFFF"/>
                </a:solidFill>
                <a:latin typeface="Arial MT"/>
                <a:cs typeface="Arial MT"/>
              </a:rPr>
              <a:t>launched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Arial MT"/>
                <a:cs typeface="Arial MT"/>
              </a:rPr>
              <a:t>equator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Arial MT"/>
                <a:cs typeface="Arial MT"/>
              </a:rPr>
              <a:t>goes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Arial MT"/>
                <a:cs typeface="Arial MT"/>
              </a:rPr>
              <a:t>up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Arial MT"/>
                <a:cs typeface="Arial MT"/>
              </a:rPr>
              <a:t>into 	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space,</a:t>
            </a:r>
            <a:r>
              <a:rPr sz="2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24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also</a:t>
            </a:r>
            <a:r>
              <a:rPr sz="2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Arial MT"/>
                <a:cs typeface="Arial MT"/>
              </a:rPr>
              <a:t>moving</a:t>
            </a:r>
            <a:r>
              <a:rPr sz="2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around</a:t>
            </a:r>
            <a:r>
              <a:rPr sz="24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Arial MT"/>
                <a:cs typeface="Arial MT"/>
              </a:rPr>
              <a:t>the 	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Earth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at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Arial MT"/>
                <a:cs typeface="Arial MT"/>
              </a:rPr>
              <a:t>speed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was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Arial MT"/>
                <a:cs typeface="Arial MT"/>
              </a:rPr>
              <a:t>moving 	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before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Arial MT"/>
                <a:cs typeface="Arial MT"/>
              </a:rPr>
              <a:t>launching.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because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4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Arial MT"/>
                <a:cs typeface="Arial MT"/>
              </a:rPr>
              <a:t>inertia. 	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Arial MT"/>
                <a:cs typeface="Arial MT"/>
              </a:rPr>
              <a:t>speed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0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Arial MT"/>
                <a:cs typeface="Arial MT"/>
              </a:rPr>
              <a:t>help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Arial MT"/>
                <a:cs typeface="Arial MT"/>
              </a:rPr>
              <a:t>spacecraft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Arial MT"/>
                <a:cs typeface="Arial MT"/>
              </a:rPr>
              <a:t>keep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Arial MT"/>
                <a:cs typeface="Arial MT"/>
              </a:rPr>
              <a:t>up 	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45" dirty="0">
                <a:solidFill>
                  <a:srgbClr val="FFFFFF"/>
                </a:solidFill>
                <a:latin typeface="Arial MT"/>
                <a:cs typeface="Arial MT"/>
              </a:rPr>
              <a:t>good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Arial MT"/>
                <a:cs typeface="Arial MT"/>
              </a:rPr>
              <a:t>enough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Arial MT"/>
                <a:cs typeface="Arial MT"/>
              </a:rPr>
              <a:t>speed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stay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Arial MT"/>
                <a:cs typeface="Arial MT"/>
              </a:rPr>
              <a:t>orbit.</a:t>
            </a:r>
            <a:endParaRPr sz="2400">
              <a:latin typeface="Arial MT"/>
              <a:cs typeface="Arial MT"/>
            </a:endParaRPr>
          </a:p>
          <a:p>
            <a:pPr marL="1212850" marR="244475" indent="-279400">
              <a:lnSpc>
                <a:spcPct val="108800"/>
              </a:lnSpc>
              <a:spcBef>
                <a:spcPts val="1205"/>
              </a:spcBef>
              <a:buChar char="•"/>
              <a:tabLst>
                <a:tab pos="1214755" algn="l"/>
              </a:tabLst>
            </a:pPr>
            <a:r>
              <a:rPr sz="2400" spc="6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Arial MT"/>
                <a:cs typeface="Arial MT"/>
              </a:rPr>
              <a:t>very</a:t>
            </a:r>
            <a:r>
              <a:rPr sz="24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Arial MT"/>
                <a:cs typeface="Arial MT"/>
              </a:rPr>
              <a:t>close</a:t>
            </a:r>
            <a:r>
              <a:rPr sz="24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Arial MT"/>
                <a:cs typeface="Arial MT"/>
              </a:rPr>
              <a:t>proximity 	</a:t>
            </a:r>
            <a:r>
              <a:rPr sz="2400" spc="15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Arial MT"/>
                <a:cs typeface="Arial MT"/>
              </a:rPr>
              <a:t>coast,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85" dirty="0">
                <a:solidFill>
                  <a:srgbClr val="FFFFFF"/>
                </a:solidFill>
                <a:latin typeface="Arial MT"/>
                <a:cs typeface="Arial MT"/>
              </a:rPr>
              <a:t>while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90" dirty="0">
                <a:solidFill>
                  <a:srgbClr val="FFFFFF"/>
                </a:solidFill>
                <a:latin typeface="Arial MT"/>
                <a:cs typeface="Arial MT"/>
              </a:rPr>
              <a:t>launching</a:t>
            </a:r>
            <a:r>
              <a:rPr sz="2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Arial MT"/>
                <a:cs typeface="Arial MT"/>
              </a:rPr>
              <a:t>rockets 	</a:t>
            </a:r>
            <a:r>
              <a:rPr sz="2400" spc="80" dirty="0">
                <a:solidFill>
                  <a:srgbClr val="FFFFFF"/>
                </a:solidFill>
                <a:latin typeface="Arial MT"/>
                <a:cs typeface="Arial MT"/>
              </a:rPr>
              <a:t>towards</a:t>
            </a:r>
            <a:r>
              <a:rPr sz="24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Arial MT"/>
                <a:cs typeface="Arial MT"/>
              </a:rPr>
              <a:t>ocean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3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Arial MT"/>
                <a:cs typeface="Arial MT"/>
              </a:rPr>
              <a:t>minimises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risk</a:t>
            </a:r>
            <a:r>
              <a:rPr sz="24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14" dirty="0">
                <a:solidFill>
                  <a:srgbClr val="FFFFFF"/>
                </a:solidFill>
                <a:latin typeface="Arial MT"/>
                <a:cs typeface="Arial MT"/>
              </a:rPr>
              <a:t>of 	</a:t>
            </a:r>
            <a:r>
              <a:rPr sz="2400" spc="75" dirty="0">
                <a:solidFill>
                  <a:srgbClr val="FFFFFF"/>
                </a:solidFill>
                <a:latin typeface="Arial MT"/>
                <a:cs typeface="Arial MT"/>
              </a:rPr>
              <a:t>having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any </a:t>
            </a:r>
            <a:r>
              <a:rPr sz="2400" spc="85" dirty="0">
                <a:solidFill>
                  <a:srgbClr val="FFFFFF"/>
                </a:solidFill>
                <a:latin typeface="Arial MT"/>
                <a:cs typeface="Arial MT"/>
              </a:rPr>
              <a:t>debris</a:t>
            </a:r>
            <a:r>
              <a:rPr sz="2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25" dirty="0">
                <a:solidFill>
                  <a:srgbClr val="FFFFFF"/>
                </a:solidFill>
                <a:latin typeface="Arial MT"/>
                <a:cs typeface="Arial MT"/>
              </a:rPr>
              <a:t>dropping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105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FFFFFF"/>
                </a:solidFill>
                <a:latin typeface="Arial MT"/>
                <a:cs typeface="Arial MT"/>
              </a:rPr>
              <a:t>exploding 	</a:t>
            </a:r>
            <a:r>
              <a:rPr sz="2400" spc="50" dirty="0">
                <a:solidFill>
                  <a:srgbClr val="FFFFFF"/>
                </a:solidFill>
                <a:latin typeface="Arial MT"/>
                <a:cs typeface="Arial MT"/>
              </a:rPr>
              <a:t>near</a:t>
            </a:r>
            <a:r>
              <a:rPr sz="2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FFFFFF"/>
                </a:solidFill>
                <a:latin typeface="Arial MT"/>
                <a:cs typeface="Arial MT"/>
              </a:rPr>
              <a:t>people.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7348" y="2516503"/>
            <a:ext cx="9210245" cy="775249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5634" y="1055883"/>
            <a:ext cx="16705376" cy="8250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80980" y="2654777"/>
            <a:ext cx="3306445" cy="690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350" spc="140" dirty="0"/>
              <a:t>Explanation:</a:t>
            </a:r>
            <a:endParaRPr sz="4350"/>
          </a:p>
        </p:txBody>
      </p:sp>
      <p:sp>
        <p:nvSpPr>
          <p:cNvPr id="4" name="object 4"/>
          <p:cNvSpPr txBox="1"/>
          <p:nvPr/>
        </p:nvSpPr>
        <p:spPr>
          <a:xfrm>
            <a:off x="2102418" y="3567841"/>
            <a:ext cx="7975600" cy="6607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4184" marR="5080" indent="-452120">
              <a:lnSpc>
                <a:spcPct val="110600"/>
              </a:lnSpc>
              <a:spcBef>
                <a:spcPts val="95"/>
              </a:spcBef>
              <a:buChar char="•"/>
              <a:tabLst>
                <a:tab pos="464184" algn="l"/>
              </a:tabLst>
            </a:pPr>
            <a:r>
              <a:rPr sz="3850" spc="65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38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17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8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165" dirty="0">
                <a:solidFill>
                  <a:srgbClr val="FFFFFF"/>
                </a:solidFill>
                <a:latin typeface="Arial MT"/>
                <a:cs typeface="Arial MT"/>
              </a:rPr>
              <a:t>colour-</a:t>
            </a:r>
            <a:r>
              <a:rPr sz="3850" spc="120" dirty="0">
                <a:solidFill>
                  <a:srgbClr val="FFFFFF"/>
                </a:solidFill>
                <a:latin typeface="Arial MT"/>
                <a:cs typeface="Arial MT"/>
              </a:rPr>
              <a:t>labeled</a:t>
            </a:r>
            <a:r>
              <a:rPr sz="38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65" dirty="0">
                <a:solidFill>
                  <a:srgbClr val="FFFFFF"/>
                </a:solidFill>
                <a:latin typeface="Arial MT"/>
                <a:cs typeface="Arial MT"/>
              </a:rPr>
              <a:t>markers </a:t>
            </a:r>
            <a:r>
              <a:rPr sz="3850" spc="15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150" dirty="0">
                <a:solidFill>
                  <a:srgbClr val="FFFFFF"/>
                </a:solidFill>
                <a:latin typeface="Arial MT"/>
                <a:cs typeface="Arial MT"/>
              </a:rPr>
              <a:t>should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17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105" dirty="0">
                <a:solidFill>
                  <a:srgbClr val="FFFFFF"/>
                </a:solidFill>
                <a:latin typeface="Arial MT"/>
                <a:cs typeface="Arial MT"/>
              </a:rPr>
              <a:t>able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24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40" dirty="0">
                <a:solidFill>
                  <a:srgbClr val="FFFFFF"/>
                </a:solidFill>
                <a:latin typeface="Arial MT"/>
                <a:cs typeface="Arial MT"/>
              </a:rPr>
              <a:t>easily </a:t>
            </a:r>
            <a:r>
              <a:rPr sz="3850" spc="185" dirty="0">
                <a:solidFill>
                  <a:srgbClr val="FFFFFF"/>
                </a:solidFill>
                <a:latin typeface="Arial MT"/>
                <a:cs typeface="Arial MT"/>
              </a:rPr>
              <a:t>identify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215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150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70" dirty="0">
                <a:solidFill>
                  <a:srgbClr val="FFFFFF"/>
                </a:solidFill>
                <a:latin typeface="Arial MT"/>
                <a:cs typeface="Arial MT"/>
              </a:rPr>
              <a:t>sites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30" dirty="0">
                <a:solidFill>
                  <a:srgbClr val="FFFFFF"/>
                </a:solidFill>
                <a:latin typeface="Arial MT"/>
                <a:cs typeface="Arial MT"/>
              </a:rPr>
              <a:t>have </a:t>
            </a:r>
            <a:r>
              <a:rPr sz="3850" spc="105" dirty="0">
                <a:solidFill>
                  <a:srgbClr val="FFFFFF"/>
                </a:solidFill>
                <a:latin typeface="Arial MT"/>
                <a:cs typeface="Arial MT"/>
              </a:rPr>
              <a:t>relatively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180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38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80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8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60" dirty="0">
                <a:solidFill>
                  <a:srgbClr val="FFFFFF"/>
                </a:solidFill>
                <a:latin typeface="Arial MT"/>
                <a:cs typeface="Arial MT"/>
              </a:rPr>
              <a:t>rates.</a:t>
            </a:r>
            <a:endParaRPr sz="3850">
              <a:latin typeface="Arial MT"/>
              <a:cs typeface="Arial MT"/>
            </a:endParaRPr>
          </a:p>
          <a:p>
            <a:pPr marL="924560" marR="915669" lvl="1" indent="-452120">
              <a:lnSpc>
                <a:spcPct val="110600"/>
              </a:lnSpc>
              <a:spcBef>
                <a:spcPts val="1939"/>
              </a:spcBef>
              <a:buClr>
                <a:srgbClr val="FFFFFF"/>
              </a:buClr>
              <a:buChar char="-"/>
              <a:tabLst>
                <a:tab pos="924560" algn="l"/>
              </a:tabLst>
            </a:pPr>
            <a:r>
              <a:rPr sz="3850" spc="65" dirty="0">
                <a:solidFill>
                  <a:srgbClr val="1DB100"/>
                </a:solidFill>
                <a:latin typeface="Arial MT"/>
                <a:cs typeface="Arial MT"/>
              </a:rPr>
              <a:t>Green</a:t>
            </a:r>
            <a:r>
              <a:rPr sz="3850" spc="-40" dirty="0">
                <a:solidFill>
                  <a:srgbClr val="1DB100"/>
                </a:solidFill>
                <a:latin typeface="Arial MT"/>
                <a:cs typeface="Arial MT"/>
              </a:rPr>
              <a:t> </a:t>
            </a:r>
            <a:r>
              <a:rPr sz="3850" spc="60" dirty="0">
                <a:solidFill>
                  <a:srgbClr val="1DB100"/>
                </a:solidFill>
                <a:latin typeface="Arial MT"/>
                <a:cs typeface="Arial MT"/>
              </a:rPr>
              <a:t>Marker</a:t>
            </a:r>
            <a:r>
              <a:rPr sz="3850" spc="-35" dirty="0">
                <a:solidFill>
                  <a:srgbClr val="1DB100"/>
                </a:solidFill>
                <a:latin typeface="Arial MT"/>
                <a:cs typeface="Arial MT"/>
              </a:rPr>
              <a:t> </a:t>
            </a:r>
            <a:r>
              <a:rPr sz="3850" spc="-38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85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85" dirty="0">
                <a:solidFill>
                  <a:srgbClr val="FFFFFF"/>
                </a:solidFill>
                <a:latin typeface="Arial MT"/>
                <a:cs typeface="Arial MT"/>
              </a:rPr>
              <a:t>Successful </a:t>
            </a:r>
            <a:r>
              <a:rPr sz="3850" spc="9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endParaRPr sz="3850">
              <a:latin typeface="Arial MT"/>
              <a:cs typeface="Arial MT"/>
            </a:endParaRPr>
          </a:p>
          <a:p>
            <a:pPr marL="925830" lvl="1" indent="-452755">
              <a:lnSpc>
                <a:spcPct val="100000"/>
              </a:lnSpc>
              <a:spcBef>
                <a:spcPts val="2430"/>
              </a:spcBef>
              <a:buClr>
                <a:srgbClr val="FFFFFF"/>
              </a:buClr>
              <a:buChar char="-"/>
              <a:tabLst>
                <a:tab pos="925830" algn="l"/>
              </a:tabLst>
            </a:pPr>
            <a:r>
              <a:rPr sz="3850" dirty="0">
                <a:solidFill>
                  <a:srgbClr val="EE220D"/>
                </a:solidFill>
                <a:latin typeface="Arial MT"/>
                <a:cs typeface="Arial MT"/>
              </a:rPr>
              <a:t>Red </a:t>
            </a:r>
            <a:r>
              <a:rPr sz="3850" spc="60" dirty="0">
                <a:solidFill>
                  <a:srgbClr val="EE220D"/>
                </a:solidFill>
                <a:latin typeface="Arial MT"/>
                <a:cs typeface="Arial MT"/>
              </a:rPr>
              <a:t>Marker</a:t>
            </a:r>
            <a:r>
              <a:rPr sz="3850" spc="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850" spc="-38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85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dirty="0">
                <a:solidFill>
                  <a:srgbClr val="FFFFFF"/>
                </a:solidFill>
                <a:latin typeface="Arial MT"/>
                <a:cs typeface="Arial MT"/>
              </a:rPr>
              <a:t>Failed </a:t>
            </a:r>
            <a:r>
              <a:rPr sz="3850" spc="9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endParaRPr sz="3850">
              <a:latin typeface="Arial MT"/>
              <a:cs typeface="Arial MT"/>
            </a:endParaRPr>
          </a:p>
          <a:p>
            <a:pPr marL="464184" marR="549275" indent="-452120">
              <a:lnSpc>
                <a:spcPct val="110600"/>
              </a:lnSpc>
              <a:spcBef>
                <a:spcPts val="1945"/>
              </a:spcBef>
              <a:buChar char="•"/>
              <a:tabLst>
                <a:tab pos="464184" algn="l"/>
              </a:tabLst>
            </a:pPr>
            <a:r>
              <a:rPr sz="3850" spc="10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8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80" dirty="0">
                <a:solidFill>
                  <a:srgbClr val="FFFFFF"/>
                </a:solidFill>
                <a:latin typeface="Arial MT"/>
                <a:cs typeface="Arial MT"/>
              </a:rPr>
              <a:t>Site</a:t>
            </a:r>
            <a:r>
              <a:rPr sz="38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-85" dirty="0">
                <a:solidFill>
                  <a:srgbClr val="FFFFFF"/>
                </a:solidFill>
                <a:latin typeface="Arial MT"/>
                <a:cs typeface="Arial MT"/>
              </a:rPr>
              <a:t>KSC</a:t>
            </a:r>
            <a:r>
              <a:rPr sz="38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-75" dirty="0">
                <a:solidFill>
                  <a:srgbClr val="FFFFFF"/>
                </a:solidFill>
                <a:latin typeface="Arial MT"/>
                <a:cs typeface="Arial MT"/>
              </a:rPr>
              <a:t>LC-</a:t>
            </a:r>
            <a:r>
              <a:rPr sz="3850" spc="155" dirty="0">
                <a:solidFill>
                  <a:srgbClr val="FFFFFF"/>
                </a:solidFill>
                <a:latin typeface="Arial MT"/>
                <a:cs typeface="Arial MT"/>
              </a:rPr>
              <a:t>39A</a:t>
            </a:r>
            <a:r>
              <a:rPr sz="38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3850" spc="-50" dirty="0">
                <a:solidFill>
                  <a:srgbClr val="FFFFFF"/>
                </a:solidFill>
                <a:latin typeface="Arial MT"/>
                <a:cs typeface="Arial MT"/>
              </a:rPr>
              <a:t> a </a:t>
            </a:r>
            <a:r>
              <a:rPr sz="3850" spc="100" dirty="0">
                <a:solidFill>
                  <a:srgbClr val="FFFFFF"/>
                </a:solidFill>
                <a:latin typeface="Arial MT"/>
                <a:cs typeface="Arial MT"/>
              </a:rPr>
              <a:t>very</a:t>
            </a:r>
            <a:r>
              <a:rPr sz="38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180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38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5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8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850" spc="-10" dirty="0">
                <a:solidFill>
                  <a:srgbClr val="FFFFFF"/>
                </a:solidFill>
                <a:latin typeface="Arial MT"/>
                <a:cs typeface="Arial MT"/>
              </a:rPr>
              <a:t>Rate.</a:t>
            </a:r>
            <a:endParaRPr sz="38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2932" y="2513394"/>
            <a:ext cx="7851798" cy="774845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895" y="1061078"/>
            <a:ext cx="11619792" cy="17618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3545934"/>
            <a:ext cx="6616700" cy="6538595"/>
          </a:xfrm>
          <a:prstGeom prst="rect">
            <a:avLst/>
          </a:prstGeom>
        </p:spPr>
        <p:txBody>
          <a:bodyPr vert="horz" wrap="square" lIns="0" tIns="22415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64"/>
              </a:spcBef>
            </a:pPr>
            <a:r>
              <a:rPr sz="2550" spc="85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2550">
              <a:latin typeface="Arial MT"/>
              <a:cs typeface="Arial MT"/>
            </a:endParaRPr>
          </a:p>
          <a:p>
            <a:pPr marL="1199515" marR="5080" indent="-266065">
              <a:lnSpc>
                <a:spcPct val="110500"/>
              </a:lnSpc>
              <a:spcBef>
                <a:spcPts val="1165"/>
              </a:spcBef>
              <a:buChar char="•"/>
              <a:tabLst>
                <a:tab pos="1200785" algn="l"/>
              </a:tabLst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9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3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visual</a:t>
            </a:r>
            <a:r>
              <a:rPr sz="23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analysis</a:t>
            </a:r>
            <a:r>
              <a:rPr sz="23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13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3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9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3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Arial MT"/>
                <a:cs typeface="Arial MT"/>
              </a:rPr>
              <a:t>launch 	</a:t>
            </a:r>
            <a:r>
              <a:rPr sz="2300" spc="50" dirty="0">
                <a:solidFill>
                  <a:srgbClr val="FFFFFF"/>
                </a:solidFill>
                <a:latin typeface="Arial MT"/>
                <a:cs typeface="Arial MT"/>
              </a:rPr>
              <a:t>site</a:t>
            </a:r>
            <a:r>
              <a:rPr sz="2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0" dirty="0">
                <a:solidFill>
                  <a:srgbClr val="FFFFFF"/>
                </a:solidFill>
                <a:latin typeface="Arial MT"/>
                <a:cs typeface="Arial MT"/>
              </a:rPr>
              <a:t>KSC</a:t>
            </a:r>
            <a:r>
              <a:rPr sz="2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65" dirty="0">
                <a:solidFill>
                  <a:srgbClr val="FFFFFF"/>
                </a:solidFill>
                <a:latin typeface="Arial MT"/>
                <a:cs typeface="Arial MT"/>
              </a:rPr>
              <a:t>LC-</a:t>
            </a:r>
            <a:r>
              <a:rPr sz="2300" spc="80" dirty="0">
                <a:solidFill>
                  <a:srgbClr val="FFFFFF"/>
                </a:solidFill>
                <a:latin typeface="Arial MT"/>
                <a:cs typeface="Arial MT"/>
              </a:rPr>
              <a:t>39A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clearly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see</a:t>
            </a:r>
            <a:r>
              <a:rPr sz="23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Arial MT"/>
                <a:cs typeface="Arial MT"/>
              </a:rPr>
              <a:t>that 	</a:t>
            </a:r>
            <a:r>
              <a:rPr sz="2300" spc="12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is:</a:t>
            </a:r>
            <a:endParaRPr sz="2300">
              <a:latin typeface="Arial MT"/>
              <a:cs typeface="Arial MT"/>
            </a:endParaRPr>
          </a:p>
          <a:p>
            <a:pPr marL="1660525" lvl="1" indent="-266065">
              <a:lnSpc>
                <a:spcPct val="100000"/>
              </a:lnSpc>
              <a:spcBef>
                <a:spcPts val="1435"/>
              </a:spcBef>
              <a:buChar char="-"/>
              <a:tabLst>
                <a:tab pos="1660525" algn="l"/>
              </a:tabLst>
            </a:pPr>
            <a:r>
              <a:rPr sz="2300" spc="50" dirty="0">
                <a:solidFill>
                  <a:srgbClr val="FFFFFF"/>
                </a:solidFill>
                <a:latin typeface="Arial MT"/>
                <a:cs typeface="Arial MT"/>
              </a:rPr>
              <a:t>relative</a:t>
            </a:r>
            <a:r>
              <a:rPr sz="23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close</a:t>
            </a:r>
            <a:r>
              <a:rPr sz="23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14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3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railway</a:t>
            </a:r>
            <a:r>
              <a:rPr sz="23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50" dirty="0">
                <a:solidFill>
                  <a:srgbClr val="FFFFFF"/>
                </a:solidFill>
                <a:latin typeface="Arial MT"/>
                <a:cs typeface="Arial MT"/>
              </a:rPr>
              <a:t>(15.23</a:t>
            </a:r>
            <a:r>
              <a:rPr sz="2300" spc="25" dirty="0">
                <a:solidFill>
                  <a:srgbClr val="FFFFFF"/>
                </a:solidFill>
                <a:latin typeface="Arial MT"/>
                <a:cs typeface="Arial MT"/>
              </a:rPr>
              <a:t> km)</a:t>
            </a:r>
            <a:endParaRPr sz="2300">
              <a:latin typeface="Arial MT"/>
              <a:cs typeface="Arial MT"/>
            </a:endParaRPr>
          </a:p>
          <a:p>
            <a:pPr marL="1660525" lvl="1" indent="-266065">
              <a:lnSpc>
                <a:spcPct val="100000"/>
              </a:lnSpc>
              <a:spcBef>
                <a:spcPts val="1440"/>
              </a:spcBef>
              <a:buChar char="-"/>
              <a:tabLst>
                <a:tab pos="1660525" algn="l"/>
              </a:tabLst>
            </a:pPr>
            <a:r>
              <a:rPr sz="2300" spc="50" dirty="0">
                <a:solidFill>
                  <a:srgbClr val="FFFFFF"/>
                </a:solidFill>
                <a:latin typeface="Arial MT"/>
                <a:cs typeface="Arial MT"/>
              </a:rPr>
              <a:t>relative</a:t>
            </a:r>
            <a:r>
              <a:rPr sz="2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close</a:t>
            </a:r>
            <a:r>
              <a:rPr sz="23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14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Arial MT"/>
                <a:cs typeface="Arial MT"/>
              </a:rPr>
              <a:t>highway</a:t>
            </a:r>
            <a:r>
              <a:rPr sz="23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(20.28</a:t>
            </a:r>
            <a:r>
              <a:rPr sz="23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25" dirty="0">
                <a:solidFill>
                  <a:srgbClr val="FFFFFF"/>
                </a:solidFill>
                <a:latin typeface="Arial MT"/>
                <a:cs typeface="Arial MT"/>
              </a:rPr>
              <a:t>km)</a:t>
            </a:r>
            <a:endParaRPr sz="2300">
              <a:latin typeface="Arial MT"/>
              <a:cs typeface="Arial MT"/>
            </a:endParaRPr>
          </a:p>
          <a:p>
            <a:pPr marL="1660525" lvl="1" indent="-266065">
              <a:lnSpc>
                <a:spcPct val="100000"/>
              </a:lnSpc>
              <a:spcBef>
                <a:spcPts val="1440"/>
              </a:spcBef>
              <a:buChar char="-"/>
              <a:tabLst>
                <a:tab pos="1660525" algn="l"/>
              </a:tabLst>
            </a:pPr>
            <a:r>
              <a:rPr sz="2300" spc="50" dirty="0">
                <a:solidFill>
                  <a:srgbClr val="FFFFFF"/>
                </a:solidFill>
                <a:latin typeface="Arial MT"/>
                <a:cs typeface="Arial MT"/>
              </a:rPr>
              <a:t>relative</a:t>
            </a:r>
            <a:r>
              <a:rPr sz="23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close</a:t>
            </a:r>
            <a:r>
              <a:rPr sz="2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14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70" dirty="0">
                <a:solidFill>
                  <a:srgbClr val="FFFFFF"/>
                </a:solidFill>
                <a:latin typeface="Arial MT"/>
                <a:cs typeface="Arial MT"/>
              </a:rPr>
              <a:t>coastline</a:t>
            </a:r>
            <a:r>
              <a:rPr sz="23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(14.99</a:t>
            </a:r>
            <a:r>
              <a:rPr sz="23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25" dirty="0">
                <a:solidFill>
                  <a:srgbClr val="FFFFFF"/>
                </a:solidFill>
                <a:latin typeface="Arial MT"/>
                <a:cs typeface="Arial MT"/>
              </a:rPr>
              <a:t>km)</a:t>
            </a:r>
            <a:endParaRPr sz="2300">
              <a:latin typeface="Arial MT"/>
              <a:cs typeface="Arial MT"/>
            </a:endParaRPr>
          </a:p>
          <a:p>
            <a:pPr marL="1199515" marR="722630" indent="-266065">
              <a:lnSpc>
                <a:spcPct val="110500"/>
              </a:lnSpc>
              <a:spcBef>
                <a:spcPts val="1145"/>
              </a:spcBef>
              <a:buChar char="•"/>
              <a:tabLst>
                <a:tab pos="1200785" algn="l"/>
              </a:tabLst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Also</a:t>
            </a:r>
            <a:r>
              <a:rPr sz="2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9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50" dirty="0">
                <a:solidFill>
                  <a:srgbClr val="FFFFFF"/>
                </a:solidFill>
                <a:latin typeface="Arial MT"/>
                <a:cs typeface="Arial MT"/>
              </a:rPr>
              <a:t>site</a:t>
            </a:r>
            <a:r>
              <a:rPr sz="2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0" dirty="0">
                <a:solidFill>
                  <a:srgbClr val="FFFFFF"/>
                </a:solidFill>
                <a:latin typeface="Arial MT"/>
                <a:cs typeface="Arial MT"/>
              </a:rPr>
              <a:t>KSC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65" dirty="0">
                <a:solidFill>
                  <a:srgbClr val="FFFFFF"/>
                </a:solidFill>
                <a:latin typeface="Arial MT"/>
                <a:cs typeface="Arial MT"/>
              </a:rPr>
              <a:t>LC-</a:t>
            </a:r>
            <a:r>
              <a:rPr sz="2300" spc="80" dirty="0">
                <a:solidFill>
                  <a:srgbClr val="FFFFFF"/>
                </a:solidFill>
                <a:latin typeface="Arial MT"/>
                <a:cs typeface="Arial MT"/>
              </a:rPr>
              <a:t>39A</a:t>
            </a:r>
            <a:r>
              <a:rPr sz="23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is 	</a:t>
            </a:r>
            <a:r>
              <a:rPr sz="2300" spc="50" dirty="0">
                <a:solidFill>
                  <a:srgbClr val="FFFFFF"/>
                </a:solidFill>
                <a:latin typeface="Arial MT"/>
                <a:cs typeface="Arial MT"/>
              </a:rPr>
              <a:t>relative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close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14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5" dirty="0">
                <a:solidFill>
                  <a:srgbClr val="FFFFFF"/>
                </a:solidFill>
                <a:latin typeface="Arial MT"/>
                <a:cs typeface="Arial MT"/>
              </a:rPr>
              <a:t>closest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90" dirty="0">
                <a:solidFill>
                  <a:srgbClr val="FFFFFF"/>
                </a:solidFill>
                <a:latin typeface="Arial MT"/>
                <a:cs typeface="Arial MT"/>
              </a:rPr>
              <a:t>city 	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Titusville</a:t>
            </a:r>
            <a:r>
              <a:rPr sz="2300" spc="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35" dirty="0">
                <a:solidFill>
                  <a:srgbClr val="FFFFFF"/>
                </a:solidFill>
                <a:latin typeface="Arial MT"/>
                <a:cs typeface="Arial MT"/>
              </a:rPr>
              <a:t>(16.32</a:t>
            </a:r>
            <a:r>
              <a:rPr sz="2300" spc="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km).</a:t>
            </a:r>
            <a:endParaRPr sz="2300">
              <a:latin typeface="Arial MT"/>
              <a:cs typeface="Arial MT"/>
            </a:endParaRPr>
          </a:p>
          <a:p>
            <a:pPr marL="1199515" marR="432434" indent="-266065">
              <a:lnSpc>
                <a:spcPct val="110500"/>
              </a:lnSpc>
              <a:spcBef>
                <a:spcPts val="1150"/>
              </a:spcBef>
              <a:buChar char="•"/>
              <a:tabLst>
                <a:tab pos="1200785" algn="l"/>
              </a:tabLst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Failed</a:t>
            </a:r>
            <a:r>
              <a:rPr sz="2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80" dirty="0">
                <a:solidFill>
                  <a:srgbClr val="FFFFFF"/>
                </a:solidFill>
                <a:latin typeface="Arial MT"/>
                <a:cs typeface="Arial MT"/>
              </a:rPr>
              <a:t>rocket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12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2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its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95" dirty="0">
                <a:solidFill>
                  <a:srgbClr val="FFFFFF"/>
                </a:solidFill>
                <a:latin typeface="Arial MT"/>
                <a:cs typeface="Arial MT"/>
              </a:rPr>
              <a:t>high</a:t>
            </a:r>
            <a:r>
              <a:rPr sz="23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speed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35" dirty="0">
                <a:solidFill>
                  <a:srgbClr val="FFFFFF"/>
                </a:solidFill>
                <a:latin typeface="Arial MT"/>
                <a:cs typeface="Arial MT"/>
              </a:rPr>
              <a:t>can 	</a:t>
            </a:r>
            <a:r>
              <a:rPr sz="2300" spc="75" dirty="0">
                <a:solidFill>
                  <a:srgbClr val="FFFFFF"/>
                </a:solidFill>
                <a:latin typeface="Arial MT"/>
                <a:cs typeface="Arial MT"/>
              </a:rPr>
              <a:t>cover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60" dirty="0">
                <a:solidFill>
                  <a:srgbClr val="FFFFFF"/>
                </a:solidFill>
                <a:latin typeface="Arial MT"/>
                <a:cs typeface="Arial MT"/>
              </a:rPr>
              <a:t>distances</a:t>
            </a:r>
            <a:r>
              <a:rPr sz="2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like </a:t>
            </a:r>
            <a:r>
              <a:rPr sz="2300" spc="-120" dirty="0">
                <a:solidFill>
                  <a:srgbClr val="FFFFFF"/>
                </a:solidFill>
                <a:latin typeface="Arial MT"/>
                <a:cs typeface="Arial MT"/>
              </a:rPr>
              <a:t>15-</a:t>
            </a:r>
            <a:r>
              <a:rPr sz="2300" spc="125" dirty="0">
                <a:solidFill>
                  <a:srgbClr val="FFFFFF"/>
                </a:solidFill>
                <a:latin typeface="Arial MT"/>
                <a:cs typeface="Arial MT"/>
              </a:rPr>
              <a:t>20</a:t>
            </a:r>
            <a:r>
              <a:rPr sz="2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90" dirty="0">
                <a:solidFill>
                  <a:srgbClr val="FFFFFF"/>
                </a:solidFill>
                <a:latin typeface="Arial MT"/>
                <a:cs typeface="Arial MT"/>
              </a:rPr>
              <a:t>km</a:t>
            </a: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8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3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55" dirty="0">
                <a:solidFill>
                  <a:srgbClr val="FFFFFF"/>
                </a:solidFill>
                <a:latin typeface="Arial MT"/>
                <a:cs typeface="Arial MT"/>
              </a:rPr>
              <a:t>few 	seconds.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80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105" dirty="0">
                <a:solidFill>
                  <a:srgbClr val="FFFFFF"/>
                </a:solidFill>
                <a:latin typeface="Arial MT"/>
                <a:cs typeface="Arial MT"/>
              </a:rPr>
              <a:t>could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85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70" dirty="0">
                <a:solidFill>
                  <a:srgbClr val="FFFFFF"/>
                </a:solidFill>
                <a:latin typeface="Arial MT"/>
                <a:cs typeface="Arial MT"/>
              </a:rPr>
              <a:t>potentially 	</a:t>
            </a:r>
            <a:r>
              <a:rPr sz="2300" spc="65" dirty="0">
                <a:solidFill>
                  <a:srgbClr val="FFFFFF"/>
                </a:solidFill>
                <a:latin typeface="Arial MT"/>
                <a:cs typeface="Arial MT"/>
              </a:rPr>
              <a:t>dangerous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14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100" dirty="0">
                <a:solidFill>
                  <a:srgbClr val="FFFFFF"/>
                </a:solidFill>
                <a:latin typeface="Arial MT"/>
                <a:cs typeface="Arial MT"/>
              </a:rPr>
              <a:t>populated</a:t>
            </a:r>
            <a:r>
              <a:rPr sz="23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areas.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83912" y="3560373"/>
            <a:ext cx="10265283" cy="67013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7609" y="3216236"/>
            <a:ext cx="15901839" cy="239837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99809" y="1050606"/>
            <a:ext cx="13173965" cy="6834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8156697"/>
            <a:ext cx="15871825" cy="2255520"/>
          </a:xfrm>
          <a:prstGeom prst="rect">
            <a:avLst/>
          </a:prstGeom>
        </p:spPr>
        <p:txBody>
          <a:bodyPr vert="horz" wrap="square" lIns="0" tIns="313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70"/>
              </a:spcBef>
            </a:pPr>
            <a:r>
              <a:rPr sz="3800" spc="125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3800">
              <a:latin typeface="Arial MT"/>
              <a:cs typeface="Arial MT"/>
            </a:endParaRPr>
          </a:p>
          <a:p>
            <a:pPr marL="1330325" marR="5080" indent="-396240">
              <a:lnSpc>
                <a:spcPct val="109100"/>
              </a:lnSpc>
              <a:spcBef>
                <a:spcPts val="1720"/>
              </a:spcBef>
              <a:buChar char="•"/>
              <a:tabLst>
                <a:tab pos="1330325" algn="l"/>
              </a:tabLst>
            </a:pP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45" dirty="0">
                <a:solidFill>
                  <a:srgbClr val="FFFFFF"/>
                </a:solidFill>
                <a:latin typeface="Arial MT"/>
                <a:cs typeface="Arial MT"/>
              </a:rPr>
              <a:t>chart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95" dirty="0">
                <a:solidFill>
                  <a:srgbClr val="FFFFFF"/>
                </a:solidFill>
                <a:latin typeface="Arial MT"/>
                <a:cs typeface="Arial MT"/>
              </a:rPr>
              <a:t>clearly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70" dirty="0">
                <a:solidFill>
                  <a:srgbClr val="FFFFFF"/>
                </a:solidFill>
                <a:latin typeface="Arial MT"/>
                <a:cs typeface="Arial MT"/>
              </a:rPr>
              <a:t>shows</a:t>
            </a:r>
            <a:r>
              <a:rPr sz="3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4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8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55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sites,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100" dirty="0">
                <a:solidFill>
                  <a:srgbClr val="FFFFFF"/>
                </a:solidFill>
                <a:latin typeface="Arial MT"/>
                <a:cs typeface="Arial MT"/>
              </a:rPr>
              <a:t>KSC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85" dirty="0">
                <a:solidFill>
                  <a:srgbClr val="FFFFFF"/>
                </a:solidFill>
                <a:latin typeface="Arial MT"/>
                <a:cs typeface="Arial MT"/>
              </a:rPr>
              <a:t>LC-</a:t>
            </a:r>
            <a:r>
              <a:rPr sz="3400" spc="120" dirty="0">
                <a:solidFill>
                  <a:srgbClr val="FFFFFF"/>
                </a:solidFill>
                <a:latin typeface="Arial MT"/>
                <a:cs typeface="Arial MT"/>
              </a:rPr>
              <a:t>39A</a:t>
            </a:r>
            <a:r>
              <a:rPr sz="3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05" dirty="0">
                <a:solidFill>
                  <a:srgbClr val="FFFFFF"/>
                </a:solidFill>
                <a:latin typeface="Arial MT"/>
                <a:cs typeface="Arial MT"/>
              </a:rPr>
              <a:t>most </a:t>
            </a:r>
            <a:r>
              <a:rPr sz="3400" spc="85" dirty="0">
                <a:solidFill>
                  <a:srgbClr val="FFFFFF"/>
                </a:solidFill>
                <a:latin typeface="Arial MT"/>
                <a:cs typeface="Arial MT"/>
              </a:rPr>
              <a:t>successful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60" dirty="0">
                <a:solidFill>
                  <a:srgbClr val="FFFFFF"/>
                </a:solidFill>
                <a:latin typeface="Arial MT"/>
                <a:cs typeface="Arial MT"/>
              </a:rPr>
              <a:t>launches.</a:t>
            </a:r>
            <a:endParaRPr sz="3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562515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6792" y="1055883"/>
            <a:ext cx="17835603" cy="83821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8156697"/>
            <a:ext cx="17392650" cy="2255520"/>
          </a:xfrm>
          <a:prstGeom prst="rect">
            <a:avLst/>
          </a:prstGeom>
        </p:spPr>
        <p:txBody>
          <a:bodyPr vert="horz" wrap="square" lIns="0" tIns="313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70"/>
              </a:spcBef>
            </a:pPr>
            <a:r>
              <a:rPr sz="3800" spc="125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3800">
              <a:latin typeface="Arial MT"/>
              <a:cs typeface="Arial MT"/>
            </a:endParaRPr>
          </a:p>
          <a:p>
            <a:pPr marL="1330325" marR="5080" indent="-396240">
              <a:lnSpc>
                <a:spcPct val="109100"/>
              </a:lnSpc>
              <a:spcBef>
                <a:spcPts val="1720"/>
              </a:spcBef>
              <a:buChar char="•"/>
              <a:tabLst>
                <a:tab pos="1330325" algn="l"/>
              </a:tabLst>
            </a:pPr>
            <a:r>
              <a:rPr sz="3400" spc="-100" dirty="0">
                <a:solidFill>
                  <a:srgbClr val="FFFFFF"/>
                </a:solidFill>
                <a:latin typeface="Arial MT"/>
                <a:cs typeface="Arial MT"/>
              </a:rPr>
              <a:t>KSC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85" dirty="0">
                <a:solidFill>
                  <a:srgbClr val="FFFFFF"/>
                </a:solidFill>
                <a:latin typeface="Arial MT"/>
                <a:cs typeface="Arial MT"/>
              </a:rPr>
              <a:t>LC-</a:t>
            </a:r>
            <a:r>
              <a:rPr sz="3400" spc="120" dirty="0">
                <a:solidFill>
                  <a:srgbClr val="FFFFFF"/>
                </a:solidFill>
                <a:latin typeface="Arial MT"/>
                <a:cs typeface="Arial MT"/>
              </a:rPr>
              <a:t>39A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4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20" dirty="0">
                <a:solidFill>
                  <a:srgbClr val="FFFFFF"/>
                </a:solidFill>
                <a:latin typeface="Arial MT"/>
                <a:cs typeface="Arial MT"/>
              </a:rPr>
              <a:t>highest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14" dirty="0">
                <a:solidFill>
                  <a:srgbClr val="FFFFFF"/>
                </a:solidFill>
                <a:latin typeface="Arial MT"/>
                <a:cs typeface="Arial MT"/>
              </a:rPr>
              <a:t>launch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5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85" dirty="0">
                <a:solidFill>
                  <a:srgbClr val="FFFFFF"/>
                </a:solidFill>
                <a:latin typeface="Arial MT"/>
                <a:cs typeface="Arial MT"/>
              </a:rPr>
              <a:t>rate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-40" dirty="0">
                <a:solidFill>
                  <a:srgbClr val="FFFFFF"/>
                </a:solidFill>
                <a:latin typeface="Arial MT"/>
                <a:cs typeface="Arial MT"/>
              </a:rPr>
              <a:t>(76.9%)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8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FFFFFF"/>
                </a:solidFill>
                <a:latin typeface="Arial MT"/>
                <a:cs typeface="Arial MT"/>
              </a:rPr>
              <a:t>10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85" dirty="0">
                <a:solidFill>
                  <a:srgbClr val="FFFFFF"/>
                </a:solidFill>
                <a:latin typeface="Arial MT"/>
                <a:cs typeface="Arial MT"/>
              </a:rPr>
              <a:t>successful</a:t>
            </a:r>
            <a:r>
              <a:rPr sz="34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6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3400" spc="12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3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5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sz="3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100" dirty="0">
                <a:solidFill>
                  <a:srgbClr val="FFFFFF"/>
                </a:solidFill>
                <a:latin typeface="Arial MT"/>
                <a:cs typeface="Arial MT"/>
              </a:rPr>
              <a:t>failed</a:t>
            </a:r>
            <a:r>
              <a:rPr sz="3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400" spc="80" dirty="0">
                <a:solidFill>
                  <a:srgbClr val="FFFFFF"/>
                </a:solidFill>
                <a:latin typeface="Arial MT"/>
                <a:cs typeface="Arial MT"/>
              </a:rPr>
              <a:t>landings.</a:t>
            </a:r>
            <a:endParaRPr sz="3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513012"/>
            <a:ext cx="17800505" cy="562515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7445" y="1068126"/>
            <a:ext cx="17757308" cy="81369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80980" y="3969830"/>
            <a:ext cx="3373754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50" spc="130" dirty="0"/>
              <a:t>Explanation:</a:t>
            </a:r>
            <a:endParaRPr sz="4450"/>
          </a:p>
        </p:txBody>
      </p:sp>
      <p:sp>
        <p:nvSpPr>
          <p:cNvPr id="4" name="object 4"/>
          <p:cNvSpPr txBox="1"/>
          <p:nvPr/>
        </p:nvSpPr>
        <p:spPr>
          <a:xfrm>
            <a:off x="2102418" y="4901530"/>
            <a:ext cx="4720590" cy="4046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3075" marR="5080" indent="-461009">
              <a:lnSpc>
                <a:spcPct val="111300"/>
              </a:lnSpc>
              <a:spcBef>
                <a:spcPts val="100"/>
              </a:spcBef>
              <a:buChar char="•"/>
              <a:tabLst>
                <a:tab pos="473075" algn="l"/>
              </a:tabLst>
            </a:pPr>
            <a:r>
              <a:rPr sz="395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25" dirty="0">
                <a:solidFill>
                  <a:srgbClr val="FFFFFF"/>
                </a:solidFill>
                <a:latin typeface="Arial MT"/>
                <a:cs typeface="Arial MT"/>
              </a:rPr>
              <a:t>charts</a:t>
            </a:r>
            <a:r>
              <a:rPr sz="395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05" dirty="0">
                <a:solidFill>
                  <a:srgbClr val="FFFFFF"/>
                </a:solidFill>
                <a:latin typeface="Arial MT"/>
                <a:cs typeface="Arial MT"/>
              </a:rPr>
              <a:t>show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75" dirty="0">
                <a:solidFill>
                  <a:srgbClr val="FFFFFF"/>
                </a:solidFill>
                <a:latin typeface="Arial MT"/>
                <a:cs typeface="Arial MT"/>
              </a:rPr>
              <a:t>payloads </a:t>
            </a:r>
            <a:r>
              <a:rPr sz="3950" spc="150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39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330" dirty="0">
                <a:solidFill>
                  <a:srgbClr val="FFFFFF"/>
                </a:solidFill>
                <a:latin typeface="Arial MT"/>
                <a:cs typeface="Arial MT"/>
              </a:rPr>
              <a:t>2000 </a:t>
            </a:r>
            <a:r>
              <a:rPr sz="3950" spc="11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280" dirty="0">
                <a:solidFill>
                  <a:srgbClr val="FFFFFF"/>
                </a:solidFill>
                <a:latin typeface="Arial MT"/>
                <a:cs typeface="Arial MT"/>
              </a:rPr>
              <a:t>5500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40" dirty="0">
                <a:solidFill>
                  <a:srgbClr val="FFFFFF"/>
                </a:solidFill>
                <a:latin typeface="Arial MT"/>
                <a:cs typeface="Arial MT"/>
              </a:rPr>
              <a:t>kg</a:t>
            </a:r>
            <a:r>
              <a:rPr sz="395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-20" dirty="0">
                <a:solidFill>
                  <a:srgbClr val="FFFFFF"/>
                </a:solidFill>
                <a:latin typeface="Arial MT"/>
                <a:cs typeface="Arial MT"/>
              </a:rPr>
              <a:t>have </a:t>
            </a:r>
            <a:r>
              <a:rPr sz="3950" spc="165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95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130" dirty="0">
                <a:solidFill>
                  <a:srgbClr val="FFFFFF"/>
                </a:solidFill>
                <a:latin typeface="Arial MT"/>
                <a:cs typeface="Arial MT"/>
              </a:rPr>
              <a:t>highest </a:t>
            </a:r>
            <a:r>
              <a:rPr sz="3950" spc="65" dirty="0">
                <a:solidFill>
                  <a:srgbClr val="FFFFFF"/>
                </a:solidFill>
                <a:latin typeface="Arial MT"/>
                <a:cs typeface="Arial MT"/>
              </a:rPr>
              <a:t>success</a:t>
            </a:r>
            <a:r>
              <a:rPr sz="39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950" spc="70" dirty="0">
                <a:solidFill>
                  <a:srgbClr val="FFFFFF"/>
                </a:solidFill>
                <a:latin typeface="Arial MT"/>
                <a:cs typeface="Arial MT"/>
              </a:rPr>
              <a:t>rate.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7873" y="2515543"/>
            <a:ext cx="10820759" cy="38742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7873" y="6493710"/>
            <a:ext cx="10819984" cy="386964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27156" y="3216236"/>
            <a:ext cx="10145743" cy="25647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3605" y="1050607"/>
            <a:ext cx="9346144" cy="8302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80980" y="2362706"/>
            <a:ext cx="7668895" cy="7915909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30"/>
              </a:spcBef>
            </a:pPr>
            <a:r>
              <a:rPr sz="3350" spc="110" dirty="0">
                <a:solidFill>
                  <a:srgbClr val="D5D5D5"/>
                </a:solidFill>
                <a:latin typeface="Arial MT"/>
                <a:cs typeface="Arial MT"/>
              </a:rPr>
              <a:t>Explanation:</a:t>
            </a:r>
            <a:endParaRPr sz="3350">
              <a:latin typeface="Arial MT"/>
              <a:cs typeface="Arial MT"/>
            </a:endParaRPr>
          </a:p>
          <a:p>
            <a:pPr marL="1283970" marR="5080" indent="-350520">
              <a:lnSpc>
                <a:spcPct val="109900"/>
              </a:lnSpc>
              <a:spcBef>
                <a:spcPts val="1520"/>
              </a:spcBef>
              <a:buChar char="•"/>
              <a:tabLst>
                <a:tab pos="1283970" algn="l"/>
              </a:tabLst>
            </a:pP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3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3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3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55" dirty="0">
                <a:solidFill>
                  <a:srgbClr val="FFFFFF"/>
                </a:solidFill>
                <a:latin typeface="Arial MT"/>
                <a:cs typeface="Arial MT"/>
              </a:rPr>
              <a:t>scores</a:t>
            </a:r>
            <a:r>
              <a:rPr sz="3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7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MT"/>
                <a:cs typeface="Arial MT"/>
              </a:rPr>
              <a:t>Test</a:t>
            </a:r>
            <a:r>
              <a:rPr sz="30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Arial MT"/>
                <a:cs typeface="Arial MT"/>
              </a:rPr>
              <a:t>Set, </a:t>
            </a:r>
            <a:r>
              <a:rPr sz="3000" spc="105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3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95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3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3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55" dirty="0">
                <a:solidFill>
                  <a:srgbClr val="FFFFFF"/>
                </a:solidFill>
                <a:latin typeface="Arial MT"/>
                <a:cs typeface="Arial MT"/>
              </a:rPr>
              <a:t>confirm</a:t>
            </a:r>
            <a:r>
              <a:rPr sz="3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5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3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55" dirty="0">
                <a:solidFill>
                  <a:srgbClr val="FFFFFF"/>
                </a:solidFill>
                <a:latin typeface="Arial MT"/>
                <a:cs typeface="Arial MT"/>
              </a:rPr>
              <a:t>method </a:t>
            </a:r>
            <a:r>
              <a:rPr sz="3000" spc="114" dirty="0">
                <a:solidFill>
                  <a:srgbClr val="FFFFFF"/>
                </a:solidFill>
                <a:latin typeface="Arial MT"/>
                <a:cs typeface="Arial MT"/>
              </a:rPr>
              <a:t>performs</a:t>
            </a:r>
            <a:r>
              <a:rPr sz="3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75" dirty="0">
                <a:solidFill>
                  <a:srgbClr val="FFFFFF"/>
                </a:solidFill>
                <a:latin typeface="Arial MT"/>
                <a:cs typeface="Arial MT"/>
              </a:rPr>
              <a:t>best.</a:t>
            </a:r>
            <a:endParaRPr sz="3000">
              <a:latin typeface="Arial MT"/>
              <a:cs typeface="Arial MT"/>
            </a:endParaRPr>
          </a:p>
          <a:p>
            <a:pPr marL="1283970" marR="381000" indent="-350520">
              <a:lnSpc>
                <a:spcPct val="109900"/>
              </a:lnSpc>
              <a:spcBef>
                <a:spcPts val="1505"/>
              </a:spcBef>
              <a:buChar char="•"/>
              <a:tabLst>
                <a:tab pos="1283970" algn="l"/>
              </a:tabLst>
            </a:pP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MT"/>
                <a:cs typeface="Arial MT"/>
              </a:rPr>
              <a:t>Test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55" dirty="0">
                <a:solidFill>
                  <a:srgbClr val="FFFFFF"/>
                </a:solidFill>
                <a:latin typeface="Arial MT"/>
                <a:cs typeface="Arial MT"/>
              </a:rPr>
              <a:t>scores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65" dirty="0">
                <a:solidFill>
                  <a:srgbClr val="FFFFFF"/>
                </a:solidFill>
                <a:latin typeface="Arial MT"/>
                <a:cs typeface="Arial MT"/>
              </a:rPr>
              <a:t>may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3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90" dirty="0">
                <a:solidFill>
                  <a:srgbClr val="FFFFFF"/>
                </a:solidFill>
                <a:latin typeface="Arial MT"/>
                <a:cs typeface="Arial MT"/>
              </a:rPr>
              <a:t>due </a:t>
            </a:r>
            <a:r>
              <a:rPr sz="3000" spc="18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65" dirty="0">
                <a:solidFill>
                  <a:srgbClr val="FFFFFF"/>
                </a:solidFill>
                <a:latin typeface="Arial MT"/>
                <a:cs typeface="Arial MT"/>
              </a:rPr>
              <a:t>small</a:t>
            </a:r>
            <a:r>
              <a:rPr sz="3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10" dirty="0">
                <a:solidFill>
                  <a:srgbClr val="FFFFFF"/>
                </a:solidFill>
                <a:latin typeface="Arial MT"/>
                <a:cs typeface="Arial MT"/>
              </a:rPr>
              <a:t>test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80" dirty="0">
                <a:solidFill>
                  <a:srgbClr val="FFFFFF"/>
                </a:solidFill>
                <a:latin typeface="Arial MT"/>
                <a:cs typeface="Arial MT"/>
              </a:rPr>
              <a:t>sample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size</a:t>
            </a:r>
            <a:r>
              <a:rPr sz="3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(18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samples).</a:t>
            </a:r>
            <a:r>
              <a:rPr sz="3000" spc="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45" dirty="0">
                <a:solidFill>
                  <a:srgbClr val="FFFFFF"/>
                </a:solidFill>
                <a:latin typeface="Arial MT"/>
                <a:cs typeface="Arial MT"/>
              </a:rPr>
              <a:t>Therefore,</a:t>
            </a:r>
            <a:r>
              <a:rPr sz="300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300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10" dirty="0">
                <a:solidFill>
                  <a:srgbClr val="FFFFFF"/>
                </a:solidFill>
                <a:latin typeface="Arial MT"/>
                <a:cs typeface="Arial MT"/>
              </a:rPr>
              <a:t>tested</a:t>
            </a:r>
            <a:r>
              <a:rPr sz="3000" spc="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all </a:t>
            </a:r>
            <a:r>
              <a:rPr sz="3000" spc="130" dirty="0">
                <a:solidFill>
                  <a:srgbClr val="FFFFFF"/>
                </a:solidFill>
                <a:latin typeface="Arial MT"/>
                <a:cs typeface="Arial MT"/>
              </a:rPr>
              <a:t>methods</a:t>
            </a:r>
            <a:r>
              <a:rPr sz="3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65" dirty="0">
                <a:solidFill>
                  <a:srgbClr val="FFFFFF"/>
                </a:solidFill>
                <a:latin typeface="Arial MT"/>
                <a:cs typeface="Arial MT"/>
              </a:rPr>
              <a:t>based</a:t>
            </a:r>
            <a:r>
              <a:rPr sz="3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3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3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14" dirty="0">
                <a:solidFill>
                  <a:srgbClr val="FFFFFF"/>
                </a:solidFill>
                <a:latin typeface="Arial MT"/>
                <a:cs typeface="Arial MT"/>
              </a:rPr>
              <a:t>whole </a:t>
            </a:r>
            <a:r>
              <a:rPr sz="3000" spc="-10" dirty="0">
                <a:solidFill>
                  <a:srgbClr val="FFFFFF"/>
                </a:solidFill>
                <a:latin typeface="Arial MT"/>
                <a:cs typeface="Arial MT"/>
              </a:rPr>
              <a:t>Dataset.</a:t>
            </a:r>
            <a:endParaRPr sz="3000">
              <a:latin typeface="Arial MT"/>
              <a:cs typeface="Arial MT"/>
            </a:endParaRPr>
          </a:p>
          <a:p>
            <a:pPr marL="1283970" marR="43180" indent="-350520">
              <a:lnSpc>
                <a:spcPct val="109900"/>
              </a:lnSpc>
              <a:spcBef>
                <a:spcPts val="1505"/>
              </a:spcBef>
              <a:buChar char="•"/>
              <a:tabLst>
                <a:tab pos="1283970" algn="l"/>
              </a:tabLst>
            </a:pP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55" dirty="0">
                <a:solidFill>
                  <a:srgbClr val="FFFFFF"/>
                </a:solidFill>
                <a:latin typeface="Arial MT"/>
                <a:cs typeface="Arial MT"/>
              </a:rPr>
              <a:t>scores</a:t>
            </a:r>
            <a:r>
              <a:rPr sz="3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75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3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0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25" dirty="0">
                <a:solidFill>
                  <a:srgbClr val="FFFFFF"/>
                </a:solidFill>
                <a:latin typeface="Arial MT"/>
                <a:cs typeface="Arial MT"/>
              </a:rPr>
              <a:t>whole</a:t>
            </a:r>
            <a:r>
              <a:rPr sz="30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Arial MT"/>
                <a:cs typeface="Arial MT"/>
              </a:rPr>
              <a:t>Dataset </a:t>
            </a:r>
            <a:r>
              <a:rPr sz="3000" spc="155" dirty="0">
                <a:solidFill>
                  <a:srgbClr val="FFFFFF"/>
                </a:solidFill>
                <a:latin typeface="Arial MT"/>
                <a:cs typeface="Arial MT"/>
              </a:rPr>
              <a:t>confirm</a:t>
            </a:r>
            <a:r>
              <a:rPr sz="30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35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10" dirty="0">
                <a:solidFill>
                  <a:srgbClr val="FFFFFF"/>
                </a:solidFill>
                <a:latin typeface="Arial MT"/>
                <a:cs typeface="Arial MT"/>
              </a:rPr>
              <a:t>best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45" dirty="0">
                <a:solidFill>
                  <a:srgbClr val="FFFFFF"/>
                </a:solidFill>
                <a:latin typeface="Arial MT"/>
                <a:cs typeface="Arial MT"/>
              </a:rPr>
              <a:t>model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0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95" dirty="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sz="3000" spc="70" dirty="0">
                <a:solidFill>
                  <a:srgbClr val="FFFFFF"/>
                </a:solidFill>
                <a:latin typeface="Arial MT"/>
                <a:cs typeface="Arial MT"/>
              </a:rPr>
              <a:t>Decision</a:t>
            </a:r>
            <a:r>
              <a:rPr sz="30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Tree</a:t>
            </a:r>
            <a:r>
              <a:rPr sz="3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85" dirty="0">
                <a:solidFill>
                  <a:srgbClr val="FFFFFF"/>
                </a:solidFill>
                <a:latin typeface="Arial MT"/>
                <a:cs typeface="Arial MT"/>
              </a:rPr>
              <a:t>Model.</a:t>
            </a:r>
            <a:r>
              <a:rPr sz="3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30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35" dirty="0">
                <a:solidFill>
                  <a:srgbClr val="FFFFFF"/>
                </a:solidFill>
                <a:latin typeface="Arial MT"/>
                <a:cs typeface="Arial MT"/>
              </a:rPr>
              <a:t>model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30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65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30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3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20" dirty="0">
                <a:solidFill>
                  <a:srgbClr val="FFFFFF"/>
                </a:solidFill>
                <a:latin typeface="Arial MT"/>
                <a:cs typeface="Arial MT"/>
              </a:rPr>
              <a:t>higher</a:t>
            </a:r>
            <a:r>
              <a:rPr sz="30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FFFFFF"/>
                </a:solidFill>
                <a:latin typeface="Arial MT"/>
                <a:cs typeface="Arial MT"/>
              </a:rPr>
              <a:t>scores,</a:t>
            </a:r>
            <a:r>
              <a:rPr sz="3000" spc="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80" dirty="0">
                <a:solidFill>
                  <a:srgbClr val="FFFFFF"/>
                </a:solidFill>
                <a:latin typeface="Arial MT"/>
                <a:cs typeface="Arial MT"/>
              </a:rPr>
              <a:t>but</a:t>
            </a:r>
            <a:r>
              <a:rPr sz="30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Arial MT"/>
                <a:cs typeface="Arial MT"/>
              </a:rPr>
              <a:t>also </a:t>
            </a:r>
            <a:r>
              <a:rPr sz="3000" spc="12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3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105" dirty="0">
                <a:solidFill>
                  <a:srgbClr val="FFFFFF"/>
                </a:solidFill>
                <a:latin typeface="Arial MT"/>
                <a:cs typeface="Arial MT"/>
              </a:rPr>
              <a:t>highest</a:t>
            </a:r>
            <a:r>
              <a:rPr sz="30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000" spc="55" dirty="0">
                <a:solidFill>
                  <a:srgbClr val="FFFFFF"/>
                </a:solidFill>
                <a:latin typeface="Arial MT"/>
                <a:cs typeface="Arial MT"/>
              </a:rPr>
              <a:t>accuracy.</a:t>
            </a:r>
            <a:endParaRPr sz="3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93972" y="3256679"/>
            <a:ext cx="6801600" cy="2094177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0293792" y="2580857"/>
            <a:ext cx="7897495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spc="105" dirty="0"/>
              <a:t>Scores</a:t>
            </a:r>
            <a:r>
              <a:rPr sz="3600" spc="-125" dirty="0"/>
              <a:t> </a:t>
            </a:r>
            <a:r>
              <a:rPr sz="3600" spc="160" dirty="0"/>
              <a:t>and</a:t>
            </a:r>
            <a:r>
              <a:rPr sz="3600" spc="-125" dirty="0"/>
              <a:t> </a:t>
            </a:r>
            <a:r>
              <a:rPr sz="3600" spc="175" dirty="0"/>
              <a:t>Accuracy</a:t>
            </a:r>
            <a:r>
              <a:rPr sz="3600" spc="-125" dirty="0"/>
              <a:t> </a:t>
            </a:r>
            <a:r>
              <a:rPr sz="3600" spc="254" dirty="0"/>
              <a:t>of</a:t>
            </a:r>
            <a:r>
              <a:rPr sz="3600" spc="-125" dirty="0"/>
              <a:t> </a:t>
            </a:r>
            <a:r>
              <a:rPr sz="3600" spc="200" dirty="0"/>
              <a:t>the</a:t>
            </a:r>
            <a:r>
              <a:rPr sz="3600" spc="-120" dirty="0"/>
              <a:t> </a:t>
            </a:r>
            <a:r>
              <a:rPr sz="3600" dirty="0"/>
              <a:t>Test</a:t>
            </a:r>
            <a:r>
              <a:rPr sz="3600" spc="-125" dirty="0"/>
              <a:t> </a:t>
            </a:r>
            <a:r>
              <a:rPr sz="3600" spc="75" dirty="0"/>
              <a:t>Set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9539364" y="7379992"/>
            <a:ext cx="9406255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spc="105" dirty="0">
                <a:solidFill>
                  <a:srgbClr val="D5D5D5"/>
                </a:solidFill>
                <a:latin typeface="Arial MT"/>
                <a:cs typeface="Arial MT"/>
              </a:rPr>
              <a:t>Scores</a:t>
            </a:r>
            <a:r>
              <a:rPr sz="360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600" spc="160" dirty="0">
                <a:solidFill>
                  <a:srgbClr val="D5D5D5"/>
                </a:solidFill>
                <a:latin typeface="Arial MT"/>
                <a:cs typeface="Arial MT"/>
              </a:rPr>
              <a:t>and</a:t>
            </a:r>
            <a:r>
              <a:rPr sz="360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600" spc="175" dirty="0">
                <a:solidFill>
                  <a:srgbClr val="D5D5D5"/>
                </a:solidFill>
                <a:latin typeface="Arial MT"/>
                <a:cs typeface="Arial MT"/>
              </a:rPr>
              <a:t>Accuracy</a:t>
            </a:r>
            <a:r>
              <a:rPr sz="3600" spc="-13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600" spc="254" dirty="0">
                <a:solidFill>
                  <a:srgbClr val="D5D5D5"/>
                </a:solidFill>
                <a:latin typeface="Arial MT"/>
                <a:cs typeface="Arial MT"/>
              </a:rPr>
              <a:t>of</a:t>
            </a:r>
            <a:r>
              <a:rPr sz="360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600" spc="200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60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600" spc="120" dirty="0">
                <a:solidFill>
                  <a:srgbClr val="D5D5D5"/>
                </a:solidFill>
                <a:latin typeface="Arial MT"/>
                <a:cs typeface="Arial MT"/>
              </a:rPr>
              <a:t>Entire</a:t>
            </a:r>
            <a:r>
              <a:rPr sz="3600" spc="-13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600" spc="75" dirty="0">
                <a:solidFill>
                  <a:srgbClr val="D5D5D5"/>
                </a:solidFill>
                <a:latin typeface="Arial MT"/>
                <a:cs typeface="Arial MT"/>
              </a:rPr>
              <a:t>Data</a:t>
            </a:r>
            <a:r>
              <a:rPr sz="3600" spc="-13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600" spc="75" dirty="0">
                <a:solidFill>
                  <a:srgbClr val="D5D5D5"/>
                </a:solidFill>
                <a:latin typeface="Arial MT"/>
                <a:cs typeface="Arial MT"/>
              </a:rPr>
              <a:t>Set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91375" y="8060811"/>
            <a:ext cx="6806785" cy="2094177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3777" y="1050607"/>
            <a:ext cx="6862283" cy="68341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80980" y="2785768"/>
            <a:ext cx="2268855" cy="4800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950" spc="105" dirty="0"/>
              <a:t>Explanation:</a:t>
            </a:r>
            <a:endParaRPr sz="2950"/>
          </a:p>
        </p:txBody>
      </p:sp>
      <p:sp>
        <p:nvSpPr>
          <p:cNvPr id="4" name="object 4"/>
          <p:cNvSpPr txBox="1"/>
          <p:nvPr/>
        </p:nvSpPr>
        <p:spPr>
          <a:xfrm>
            <a:off x="2102418" y="3410007"/>
            <a:ext cx="6713220" cy="1784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310" marR="5080" indent="-309245">
              <a:lnSpc>
                <a:spcPct val="108900"/>
              </a:lnSpc>
              <a:spcBef>
                <a:spcPts val="100"/>
              </a:spcBef>
              <a:buChar char="•"/>
              <a:tabLst>
                <a:tab pos="321310" algn="l"/>
              </a:tabLst>
            </a:pPr>
            <a:r>
              <a:rPr sz="2650" spc="50" dirty="0">
                <a:solidFill>
                  <a:srgbClr val="FFFFFF"/>
                </a:solidFill>
                <a:latin typeface="Arial MT"/>
                <a:cs typeface="Arial MT"/>
              </a:rPr>
              <a:t>Examining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100" dirty="0">
                <a:solidFill>
                  <a:srgbClr val="FFFFFF"/>
                </a:solidFill>
                <a:latin typeface="Arial MT"/>
                <a:cs typeface="Arial MT"/>
              </a:rPr>
              <a:t>confusion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90" dirty="0">
                <a:solidFill>
                  <a:srgbClr val="FFFFFF"/>
                </a:solidFill>
                <a:latin typeface="Arial MT"/>
                <a:cs typeface="Arial MT"/>
              </a:rPr>
              <a:t>matrix,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95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65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see </a:t>
            </a:r>
            <a:r>
              <a:rPr sz="2650" spc="11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26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110" dirty="0">
                <a:solidFill>
                  <a:srgbClr val="FFFFFF"/>
                </a:solidFill>
                <a:latin typeface="Arial MT"/>
                <a:cs typeface="Arial MT"/>
              </a:rPr>
              <a:t>logistic</a:t>
            </a:r>
            <a:r>
              <a:rPr sz="26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55" dirty="0">
                <a:solidFill>
                  <a:srgbClr val="FFFFFF"/>
                </a:solidFill>
                <a:latin typeface="Arial MT"/>
                <a:cs typeface="Arial MT"/>
              </a:rPr>
              <a:t>regression</a:t>
            </a:r>
            <a:r>
              <a:rPr sz="26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7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80" dirty="0">
                <a:solidFill>
                  <a:srgbClr val="FFFFFF"/>
                </a:solidFill>
                <a:latin typeface="Arial MT"/>
                <a:cs typeface="Arial MT"/>
              </a:rPr>
              <a:t>distinguish </a:t>
            </a:r>
            <a:r>
              <a:rPr sz="2650" spc="90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26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100" dirty="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classes.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65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-25" dirty="0">
                <a:solidFill>
                  <a:srgbClr val="FFFFFF"/>
                </a:solidFill>
                <a:latin typeface="Arial MT"/>
                <a:cs typeface="Arial MT"/>
              </a:rPr>
              <a:t>see </a:t>
            </a:r>
            <a:r>
              <a:rPr sz="2650" spc="11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26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11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90" dirty="0">
                <a:solidFill>
                  <a:srgbClr val="FFFFFF"/>
                </a:solidFill>
                <a:latin typeface="Arial MT"/>
                <a:cs typeface="Arial MT"/>
              </a:rPr>
              <a:t>major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114" dirty="0">
                <a:solidFill>
                  <a:srgbClr val="FFFFFF"/>
                </a:solidFill>
                <a:latin typeface="Arial MT"/>
                <a:cs typeface="Arial MT"/>
              </a:rPr>
              <a:t>problem</a:t>
            </a:r>
            <a:r>
              <a:rPr sz="26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65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dirty="0">
                <a:solidFill>
                  <a:srgbClr val="FFFFFF"/>
                </a:solidFill>
                <a:latin typeface="Arial MT"/>
                <a:cs typeface="Arial MT"/>
              </a:rPr>
              <a:t>false</a:t>
            </a:r>
            <a:r>
              <a:rPr sz="265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650" spc="50" dirty="0">
                <a:solidFill>
                  <a:srgbClr val="FFFFFF"/>
                </a:solidFill>
                <a:latin typeface="Arial MT"/>
                <a:cs typeface="Arial MT"/>
              </a:rPr>
              <a:t>positives.</a:t>
            </a:r>
            <a:endParaRPr sz="265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7287" y="2513012"/>
            <a:ext cx="8896943" cy="680495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32379" y="5711679"/>
            <a:ext cx="4183488" cy="361334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5782" y="1055884"/>
            <a:ext cx="4481329" cy="67813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569060" y="2896549"/>
            <a:ext cx="11359515" cy="658240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0365" indent="-367665">
              <a:lnSpc>
                <a:spcPct val="100000"/>
              </a:lnSpc>
              <a:spcBef>
                <a:spcPts val="110"/>
              </a:spcBef>
              <a:buClr>
                <a:srgbClr val="FFFFFF"/>
              </a:buClr>
              <a:buChar char="•"/>
              <a:tabLst>
                <a:tab pos="380365" algn="l"/>
              </a:tabLst>
            </a:pPr>
            <a:r>
              <a:rPr sz="3150" spc="105" dirty="0">
                <a:solidFill>
                  <a:srgbClr val="D5D5D5"/>
                </a:solidFill>
                <a:latin typeface="Arial MT"/>
                <a:cs typeface="Arial MT"/>
              </a:rPr>
              <a:t>Decision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D5D5D5"/>
                </a:solidFill>
                <a:latin typeface="Arial MT"/>
                <a:cs typeface="Arial MT"/>
              </a:rPr>
              <a:t>Tree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65" dirty="0">
                <a:solidFill>
                  <a:srgbClr val="D5D5D5"/>
                </a:solidFill>
                <a:latin typeface="Arial MT"/>
                <a:cs typeface="Arial MT"/>
              </a:rPr>
              <a:t>Model</a:t>
            </a:r>
            <a:r>
              <a:rPr sz="315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65" dirty="0">
                <a:solidFill>
                  <a:srgbClr val="D5D5D5"/>
                </a:solidFill>
                <a:latin typeface="Arial MT"/>
                <a:cs typeface="Arial MT"/>
              </a:rPr>
              <a:t>is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75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15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45" dirty="0">
                <a:solidFill>
                  <a:srgbClr val="D5D5D5"/>
                </a:solidFill>
                <a:latin typeface="Arial MT"/>
                <a:cs typeface="Arial MT"/>
              </a:rPr>
              <a:t>best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85" dirty="0">
                <a:solidFill>
                  <a:srgbClr val="D5D5D5"/>
                </a:solidFill>
                <a:latin typeface="Arial MT"/>
                <a:cs typeface="Arial MT"/>
              </a:rPr>
              <a:t>algorithm</a:t>
            </a:r>
            <a:r>
              <a:rPr sz="315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85" dirty="0">
                <a:solidFill>
                  <a:srgbClr val="D5D5D5"/>
                </a:solidFill>
                <a:latin typeface="Arial MT"/>
                <a:cs typeface="Arial MT"/>
              </a:rPr>
              <a:t>for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45" dirty="0">
                <a:solidFill>
                  <a:srgbClr val="D5D5D5"/>
                </a:solidFill>
                <a:latin typeface="Arial MT"/>
                <a:cs typeface="Arial MT"/>
              </a:rPr>
              <a:t>this</a:t>
            </a:r>
            <a:r>
              <a:rPr sz="315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00" dirty="0">
                <a:solidFill>
                  <a:srgbClr val="D5D5D5"/>
                </a:solidFill>
                <a:latin typeface="Arial MT"/>
                <a:cs typeface="Arial MT"/>
              </a:rPr>
              <a:t>dataset.</a:t>
            </a:r>
            <a:endParaRPr sz="3150">
              <a:latin typeface="Arial MT"/>
              <a:cs typeface="Arial MT"/>
            </a:endParaRPr>
          </a:p>
          <a:p>
            <a:pPr marL="380365" marR="656590" indent="-368300">
              <a:lnSpc>
                <a:spcPct val="109100"/>
              </a:lnSpc>
              <a:spcBef>
                <a:spcPts val="2970"/>
              </a:spcBef>
              <a:buClr>
                <a:srgbClr val="FFFFFF"/>
              </a:buClr>
              <a:buChar char="•"/>
              <a:tabLst>
                <a:tab pos="380365" algn="l"/>
              </a:tabLst>
            </a:pPr>
            <a:r>
              <a:rPr sz="3150" spc="90" dirty="0">
                <a:solidFill>
                  <a:srgbClr val="D5D5D5"/>
                </a:solidFill>
                <a:latin typeface="Arial MT"/>
                <a:cs typeface="Arial MT"/>
              </a:rPr>
              <a:t>Launches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220" dirty="0">
                <a:solidFill>
                  <a:srgbClr val="D5D5D5"/>
                </a:solidFill>
                <a:latin typeface="Arial MT"/>
                <a:cs typeface="Arial MT"/>
              </a:rPr>
              <a:t>with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D5D5D5"/>
                </a:solidFill>
                <a:latin typeface="Arial MT"/>
                <a:cs typeface="Arial MT"/>
              </a:rPr>
              <a:t>a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85" dirty="0">
                <a:solidFill>
                  <a:srgbClr val="D5D5D5"/>
                </a:solidFill>
                <a:latin typeface="Arial MT"/>
                <a:cs typeface="Arial MT"/>
              </a:rPr>
              <a:t>low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30" dirty="0">
                <a:solidFill>
                  <a:srgbClr val="D5D5D5"/>
                </a:solidFill>
                <a:latin typeface="Arial MT"/>
                <a:cs typeface="Arial MT"/>
              </a:rPr>
              <a:t>payload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55" dirty="0">
                <a:solidFill>
                  <a:srgbClr val="D5D5D5"/>
                </a:solidFill>
                <a:latin typeface="Arial MT"/>
                <a:cs typeface="Arial MT"/>
              </a:rPr>
              <a:t>mass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35" dirty="0">
                <a:solidFill>
                  <a:srgbClr val="D5D5D5"/>
                </a:solidFill>
                <a:latin typeface="Arial MT"/>
                <a:cs typeface="Arial MT"/>
              </a:rPr>
              <a:t>show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85" dirty="0">
                <a:solidFill>
                  <a:srgbClr val="D5D5D5"/>
                </a:solidFill>
                <a:latin typeface="Arial MT"/>
                <a:cs typeface="Arial MT"/>
              </a:rPr>
              <a:t>better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05" dirty="0">
                <a:solidFill>
                  <a:srgbClr val="D5D5D5"/>
                </a:solidFill>
                <a:latin typeface="Arial MT"/>
                <a:cs typeface="Arial MT"/>
              </a:rPr>
              <a:t>results </a:t>
            </a:r>
            <a:r>
              <a:rPr sz="3150" spc="150" dirty="0">
                <a:solidFill>
                  <a:srgbClr val="D5D5D5"/>
                </a:solidFill>
                <a:latin typeface="Arial MT"/>
                <a:cs typeface="Arial MT"/>
              </a:rPr>
              <a:t>than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20" dirty="0">
                <a:solidFill>
                  <a:srgbClr val="D5D5D5"/>
                </a:solidFill>
                <a:latin typeface="Arial MT"/>
                <a:cs typeface="Arial MT"/>
              </a:rPr>
              <a:t>launches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220" dirty="0">
                <a:solidFill>
                  <a:srgbClr val="D5D5D5"/>
                </a:solidFill>
                <a:latin typeface="Arial MT"/>
                <a:cs typeface="Arial MT"/>
              </a:rPr>
              <a:t>with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D5D5D5"/>
                </a:solidFill>
                <a:latin typeface="Arial MT"/>
                <a:cs typeface="Arial MT"/>
              </a:rPr>
              <a:t>a</a:t>
            </a:r>
            <a:r>
              <a:rPr sz="315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35" dirty="0">
                <a:solidFill>
                  <a:srgbClr val="D5D5D5"/>
                </a:solidFill>
                <a:latin typeface="Arial MT"/>
                <a:cs typeface="Arial MT"/>
              </a:rPr>
              <a:t>larger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30" dirty="0">
                <a:solidFill>
                  <a:srgbClr val="D5D5D5"/>
                </a:solidFill>
                <a:latin typeface="Arial MT"/>
                <a:cs typeface="Arial MT"/>
              </a:rPr>
              <a:t>payload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40" dirty="0">
                <a:solidFill>
                  <a:srgbClr val="D5D5D5"/>
                </a:solidFill>
                <a:latin typeface="Arial MT"/>
                <a:cs typeface="Arial MT"/>
              </a:rPr>
              <a:t>mass.</a:t>
            </a:r>
            <a:endParaRPr sz="3150">
              <a:latin typeface="Arial MT"/>
              <a:cs typeface="Arial MT"/>
            </a:endParaRPr>
          </a:p>
          <a:p>
            <a:pPr marL="380365" marR="431800" indent="-368300">
              <a:lnSpc>
                <a:spcPct val="109100"/>
              </a:lnSpc>
              <a:spcBef>
                <a:spcPts val="2970"/>
              </a:spcBef>
              <a:buClr>
                <a:srgbClr val="FFFFFF"/>
              </a:buClr>
              <a:buChar char="•"/>
              <a:tabLst>
                <a:tab pos="380365" algn="l"/>
              </a:tabLst>
            </a:pPr>
            <a:r>
              <a:rPr sz="3150" spc="150" dirty="0">
                <a:solidFill>
                  <a:srgbClr val="D5D5D5"/>
                </a:solidFill>
                <a:latin typeface="Arial MT"/>
                <a:cs typeface="Arial MT"/>
              </a:rPr>
              <a:t>Most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220" dirty="0">
                <a:solidFill>
                  <a:srgbClr val="D5D5D5"/>
                </a:solidFill>
                <a:latin typeface="Arial MT"/>
                <a:cs typeface="Arial MT"/>
              </a:rPr>
              <a:t>of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35" dirty="0">
                <a:solidFill>
                  <a:srgbClr val="D5D5D5"/>
                </a:solidFill>
                <a:latin typeface="Arial MT"/>
                <a:cs typeface="Arial MT"/>
              </a:rPr>
              <a:t>launch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95" dirty="0">
                <a:solidFill>
                  <a:srgbClr val="D5D5D5"/>
                </a:solidFill>
                <a:latin typeface="Arial MT"/>
                <a:cs typeface="Arial MT"/>
              </a:rPr>
              <a:t>sites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75" dirty="0">
                <a:solidFill>
                  <a:srgbClr val="D5D5D5"/>
                </a:solidFill>
                <a:latin typeface="Arial MT"/>
                <a:cs typeface="Arial MT"/>
              </a:rPr>
              <a:t>are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55" dirty="0">
                <a:solidFill>
                  <a:srgbClr val="D5D5D5"/>
                </a:solidFill>
                <a:latin typeface="Arial MT"/>
                <a:cs typeface="Arial MT"/>
              </a:rPr>
              <a:t>in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85" dirty="0">
                <a:solidFill>
                  <a:srgbClr val="D5D5D5"/>
                </a:solidFill>
                <a:latin typeface="Arial MT"/>
                <a:cs typeface="Arial MT"/>
              </a:rPr>
              <a:t>proximity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235" dirty="0">
                <a:solidFill>
                  <a:srgbClr val="D5D5D5"/>
                </a:solidFill>
                <a:latin typeface="Arial MT"/>
                <a:cs typeface="Arial MT"/>
              </a:rPr>
              <a:t>to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75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10" dirty="0">
                <a:solidFill>
                  <a:srgbClr val="D5D5D5"/>
                </a:solidFill>
                <a:latin typeface="Arial MT"/>
                <a:cs typeface="Arial MT"/>
              </a:rPr>
              <a:t>Equator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10" dirty="0">
                <a:solidFill>
                  <a:srgbClr val="D5D5D5"/>
                </a:solidFill>
                <a:latin typeface="Arial MT"/>
                <a:cs typeface="Arial MT"/>
              </a:rPr>
              <a:t>line </a:t>
            </a:r>
            <a:r>
              <a:rPr sz="3150" spc="140" dirty="0">
                <a:solidFill>
                  <a:srgbClr val="D5D5D5"/>
                </a:solidFill>
                <a:latin typeface="Arial MT"/>
                <a:cs typeface="Arial MT"/>
              </a:rPr>
              <a:t>and</a:t>
            </a:r>
            <a:r>
              <a:rPr sz="315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05" dirty="0">
                <a:solidFill>
                  <a:srgbClr val="D5D5D5"/>
                </a:solidFill>
                <a:latin typeface="Arial MT"/>
                <a:cs typeface="Arial MT"/>
              </a:rPr>
              <a:t>all</a:t>
            </a:r>
            <a:r>
              <a:rPr sz="315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75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95" dirty="0">
                <a:solidFill>
                  <a:srgbClr val="D5D5D5"/>
                </a:solidFill>
                <a:latin typeface="Arial MT"/>
                <a:cs typeface="Arial MT"/>
              </a:rPr>
              <a:t>sites</a:t>
            </a:r>
            <a:r>
              <a:rPr sz="315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75" dirty="0">
                <a:solidFill>
                  <a:srgbClr val="D5D5D5"/>
                </a:solidFill>
                <a:latin typeface="Arial MT"/>
                <a:cs typeface="Arial MT"/>
              </a:rPr>
              <a:t>are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55" dirty="0">
                <a:solidFill>
                  <a:srgbClr val="D5D5D5"/>
                </a:solidFill>
                <a:latin typeface="Arial MT"/>
                <a:cs typeface="Arial MT"/>
              </a:rPr>
              <a:t>in</a:t>
            </a:r>
            <a:r>
              <a:rPr sz="315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40" dirty="0">
                <a:solidFill>
                  <a:srgbClr val="D5D5D5"/>
                </a:solidFill>
                <a:latin typeface="Arial MT"/>
                <a:cs typeface="Arial MT"/>
              </a:rPr>
              <a:t>very</a:t>
            </a:r>
            <a:r>
              <a:rPr sz="315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20" dirty="0">
                <a:solidFill>
                  <a:srgbClr val="D5D5D5"/>
                </a:solidFill>
                <a:latin typeface="Arial MT"/>
                <a:cs typeface="Arial MT"/>
              </a:rPr>
              <a:t>close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85" dirty="0">
                <a:solidFill>
                  <a:srgbClr val="D5D5D5"/>
                </a:solidFill>
                <a:latin typeface="Arial MT"/>
                <a:cs typeface="Arial MT"/>
              </a:rPr>
              <a:t>proximity</a:t>
            </a:r>
            <a:r>
              <a:rPr sz="315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235" dirty="0">
                <a:solidFill>
                  <a:srgbClr val="D5D5D5"/>
                </a:solidFill>
                <a:latin typeface="Arial MT"/>
                <a:cs typeface="Arial MT"/>
              </a:rPr>
              <a:t>to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75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150" spc="-12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00" dirty="0">
                <a:solidFill>
                  <a:srgbClr val="D5D5D5"/>
                </a:solidFill>
                <a:latin typeface="Arial MT"/>
                <a:cs typeface="Arial MT"/>
              </a:rPr>
              <a:t>coast.</a:t>
            </a:r>
            <a:endParaRPr sz="3150">
              <a:latin typeface="Arial MT"/>
              <a:cs typeface="Arial MT"/>
            </a:endParaRPr>
          </a:p>
          <a:p>
            <a:pPr marL="380365" indent="-367665">
              <a:lnSpc>
                <a:spcPct val="100000"/>
              </a:lnSpc>
              <a:spcBef>
                <a:spcPts val="3315"/>
              </a:spcBef>
              <a:buClr>
                <a:srgbClr val="FFFFFF"/>
              </a:buClr>
              <a:buChar char="•"/>
              <a:tabLst>
                <a:tab pos="380365" algn="l"/>
              </a:tabLst>
            </a:pPr>
            <a:r>
              <a:rPr sz="3150" spc="50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90" dirty="0">
                <a:solidFill>
                  <a:srgbClr val="D5D5D5"/>
                </a:solidFill>
                <a:latin typeface="Arial MT"/>
                <a:cs typeface="Arial MT"/>
              </a:rPr>
              <a:t>success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30" dirty="0">
                <a:solidFill>
                  <a:srgbClr val="D5D5D5"/>
                </a:solidFill>
                <a:latin typeface="Arial MT"/>
                <a:cs typeface="Arial MT"/>
              </a:rPr>
              <a:t>rate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220" dirty="0">
                <a:solidFill>
                  <a:srgbClr val="D5D5D5"/>
                </a:solidFill>
                <a:latin typeface="Arial MT"/>
                <a:cs typeface="Arial MT"/>
              </a:rPr>
              <a:t>of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20" dirty="0">
                <a:solidFill>
                  <a:srgbClr val="D5D5D5"/>
                </a:solidFill>
                <a:latin typeface="Arial MT"/>
                <a:cs typeface="Arial MT"/>
              </a:rPr>
              <a:t>launches</a:t>
            </a:r>
            <a:r>
              <a:rPr sz="3150" spc="-10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90" dirty="0">
                <a:solidFill>
                  <a:srgbClr val="D5D5D5"/>
                </a:solidFill>
                <a:latin typeface="Arial MT"/>
                <a:cs typeface="Arial MT"/>
              </a:rPr>
              <a:t>increases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20" dirty="0">
                <a:solidFill>
                  <a:srgbClr val="D5D5D5"/>
                </a:solidFill>
                <a:latin typeface="Arial MT"/>
                <a:cs typeface="Arial MT"/>
              </a:rPr>
              <a:t>over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75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D5D5D5"/>
                </a:solidFill>
                <a:latin typeface="Arial MT"/>
                <a:cs typeface="Arial MT"/>
              </a:rPr>
              <a:t>years.</a:t>
            </a:r>
            <a:endParaRPr sz="3150">
              <a:latin typeface="Arial MT"/>
              <a:cs typeface="Arial MT"/>
            </a:endParaRPr>
          </a:p>
          <a:p>
            <a:pPr marL="380365" marR="113030" indent="-368300">
              <a:lnSpc>
                <a:spcPct val="109100"/>
              </a:lnSpc>
              <a:spcBef>
                <a:spcPts val="2970"/>
              </a:spcBef>
              <a:buClr>
                <a:srgbClr val="FFFFFF"/>
              </a:buClr>
              <a:buChar char="•"/>
              <a:tabLst>
                <a:tab pos="380365" algn="l"/>
              </a:tabLst>
            </a:pPr>
            <a:r>
              <a:rPr sz="3150" spc="-45" dirty="0">
                <a:solidFill>
                  <a:srgbClr val="D5D5D5"/>
                </a:solidFill>
                <a:latin typeface="Arial MT"/>
                <a:cs typeface="Arial MT"/>
              </a:rPr>
              <a:t>KSC</a:t>
            </a:r>
            <a:r>
              <a:rPr sz="3150" spc="-13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-10" dirty="0">
                <a:solidFill>
                  <a:srgbClr val="D5D5D5"/>
                </a:solidFill>
                <a:latin typeface="Arial MT"/>
                <a:cs typeface="Arial MT"/>
              </a:rPr>
              <a:t>LC-</a:t>
            </a:r>
            <a:r>
              <a:rPr sz="3150" spc="204" dirty="0">
                <a:solidFill>
                  <a:srgbClr val="D5D5D5"/>
                </a:solidFill>
                <a:latin typeface="Arial MT"/>
                <a:cs typeface="Arial MT"/>
              </a:rPr>
              <a:t>39A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50" dirty="0">
                <a:solidFill>
                  <a:srgbClr val="D5D5D5"/>
                </a:solidFill>
                <a:latin typeface="Arial MT"/>
                <a:cs typeface="Arial MT"/>
              </a:rPr>
              <a:t>has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75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50" dirty="0">
                <a:solidFill>
                  <a:srgbClr val="D5D5D5"/>
                </a:solidFill>
                <a:latin typeface="Arial MT"/>
                <a:cs typeface="Arial MT"/>
              </a:rPr>
              <a:t>highest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90" dirty="0">
                <a:solidFill>
                  <a:srgbClr val="D5D5D5"/>
                </a:solidFill>
                <a:latin typeface="Arial MT"/>
                <a:cs typeface="Arial MT"/>
              </a:rPr>
              <a:t>success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30" dirty="0">
                <a:solidFill>
                  <a:srgbClr val="D5D5D5"/>
                </a:solidFill>
                <a:latin typeface="Arial MT"/>
                <a:cs typeface="Arial MT"/>
              </a:rPr>
              <a:t>rate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220" dirty="0">
                <a:solidFill>
                  <a:srgbClr val="D5D5D5"/>
                </a:solidFill>
                <a:latin typeface="Arial MT"/>
                <a:cs typeface="Arial MT"/>
              </a:rPr>
              <a:t>of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75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10" dirty="0">
                <a:solidFill>
                  <a:srgbClr val="D5D5D5"/>
                </a:solidFill>
                <a:latin typeface="Arial MT"/>
                <a:cs typeface="Arial MT"/>
              </a:rPr>
              <a:t>launches </a:t>
            </a:r>
            <a:r>
              <a:rPr sz="3150" spc="215" dirty="0">
                <a:solidFill>
                  <a:srgbClr val="D5D5D5"/>
                </a:solidFill>
                <a:latin typeface="Arial MT"/>
                <a:cs typeface="Arial MT"/>
              </a:rPr>
              <a:t>from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05" dirty="0">
                <a:solidFill>
                  <a:srgbClr val="D5D5D5"/>
                </a:solidFill>
                <a:latin typeface="Arial MT"/>
                <a:cs typeface="Arial MT"/>
              </a:rPr>
              <a:t>all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75" dirty="0">
                <a:solidFill>
                  <a:srgbClr val="D5D5D5"/>
                </a:solidFill>
                <a:latin typeface="Arial MT"/>
                <a:cs typeface="Arial MT"/>
              </a:rPr>
              <a:t>the</a:t>
            </a:r>
            <a:r>
              <a:rPr sz="3150" spc="-125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75" dirty="0">
                <a:solidFill>
                  <a:srgbClr val="D5D5D5"/>
                </a:solidFill>
                <a:latin typeface="Arial MT"/>
                <a:cs typeface="Arial MT"/>
              </a:rPr>
              <a:t>sites.</a:t>
            </a:r>
            <a:endParaRPr sz="3150">
              <a:latin typeface="Arial MT"/>
              <a:cs typeface="Arial MT"/>
            </a:endParaRPr>
          </a:p>
          <a:p>
            <a:pPr marL="380365" indent="-367665">
              <a:lnSpc>
                <a:spcPct val="100000"/>
              </a:lnSpc>
              <a:spcBef>
                <a:spcPts val="3310"/>
              </a:spcBef>
              <a:buClr>
                <a:srgbClr val="FFFFFF"/>
              </a:buClr>
              <a:buChar char="•"/>
              <a:tabLst>
                <a:tab pos="380365" algn="l"/>
              </a:tabLst>
            </a:pPr>
            <a:r>
              <a:rPr sz="3150" spc="165" dirty="0">
                <a:solidFill>
                  <a:srgbClr val="D5D5D5"/>
                </a:solidFill>
                <a:latin typeface="Arial MT"/>
                <a:cs typeface="Arial MT"/>
              </a:rPr>
              <a:t>Orbits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-170" dirty="0">
                <a:solidFill>
                  <a:srgbClr val="D5D5D5"/>
                </a:solidFill>
                <a:latin typeface="Arial MT"/>
                <a:cs typeface="Arial MT"/>
              </a:rPr>
              <a:t>ES-</a:t>
            </a:r>
            <a:r>
              <a:rPr sz="3150" spc="-90" dirty="0">
                <a:solidFill>
                  <a:srgbClr val="D5D5D5"/>
                </a:solidFill>
                <a:latin typeface="Arial MT"/>
                <a:cs typeface="Arial MT"/>
              </a:rPr>
              <a:t>L1,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-75" dirty="0">
                <a:solidFill>
                  <a:srgbClr val="D5D5D5"/>
                </a:solidFill>
                <a:latin typeface="Arial MT"/>
                <a:cs typeface="Arial MT"/>
              </a:rPr>
              <a:t>GEO,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D5D5D5"/>
                </a:solidFill>
                <a:latin typeface="Arial MT"/>
                <a:cs typeface="Arial MT"/>
              </a:rPr>
              <a:t>HEO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140" dirty="0">
                <a:solidFill>
                  <a:srgbClr val="D5D5D5"/>
                </a:solidFill>
                <a:latin typeface="Arial MT"/>
                <a:cs typeface="Arial MT"/>
              </a:rPr>
              <a:t>and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-30" dirty="0">
                <a:solidFill>
                  <a:srgbClr val="D5D5D5"/>
                </a:solidFill>
                <a:latin typeface="Arial MT"/>
                <a:cs typeface="Arial MT"/>
              </a:rPr>
              <a:t>SSO</a:t>
            </a:r>
            <a:r>
              <a:rPr sz="3150" spc="-110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75" dirty="0">
                <a:solidFill>
                  <a:srgbClr val="D5D5D5"/>
                </a:solidFill>
                <a:latin typeface="Arial MT"/>
                <a:cs typeface="Arial MT"/>
              </a:rPr>
              <a:t>have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dirty="0">
                <a:solidFill>
                  <a:srgbClr val="D5D5D5"/>
                </a:solidFill>
                <a:latin typeface="Arial MT"/>
                <a:cs typeface="Arial MT"/>
              </a:rPr>
              <a:t>100%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90" dirty="0">
                <a:solidFill>
                  <a:srgbClr val="D5D5D5"/>
                </a:solidFill>
                <a:latin typeface="Arial MT"/>
                <a:cs typeface="Arial MT"/>
              </a:rPr>
              <a:t>success</a:t>
            </a:r>
            <a:r>
              <a:rPr sz="3150" spc="-114" dirty="0">
                <a:solidFill>
                  <a:srgbClr val="D5D5D5"/>
                </a:solidFill>
                <a:latin typeface="Arial MT"/>
                <a:cs typeface="Arial MT"/>
              </a:rPr>
              <a:t> </a:t>
            </a:r>
            <a:r>
              <a:rPr sz="3150" spc="85" dirty="0">
                <a:solidFill>
                  <a:srgbClr val="D5D5D5"/>
                </a:solidFill>
                <a:latin typeface="Arial MT"/>
                <a:cs typeface="Arial MT"/>
              </a:rPr>
              <a:t>rate.</a:t>
            </a:r>
            <a:endParaRPr sz="31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3560100"/>
            <a:ext cx="5235442" cy="523544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4391" y="1055884"/>
            <a:ext cx="3904341" cy="82502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257281" y="4639898"/>
            <a:ext cx="6871969" cy="2382640"/>
          </a:xfrm>
          <a:prstGeom prst="rect">
            <a:avLst/>
          </a:prstGeom>
        </p:spPr>
        <p:txBody>
          <a:bodyPr vert="horz" wrap="square" lIns="0" tIns="3727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35"/>
              </a:spcBef>
            </a:pPr>
            <a:r>
              <a:rPr sz="4450" spc="145" dirty="0"/>
              <a:t>Special</a:t>
            </a:r>
            <a:r>
              <a:rPr sz="4450" spc="-175" dirty="0"/>
              <a:t> </a:t>
            </a:r>
            <a:r>
              <a:rPr sz="4450" spc="65" dirty="0"/>
              <a:t>Thanks</a:t>
            </a:r>
            <a:r>
              <a:rPr sz="4450" spc="-170" dirty="0"/>
              <a:t> </a:t>
            </a:r>
            <a:r>
              <a:rPr sz="4450" spc="204" dirty="0"/>
              <a:t>to:</a:t>
            </a:r>
            <a:endParaRPr sz="4450" dirty="0"/>
          </a:p>
          <a:p>
            <a:pPr marL="1186180" marR="1178560" algn="ctr">
              <a:lnSpc>
                <a:spcPct val="153100"/>
              </a:lnSpc>
              <a:spcBef>
                <a:spcPts val="15"/>
              </a:spcBef>
            </a:pPr>
            <a:r>
              <a:rPr sz="3000" u="sng" spc="13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</a:rPr>
              <a:t>Instructors</a:t>
            </a:r>
            <a:r>
              <a:rPr sz="3000" spc="130" dirty="0">
                <a:solidFill>
                  <a:srgbClr val="00A2FF"/>
                </a:solidFill>
              </a:rPr>
              <a:t> </a:t>
            </a:r>
            <a:r>
              <a:rPr sz="3000" u="sng" spc="50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</a:rPr>
              <a:t>Coursera</a:t>
            </a:r>
            <a:r>
              <a:rPr sz="3000" spc="50" dirty="0">
                <a:solidFill>
                  <a:srgbClr val="00A2FF"/>
                </a:solidFill>
              </a:rPr>
              <a:t> </a:t>
            </a:r>
            <a:r>
              <a:rPr sz="3000" u="sng" spc="-25" dirty="0">
                <a:solidFill>
                  <a:srgbClr val="00A2FF"/>
                </a:solidFill>
                <a:uFill>
                  <a:solidFill>
                    <a:srgbClr val="00A2FF"/>
                  </a:solidFill>
                </a:uFill>
              </a:rPr>
              <a:t>IBM</a:t>
            </a:r>
            <a:endParaRPr sz="30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1797" y="2617721"/>
            <a:ext cx="6073113" cy="6073113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8</TotalTime>
  <Words>2427</Words>
  <Application>Microsoft Office PowerPoint</Application>
  <PresentationFormat>Custom</PresentationFormat>
  <Paragraphs>218</Paragraphs>
  <Slides>47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Arial MT</vt:lpstr>
      <vt:lpstr>Calibri</vt:lpstr>
      <vt:lpstr>Century Gothic</vt:lpstr>
      <vt:lpstr>Courier New</vt:lpstr>
      <vt:lpstr>Mesh</vt:lpstr>
      <vt:lpstr>PowerPoint Presentation</vt:lpstr>
      <vt:lpstr>PowerPoint Presentation</vt:lpstr>
      <vt:lpstr>Summary of methodologies</vt:lpstr>
      <vt:lpstr>Project background and context</vt:lpstr>
      <vt:lpstr>PowerPoint Presentation</vt:lpstr>
      <vt:lpstr>PowerPoint Presentation</vt:lpstr>
      <vt:lpstr>Data collection process involved a combination of API requests from SpaceX REST API and Web Scraping data from a table in SpaceX’s Wikipedia entry.</vt:lpstr>
      <vt:lpstr>PowerPoint Presentation</vt:lpstr>
      <vt:lpstr>PowerPoint Presentation</vt:lpstr>
      <vt:lpstr>PowerPoint Presentation</vt:lpstr>
      <vt:lpstr>Charts were plotted:</vt:lpstr>
      <vt:lpstr>PowerPoint Presentation</vt:lpstr>
      <vt:lpstr>Markers of all Launch Sites:</vt:lpstr>
      <vt:lpstr>Launch Sites Dropdown List: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Explanation:</vt:lpstr>
      <vt:lpstr>PowerPoint Presentation</vt:lpstr>
      <vt:lpstr>PowerPoint Presentation</vt:lpstr>
      <vt:lpstr>Explanation: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Explanation:</vt:lpstr>
      <vt:lpstr>PowerPoint Presentation</vt:lpstr>
      <vt:lpstr>PowerPoint Presentation</vt:lpstr>
      <vt:lpstr>PowerPoint Presentation</vt:lpstr>
      <vt:lpstr>PowerPoint Presentation</vt:lpstr>
      <vt:lpstr>Explanation:</vt:lpstr>
      <vt:lpstr>PowerPoint Presentation</vt:lpstr>
      <vt:lpstr>Scores and Accuracy of the Test Set</vt:lpstr>
      <vt:lpstr>Explanation:</vt:lpstr>
      <vt:lpstr>PowerPoint Presentation</vt:lpstr>
      <vt:lpstr>Special Thanks to: Instructors Coursera IBM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ds-capstone-presentation</dc:title>
  <dc:creator>Arpit Singh Sandha</dc:creator>
  <cp:lastModifiedBy>Arpit Singh Sandha</cp:lastModifiedBy>
  <cp:revision>1</cp:revision>
  <dcterms:created xsi:type="dcterms:W3CDTF">2026-04-24T18:26:09Z</dcterms:created>
  <dcterms:modified xsi:type="dcterms:W3CDTF">2026-04-24T18:55:58Z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2021-08-29T00:00:00Z</vt:filetime>
  </property>
  <property fmtid="{D5CDD505-2E9C-101B-9397-08002B2CF9AE}" pid="4" name="Creator">
    <vt:lpwstr>Keynote</vt:lpwstr>
  </property>
  <property fmtid="{D5CDD505-2E9C-101B-9397-08002B2CF9AE}" pid="5" name="LastSaved">
    <vt:filetime>2026-04-24T00:00:00Z</vt:filetime>
  </property>
  <property fmtid="{D5CDD505-2E9C-101B-9397-08002B2CF9AE}" pid="6" name="Producer">
    <vt:lpwstr>macOS Version 11.5.2 (Build 20G95) Quartz PDFContext</vt:lpwstr>
  </property>
</Properties>
</file>